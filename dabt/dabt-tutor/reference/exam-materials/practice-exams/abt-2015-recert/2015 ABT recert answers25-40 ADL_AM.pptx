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3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61" r:id="rId3"/>
    <p:sldId id="278" r:id="rId4"/>
    <p:sldId id="262" r:id="rId5"/>
    <p:sldId id="279" r:id="rId6"/>
    <p:sldId id="263" r:id="rId7"/>
    <p:sldId id="280" r:id="rId8"/>
    <p:sldId id="264" r:id="rId9"/>
    <p:sldId id="281" r:id="rId10"/>
    <p:sldId id="265" r:id="rId11"/>
    <p:sldId id="282" r:id="rId12"/>
    <p:sldId id="266" r:id="rId13"/>
    <p:sldId id="283" r:id="rId14"/>
    <p:sldId id="267" r:id="rId15"/>
    <p:sldId id="284" r:id="rId16"/>
    <p:sldId id="268" r:id="rId17"/>
    <p:sldId id="285" r:id="rId18"/>
    <p:sldId id="269" r:id="rId19"/>
    <p:sldId id="286" r:id="rId20"/>
    <p:sldId id="270" r:id="rId21"/>
    <p:sldId id="287" r:id="rId22"/>
    <p:sldId id="271" r:id="rId23"/>
    <p:sldId id="288" r:id="rId24"/>
    <p:sldId id="272" r:id="rId25"/>
    <p:sldId id="289" r:id="rId26"/>
    <p:sldId id="273" r:id="rId27"/>
    <p:sldId id="290" r:id="rId28"/>
    <p:sldId id="274" r:id="rId29"/>
    <p:sldId id="291" r:id="rId30"/>
    <p:sldId id="275" r:id="rId31"/>
    <p:sldId id="292" r:id="rId32"/>
    <p:sldId id="276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5AC3-B820-4B2D-BCCB-0469A47BF57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84F3-7CBC-4357-98DA-104DA8C22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3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5AC3-B820-4B2D-BCCB-0469A47BF57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84F3-7CBC-4357-98DA-104DA8C22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67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5AC3-B820-4B2D-BCCB-0469A47BF57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84F3-7CBC-4357-98DA-104DA8C22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3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5AC3-B820-4B2D-BCCB-0469A47BF57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84F3-7CBC-4357-98DA-104DA8C22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7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5AC3-B820-4B2D-BCCB-0469A47BF57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84F3-7CBC-4357-98DA-104DA8C22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3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5AC3-B820-4B2D-BCCB-0469A47BF57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84F3-7CBC-4357-98DA-104DA8C22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9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5AC3-B820-4B2D-BCCB-0469A47BF57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84F3-7CBC-4357-98DA-104DA8C22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0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5AC3-B820-4B2D-BCCB-0469A47BF57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84F3-7CBC-4357-98DA-104DA8C22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3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5AC3-B820-4B2D-BCCB-0469A47BF57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84F3-7CBC-4357-98DA-104DA8C22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5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5AC3-B820-4B2D-BCCB-0469A47BF57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84F3-7CBC-4357-98DA-104DA8C22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9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5AC3-B820-4B2D-BCCB-0469A47BF57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C84F3-7CBC-4357-98DA-104DA8C22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96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95AC3-B820-4B2D-BCCB-0469A47BF57E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C84F3-7CBC-4357-98DA-104DA8C22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0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25. After inhalation, which of the following is </a:t>
            </a:r>
            <a:r>
              <a:rPr lang="en-US" dirty="0" smtClean="0"/>
              <a:t>the most </a:t>
            </a:r>
            <a:r>
              <a:rPr lang="en-US" dirty="0"/>
              <a:t>critical factor that will determine where </a:t>
            </a:r>
            <a:r>
              <a:rPr lang="en-US" dirty="0" smtClean="0"/>
              <a:t>along the </a:t>
            </a:r>
            <a:r>
              <a:rPr lang="en-US" dirty="0"/>
              <a:t>respiratory tract that dust particles deposit?</a:t>
            </a:r>
          </a:p>
          <a:p>
            <a:pPr marL="0" indent="0">
              <a:buNone/>
            </a:pPr>
            <a:r>
              <a:rPr lang="en-US" dirty="0"/>
              <a:t>A) chemical composition of the dust</a:t>
            </a:r>
          </a:p>
          <a:p>
            <a:pPr marL="0" indent="0">
              <a:buNone/>
            </a:pPr>
            <a:r>
              <a:rPr lang="en-US" dirty="0"/>
              <a:t>B) particle aerodynamic </a:t>
            </a:r>
            <a:r>
              <a:rPr lang="en-US" dirty="0" smtClean="0"/>
              <a:t>diameter </a:t>
            </a:r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dirty="0"/>
              <a:t>) rate of particle dissolution</a:t>
            </a:r>
          </a:p>
          <a:p>
            <a:pPr marL="0" indent="0">
              <a:buNone/>
            </a:pPr>
            <a:r>
              <a:rPr lang="en-US" dirty="0"/>
              <a:t>D) lining of the respiratory tract</a:t>
            </a:r>
          </a:p>
          <a:p>
            <a:pPr marL="0" indent="0">
              <a:buNone/>
            </a:pPr>
            <a:r>
              <a:rPr lang="en-US" dirty="0"/>
              <a:t>E) particle clearance rate</a:t>
            </a:r>
          </a:p>
        </p:txBody>
      </p:sp>
    </p:spTree>
    <p:extLst>
      <p:ext uri="{BB962C8B-B14F-4D97-AF65-F5344CB8AC3E}">
        <p14:creationId xmlns:p14="http://schemas.microsoft.com/office/powerpoint/2010/main" val="133984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25. After inhalation, which of the following is </a:t>
            </a:r>
            <a:r>
              <a:rPr lang="en-US" dirty="0" smtClean="0"/>
              <a:t>the most </a:t>
            </a:r>
            <a:r>
              <a:rPr lang="en-US" dirty="0"/>
              <a:t>critical factor that will determine where </a:t>
            </a:r>
            <a:r>
              <a:rPr lang="en-US" dirty="0" smtClean="0"/>
              <a:t>along the </a:t>
            </a:r>
            <a:r>
              <a:rPr lang="en-US" dirty="0"/>
              <a:t>respiratory tract that dust particles deposit?</a:t>
            </a:r>
          </a:p>
          <a:p>
            <a:pPr marL="0" indent="0">
              <a:buNone/>
            </a:pPr>
            <a:r>
              <a:rPr lang="en-US" dirty="0"/>
              <a:t>A) chemical composition of the dust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particle aerodynamic </a:t>
            </a:r>
            <a:r>
              <a:rPr lang="en-US" dirty="0" smtClean="0">
                <a:solidFill>
                  <a:srgbClr val="FF0000"/>
                </a:solidFill>
              </a:rPr>
              <a:t>diameter – particle size critical for what region it’s deposited in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rate of particle dissolution</a:t>
            </a:r>
          </a:p>
          <a:p>
            <a:pPr marL="0" indent="0">
              <a:buNone/>
            </a:pPr>
            <a:r>
              <a:rPr lang="en-US" dirty="0"/>
              <a:t>D) lining of the respiratory tract</a:t>
            </a:r>
          </a:p>
          <a:p>
            <a:pPr marL="0" indent="0">
              <a:buNone/>
            </a:pPr>
            <a:r>
              <a:rPr lang="en-US" dirty="0"/>
              <a:t>E) particle clearance rate</a:t>
            </a:r>
          </a:p>
        </p:txBody>
      </p:sp>
    </p:spTree>
    <p:extLst>
      <p:ext uri="{BB962C8B-B14F-4D97-AF65-F5344CB8AC3E}">
        <p14:creationId xmlns:p14="http://schemas.microsoft.com/office/powerpoint/2010/main" val="1984598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26. Eating the leaves from foxglove plant can </a:t>
            </a:r>
            <a:r>
              <a:rPr lang="en-US" dirty="0" smtClean="0"/>
              <a:t>cause which </a:t>
            </a:r>
            <a:r>
              <a:rPr lang="en-US" dirty="0"/>
              <a:t>of the following?</a:t>
            </a:r>
          </a:p>
          <a:p>
            <a:pPr marL="0" indent="0">
              <a:buNone/>
            </a:pPr>
            <a:r>
              <a:rPr lang="en-US" dirty="0"/>
              <a:t>A) cardiac </a:t>
            </a:r>
            <a:r>
              <a:rPr lang="en-US" dirty="0" smtClean="0"/>
              <a:t>arrhythmias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B) </a:t>
            </a:r>
            <a:r>
              <a:rPr lang="en-US" dirty="0" err="1"/>
              <a:t>hepatoxicity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C) renal toxicity</a:t>
            </a:r>
          </a:p>
          <a:p>
            <a:pPr marL="0" indent="0">
              <a:buNone/>
            </a:pPr>
            <a:r>
              <a:rPr lang="en-US" dirty="0"/>
              <a:t>D) CNS stimulation</a:t>
            </a:r>
          </a:p>
          <a:p>
            <a:pPr marL="0" indent="0">
              <a:buNone/>
            </a:pPr>
            <a:r>
              <a:rPr lang="en-US" dirty="0"/>
              <a:t>E) dermatitis</a:t>
            </a:r>
          </a:p>
        </p:txBody>
      </p:sp>
    </p:spTree>
    <p:extLst>
      <p:ext uri="{BB962C8B-B14F-4D97-AF65-F5344CB8AC3E}">
        <p14:creationId xmlns:p14="http://schemas.microsoft.com/office/powerpoint/2010/main" val="1349084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26. Eating the leaves from foxglove plant can </a:t>
            </a:r>
            <a:r>
              <a:rPr lang="en-US" dirty="0" smtClean="0"/>
              <a:t>cause which </a:t>
            </a:r>
            <a:r>
              <a:rPr lang="en-US" dirty="0"/>
              <a:t>of the following?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A) cardiac </a:t>
            </a:r>
            <a:r>
              <a:rPr lang="en-US" dirty="0" smtClean="0">
                <a:solidFill>
                  <a:srgbClr val="FF0000"/>
                </a:solidFill>
              </a:rPr>
              <a:t>arrhythmias –</a:t>
            </a:r>
            <a:r>
              <a:rPr lang="en-US" i="1" dirty="0" smtClean="0">
                <a:solidFill>
                  <a:srgbClr val="FF0000"/>
                </a:solidFill>
              </a:rPr>
              <a:t>Digitalis </a:t>
            </a:r>
            <a:r>
              <a:rPr lang="en-US" i="1" dirty="0" err="1" smtClean="0">
                <a:solidFill>
                  <a:srgbClr val="FF0000"/>
                </a:solidFill>
              </a:rPr>
              <a:t>purpurea</a:t>
            </a:r>
            <a:r>
              <a:rPr lang="en-US" dirty="0" smtClean="0">
                <a:solidFill>
                  <a:srgbClr val="FF0000"/>
                </a:solidFill>
              </a:rPr>
              <a:t> cardiac glycoside inhibit NA, K -ATPase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</a:t>
            </a:r>
            <a:r>
              <a:rPr lang="en-US" dirty="0" err="1"/>
              <a:t>hepatoxicity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C) renal toxicity</a:t>
            </a:r>
          </a:p>
          <a:p>
            <a:pPr marL="0" indent="0">
              <a:buNone/>
            </a:pPr>
            <a:r>
              <a:rPr lang="en-US" dirty="0"/>
              <a:t>D) CNS stimulation</a:t>
            </a:r>
          </a:p>
          <a:p>
            <a:pPr marL="0" indent="0">
              <a:buNone/>
            </a:pPr>
            <a:r>
              <a:rPr lang="en-US" dirty="0"/>
              <a:t>E) dermatitis</a:t>
            </a:r>
          </a:p>
        </p:txBody>
      </p:sp>
    </p:spTree>
    <p:extLst>
      <p:ext uri="{BB962C8B-B14F-4D97-AF65-F5344CB8AC3E}">
        <p14:creationId xmlns:p14="http://schemas.microsoft.com/office/powerpoint/2010/main" val="375262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27. What is the toxic mechanism of action for venom</a:t>
            </a:r>
          </a:p>
          <a:p>
            <a:pPr marL="0" indent="0">
              <a:buNone/>
            </a:pPr>
            <a:r>
              <a:rPr lang="en-US" dirty="0"/>
              <a:t>from the Black Widow Spider?</a:t>
            </a:r>
          </a:p>
          <a:p>
            <a:pPr marL="0" indent="0">
              <a:buNone/>
            </a:pPr>
            <a:r>
              <a:rPr lang="en-US" dirty="0"/>
              <a:t>A) acts in the central nervous system by</a:t>
            </a:r>
          </a:p>
          <a:p>
            <a:pPr marL="0" indent="0">
              <a:buNone/>
            </a:pPr>
            <a:r>
              <a:rPr lang="en-US" dirty="0"/>
              <a:t>stimulating the pre-synaptic release of</a:t>
            </a:r>
          </a:p>
          <a:p>
            <a:pPr marL="0" indent="0">
              <a:buNone/>
            </a:pPr>
            <a:r>
              <a:rPr lang="en-US" dirty="0"/>
              <a:t>serotonin causing hallucinations</a:t>
            </a:r>
          </a:p>
          <a:p>
            <a:pPr marL="0" indent="0">
              <a:buNone/>
            </a:pPr>
            <a:r>
              <a:rPr lang="en-US" dirty="0"/>
              <a:t>B) acts at the neuromuscular synaptic junction</a:t>
            </a:r>
          </a:p>
          <a:p>
            <a:pPr marL="0" indent="0">
              <a:buNone/>
            </a:pPr>
            <a:r>
              <a:rPr lang="en-US" dirty="0"/>
              <a:t>causing the release of neurotransmitters which</a:t>
            </a:r>
          </a:p>
          <a:p>
            <a:pPr marL="0" indent="0">
              <a:buNone/>
            </a:pPr>
            <a:r>
              <a:rPr lang="en-US" dirty="0"/>
              <a:t>causes muscle pain and </a:t>
            </a:r>
            <a:r>
              <a:rPr lang="en-US" dirty="0" smtClean="0"/>
              <a:t>cramps</a:t>
            </a:r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dirty="0"/>
              <a:t>) acts by blocking optic nerve transmission</a:t>
            </a:r>
          </a:p>
          <a:p>
            <a:pPr marL="0" indent="0">
              <a:buNone/>
            </a:pPr>
            <a:r>
              <a:rPr lang="en-US" dirty="0"/>
              <a:t>causing temporary blindness</a:t>
            </a:r>
          </a:p>
          <a:p>
            <a:pPr marL="0" indent="0">
              <a:buNone/>
            </a:pPr>
            <a:r>
              <a:rPr lang="en-US" dirty="0"/>
              <a:t>D) acts by stimulating histamine release from</a:t>
            </a:r>
          </a:p>
          <a:p>
            <a:pPr marL="0" indent="0">
              <a:buNone/>
            </a:pPr>
            <a:r>
              <a:rPr lang="en-US" dirty="0"/>
              <a:t>mast cells causing an anaphylactic reaction</a:t>
            </a:r>
          </a:p>
          <a:p>
            <a:pPr marL="0" indent="0">
              <a:buNone/>
            </a:pPr>
            <a:r>
              <a:rPr lang="en-US" dirty="0"/>
              <a:t>E) acts by stimulation of the Purkinje fibers in the</a:t>
            </a:r>
          </a:p>
          <a:p>
            <a:pPr marL="0" indent="0">
              <a:buNone/>
            </a:pPr>
            <a:r>
              <a:rPr lang="en-US" dirty="0"/>
              <a:t>heart causing sudden cardiac death</a:t>
            </a:r>
          </a:p>
        </p:txBody>
      </p:sp>
    </p:spTree>
    <p:extLst>
      <p:ext uri="{BB962C8B-B14F-4D97-AF65-F5344CB8AC3E}">
        <p14:creationId xmlns:p14="http://schemas.microsoft.com/office/powerpoint/2010/main" val="2017226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27. What is the toxic mechanism of action for venom</a:t>
            </a:r>
          </a:p>
          <a:p>
            <a:pPr marL="0" indent="0">
              <a:buNone/>
            </a:pPr>
            <a:r>
              <a:rPr lang="en-US" dirty="0"/>
              <a:t>from the Black Widow Spider?</a:t>
            </a:r>
          </a:p>
          <a:p>
            <a:pPr marL="0" indent="0">
              <a:buNone/>
            </a:pPr>
            <a:r>
              <a:rPr lang="en-US" dirty="0"/>
              <a:t>A) acts in the central nervous system by</a:t>
            </a:r>
          </a:p>
          <a:p>
            <a:pPr marL="0" indent="0">
              <a:buNone/>
            </a:pPr>
            <a:r>
              <a:rPr lang="en-US" dirty="0"/>
              <a:t>stimulating the pre-synaptic release of</a:t>
            </a:r>
          </a:p>
          <a:p>
            <a:pPr marL="0" indent="0">
              <a:buNone/>
            </a:pPr>
            <a:r>
              <a:rPr lang="en-US" dirty="0"/>
              <a:t>serotonin causing hallucinations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acts at the neuromuscular synaptic junction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causing the release of neurotransmitters which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causes muscle pain and </a:t>
            </a:r>
            <a:r>
              <a:rPr lang="en-US" dirty="0" smtClean="0">
                <a:solidFill>
                  <a:srgbClr val="FF0000"/>
                </a:solidFill>
              </a:rPr>
              <a:t>cramps- depolarizes neurons by increasing intracellular Ca stimulate exocytosis </a:t>
            </a:r>
            <a:r>
              <a:rPr lang="en-US" smtClean="0">
                <a:solidFill>
                  <a:srgbClr val="FF0000"/>
                </a:solidFill>
              </a:rPr>
              <a:t>of neurotransmitters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acts by blocking optic nerve transmission</a:t>
            </a:r>
          </a:p>
          <a:p>
            <a:pPr marL="0" indent="0">
              <a:buNone/>
            </a:pPr>
            <a:r>
              <a:rPr lang="en-US" dirty="0"/>
              <a:t>causing temporary blindness</a:t>
            </a:r>
          </a:p>
          <a:p>
            <a:pPr marL="0" indent="0">
              <a:buNone/>
            </a:pPr>
            <a:r>
              <a:rPr lang="en-US" dirty="0"/>
              <a:t>D) acts by stimulating histamine release from</a:t>
            </a:r>
          </a:p>
          <a:p>
            <a:pPr marL="0" indent="0">
              <a:buNone/>
            </a:pPr>
            <a:r>
              <a:rPr lang="en-US" dirty="0"/>
              <a:t>mast cells causing an anaphylactic reaction</a:t>
            </a:r>
          </a:p>
          <a:p>
            <a:pPr marL="0" indent="0">
              <a:buNone/>
            </a:pPr>
            <a:r>
              <a:rPr lang="en-US" dirty="0"/>
              <a:t>E) acts by stimulation of the Purkinje fibers in the</a:t>
            </a:r>
          </a:p>
          <a:p>
            <a:pPr marL="0" indent="0">
              <a:buNone/>
            </a:pPr>
            <a:r>
              <a:rPr lang="en-US" dirty="0"/>
              <a:t>heart causing sudden cardiac death</a:t>
            </a:r>
          </a:p>
        </p:txBody>
      </p:sp>
    </p:spTree>
    <p:extLst>
      <p:ext uri="{BB962C8B-B14F-4D97-AF65-F5344CB8AC3E}">
        <p14:creationId xmlns:p14="http://schemas.microsoft.com/office/powerpoint/2010/main" val="604317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28. What mechanism is chiefly responsible for </a:t>
            </a:r>
            <a:r>
              <a:rPr lang="en-US" dirty="0" smtClean="0"/>
              <a:t>the repair </a:t>
            </a:r>
            <a:r>
              <a:rPr lang="en-US" dirty="0"/>
              <a:t>of non-bulky damage to DNA?</a:t>
            </a:r>
          </a:p>
          <a:p>
            <a:pPr marL="0" indent="0">
              <a:buNone/>
            </a:pPr>
            <a:r>
              <a:rPr lang="en-US" dirty="0"/>
              <a:t>A) direct </a:t>
            </a:r>
            <a:r>
              <a:rPr lang="en-US" dirty="0" smtClean="0"/>
              <a:t>repair 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base excision </a:t>
            </a:r>
            <a:r>
              <a:rPr lang="en-US" dirty="0" smtClean="0"/>
              <a:t>repair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photolyase </a:t>
            </a:r>
            <a:r>
              <a:rPr lang="en-US" dirty="0" smtClean="0"/>
              <a:t>repair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err="1"/>
              <a:t>recombinational</a:t>
            </a:r>
            <a:r>
              <a:rPr lang="en-US" dirty="0"/>
              <a:t> </a:t>
            </a:r>
            <a:r>
              <a:rPr lang="en-US" dirty="0" smtClean="0"/>
              <a:t>repair 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gene lesion repair</a:t>
            </a:r>
          </a:p>
        </p:txBody>
      </p:sp>
    </p:spTree>
    <p:extLst>
      <p:ext uri="{BB962C8B-B14F-4D97-AF65-F5344CB8AC3E}">
        <p14:creationId xmlns:p14="http://schemas.microsoft.com/office/powerpoint/2010/main" val="1189426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28. What mechanism is chiefly responsible for </a:t>
            </a:r>
            <a:r>
              <a:rPr lang="en-US" dirty="0" smtClean="0"/>
              <a:t>the repair </a:t>
            </a:r>
            <a:r>
              <a:rPr lang="en-US" dirty="0"/>
              <a:t>of non-bulky damage to DNA?</a:t>
            </a:r>
          </a:p>
          <a:p>
            <a:pPr marL="0" indent="0">
              <a:buNone/>
            </a:pPr>
            <a:r>
              <a:rPr lang="en-US" dirty="0"/>
              <a:t>A) direct </a:t>
            </a:r>
            <a:r>
              <a:rPr lang="en-US" dirty="0" smtClean="0"/>
              <a:t>repair – </a:t>
            </a:r>
            <a:r>
              <a:rPr lang="en-US" dirty="0" smtClean="0">
                <a:solidFill>
                  <a:srgbClr val="FF0000"/>
                </a:solidFill>
              </a:rPr>
              <a:t>covalent modifications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base excision </a:t>
            </a:r>
            <a:r>
              <a:rPr lang="en-US" dirty="0" smtClean="0">
                <a:solidFill>
                  <a:srgbClr val="FF0000"/>
                </a:solidFill>
              </a:rPr>
              <a:t>repair- lesions that do not cause major distortion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photolyase </a:t>
            </a:r>
            <a:r>
              <a:rPr lang="en-US" dirty="0" smtClean="0"/>
              <a:t>repair 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D) </a:t>
            </a:r>
            <a:r>
              <a:rPr lang="en-US" dirty="0" err="1"/>
              <a:t>recombinational</a:t>
            </a:r>
            <a:r>
              <a:rPr lang="en-US" dirty="0"/>
              <a:t> </a:t>
            </a:r>
            <a:r>
              <a:rPr lang="en-US" dirty="0" smtClean="0"/>
              <a:t>repair – </a:t>
            </a:r>
            <a:r>
              <a:rPr lang="en-US" dirty="0" smtClean="0">
                <a:solidFill>
                  <a:srgbClr val="FF0000"/>
                </a:solidFill>
              </a:rPr>
              <a:t>fixes double strand breaks uses template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gene lesion repair</a:t>
            </a:r>
          </a:p>
        </p:txBody>
      </p:sp>
    </p:spTree>
    <p:extLst>
      <p:ext uri="{BB962C8B-B14F-4D97-AF65-F5344CB8AC3E}">
        <p14:creationId xmlns:p14="http://schemas.microsoft.com/office/powerpoint/2010/main" val="507140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29. Which of the herbal products is NOT </a:t>
            </a:r>
            <a:r>
              <a:rPr lang="en-US" dirty="0" smtClean="0"/>
              <a:t>associated with </a:t>
            </a:r>
            <a:r>
              <a:rPr lang="en-US" dirty="0"/>
              <a:t>toxicity of the organ identified?</a:t>
            </a:r>
          </a:p>
          <a:p>
            <a:pPr marL="0" indent="0">
              <a:buNone/>
            </a:pPr>
            <a:r>
              <a:rPr lang="pt-BR" dirty="0"/>
              <a:t>A) central nervous system: Kava Kava</a:t>
            </a:r>
          </a:p>
          <a:p>
            <a:pPr marL="0" indent="0">
              <a:buNone/>
            </a:pPr>
            <a:r>
              <a:rPr lang="en-US" dirty="0"/>
              <a:t>B) hematological: Hops</a:t>
            </a: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en-US" dirty="0" err="1"/>
              <a:t>hepatotoxins</a:t>
            </a:r>
            <a:r>
              <a:rPr lang="en-US" dirty="0"/>
              <a:t>: Senna</a:t>
            </a:r>
          </a:p>
          <a:p>
            <a:pPr marL="0" indent="0">
              <a:buNone/>
            </a:pPr>
            <a:r>
              <a:rPr lang="en-US" dirty="0"/>
              <a:t>D) respiratory: St. John's </a:t>
            </a:r>
            <a:r>
              <a:rPr lang="en-US" dirty="0" smtClean="0"/>
              <a:t>wort </a:t>
            </a:r>
          </a:p>
          <a:p>
            <a:pPr marL="0" indent="0">
              <a:buNone/>
            </a:pPr>
            <a:r>
              <a:rPr lang="en-US" dirty="0" smtClean="0"/>
              <a:t>E</a:t>
            </a:r>
            <a:r>
              <a:rPr lang="en-US" dirty="0"/>
              <a:t>) cardiovascular system: European mistletoe</a:t>
            </a:r>
          </a:p>
        </p:txBody>
      </p:sp>
    </p:spTree>
    <p:extLst>
      <p:ext uri="{BB962C8B-B14F-4D97-AF65-F5344CB8AC3E}">
        <p14:creationId xmlns:p14="http://schemas.microsoft.com/office/powerpoint/2010/main" val="1422736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29. Which of the herbal products is NOT </a:t>
            </a:r>
            <a:r>
              <a:rPr lang="en-US" dirty="0" smtClean="0"/>
              <a:t>associated with </a:t>
            </a:r>
            <a:r>
              <a:rPr lang="en-US" dirty="0"/>
              <a:t>toxicity of the organ identified?</a:t>
            </a:r>
          </a:p>
          <a:p>
            <a:pPr marL="0" indent="0">
              <a:buNone/>
            </a:pPr>
            <a:r>
              <a:rPr lang="pt-BR" dirty="0"/>
              <a:t>A) central nervous system: Kava Kava</a:t>
            </a:r>
          </a:p>
          <a:p>
            <a:pPr marL="0" indent="0">
              <a:buNone/>
            </a:pPr>
            <a:r>
              <a:rPr lang="en-US" dirty="0"/>
              <a:t>B) hematological: Hops</a:t>
            </a: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en-US" dirty="0" err="1"/>
              <a:t>hepatotoxins</a:t>
            </a:r>
            <a:r>
              <a:rPr lang="en-US" dirty="0"/>
              <a:t>: Senna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D) respiratory: St. John's </a:t>
            </a:r>
            <a:r>
              <a:rPr lang="en-US" dirty="0" smtClean="0">
                <a:solidFill>
                  <a:srgbClr val="FF0000"/>
                </a:solidFill>
              </a:rPr>
              <a:t>wort – upregulates CYP3A4, poisons to cattle effects CNS increases neurotransmitters in the brain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cardiovascular system: European mistletoe</a:t>
            </a:r>
          </a:p>
        </p:txBody>
      </p:sp>
    </p:spTree>
    <p:extLst>
      <p:ext uri="{BB962C8B-B14F-4D97-AF65-F5344CB8AC3E}">
        <p14:creationId xmlns:p14="http://schemas.microsoft.com/office/powerpoint/2010/main" val="1923178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30. The venom in wasp stings (family </a:t>
            </a:r>
            <a:r>
              <a:rPr lang="en-US" i="1" dirty="0" err="1" smtClean="0"/>
              <a:t>Vespidae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works primarily through which of the following</a:t>
            </a:r>
          </a:p>
          <a:p>
            <a:pPr marL="0" indent="0">
              <a:buNone/>
            </a:pPr>
            <a:r>
              <a:rPr lang="en-US" dirty="0"/>
              <a:t>mechanisms?</a:t>
            </a:r>
          </a:p>
          <a:p>
            <a:pPr marL="0" indent="0">
              <a:buNone/>
            </a:pPr>
            <a:r>
              <a:rPr lang="en-US" dirty="0"/>
              <a:t>A) inhibition of acetylcholinesterase</a:t>
            </a:r>
          </a:p>
          <a:p>
            <a:pPr marL="0" indent="0">
              <a:buNone/>
            </a:pPr>
            <a:r>
              <a:rPr lang="en-US" dirty="0"/>
              <a:t>B) release of histamine from mast </a:t>
            </a:r>
            <a:r>
              <a:rPr lang="en-US" dirty="0" smtClean="0"/>
              <a:t>cells </a:t>
            </a:r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dirty="0"/>
              <a:t>) fibrinolytic enzyme activity</a:t>
            </a:r>
          </a:p>
          <a:p>
            <a:pPr marL="0" indent="0">
              <a:buNone/>
            </a:pPr>
            <a:r>
              <a:rPr lang="en-US" dirty="0"/>
              <a:t>D) hemorrhagic metalloproteinase activity</a:t>
            </a:r>
          </a:p>
          <a:p>
            <a:pPr marL="0" indent="0">
              <a:buNone/>
            </a:pPr>
            <a:r>
              <a:rPr lang="en-US" dirty="0"/>
              <a:t>E) induction of apoptosis</a:t>
            </a:r>
          </a:p>
        </p:txBody>
      </p:sp>
    </p:spTree>
    <p:extLst>
      <p:ext uri="{BB962C8B-B14F-4D97-AF65-F5344CB8AC3E}">
        <p14:creationId xmlns:p14="http://schemas.microsoft.com/office/powerpoint/2010/main" val="811027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30. The venom in wasp stings (family </a:t>
            </a:r>
            <a:r>
              <a:rPr lang="en-US" i="1" dirty="0" err="1" smtClean="0"/>
              <a:t>Vespidae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works primarily through which of the following</a:t>
            </a:r>
          </a:p>
          <a:p>
            <a:pPr marL="0" indent="0">
              <a:buNone/>
            </a:pPr>
            <a:r>
              <a:rPr lang="en-US" dirty="0"/>
              <a:t>mechanisms?</a:t>
            </a:r>
          </a:p>
          <a:p>
            <a:pPr marL="0" indent="0">
              <a:buNone/>
            </a:pPr>
            <a:r>
              <a:rPr lang="en-US" dirty="0"/>
              <a:t>A) inhibition of acetylcholinesterase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release of histamine from mast </a:t>
            </a:r>
            <a:r>
              <a:rPr lang="en-US" dirty="0" smtClean="0">
                <a:solidFill>
                  <a:srgbClr val="FF0000"/>
                </a:solidFill>
              </a:rPr>
              <a:t>cells – high content of peptides, pain vasodilation increased vascular permeability, edema breakdown of membranes facilitates diffusion of venom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fibrinolytic enzyme activity</a:t>
            </a:r>
          </a:p>
          <a:p>
            <a:pPr marL="0" indent="0">
              <a:buNone/>
            </a:pPr>
            <a:r>
              <a:rPr lang="en-US" dirty="0"/>
              <a:t>D) hemorrhagic metalloproteinase activity</a:t>
            </a:r>
          </a:p>
          <a:p>
            <a:pPr marL="0" indent="0">
              <a:buNone/>
            </a:pPr>
            <a:r>
              <a:rPr lang="en-US" dirty="0"/>
              <a:t>E) induction of apoptosis</a:t>
            </a:r>
          </a:p>
        </p:txBody>
      </p:sp>
    </p:spTree>
    <p:extLst>
      <p:ext uri="{BB962C8B-B14F-4D97-AF65-F5344CB8AC3E}">
        <p14:creationId xmlns:p14="http://schemas.microsoft.com/office/powerpoint/2010/main" val="2073168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31. Which of the following is CORRECT regarding</a:t>
            </a:r>
          </a:p>
          <a:p>
            <a:pPr marL="0" indent="0">
              <a:buNone/>
            </a:pPr>
            <a:r>
              <a:rPr lang="en-US" dirty="0"/>
              <a:t>the Delaney clause?</a:t>
            </a:r>
          </a:p>
          <a:p>
            <a:pPr marL="0" indent="0">
              <a:buNone/>
            </a:pPr>
            <a:r>
              <a:rPr lang="en-US" dirty="0"/>
              <a:t>A) permits food additives to be declared GRAS</a:t>
            </a:r>
          </a:p>
          <a:p>
            <a:pPr marL="0" indent="0">
              <a:buNone/>
            </a:pPr>
            <a:r>
              <a:rPr lang="en-US" dirty="0"/>
              <a:t>B) prohibits EPA from setting safe exposure</a:t>
            </a:r>
          </a:p>
          <a:p>
            <a:pPr marL="0" indent="0">
              <a:buNone/>
            </a:pPr>
            <a:r>
              <a:rPr lang="en-US" dirty="0"/>
              <a:t>levels to carcinogens</a:t>
            </a:r>
          </a:p>
          <a:p>
            <a:pPr marL="0" indent="0">
              <a:buNone/>
            </a:pPr>
            <a:r>
              <a:rPr lang="en-US" dirty="0"/>
              <a:t>C) prohibits FDA from approving food additives</a:t>
            </a:r>
          </a:p>
          <a:p>
            <a:pPr marL="0" indent="0">
              <a:buNone/>
            </a:pPr>
            <a:r>
              <a:rPr lang="en-US" dirty="0"/>
              <a:t>found to cause </a:t>
            </a:r>
            <a:r>
              <a:rPr lang="en-US" dirty="0" smtClean="0"/>
              <a:t>cancer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D</a:t>
            </a:r>
            <a:r>
              <a:rPr lang="en-US" dirty="0"/>
              <a:t>) only applies to food additives demonstrating</a:t>
            </a:r>
          </a:p>
          <a:p>
            <a:pPr marL="0" indent="0">
              <a:buNone/>
            </a:pPr>
            <a:r>
              <a:rPr lang="en-US" dirty="0"/>
              <a:t>human evidence of carcinogenicity</a:t>
            </a:r>
          </a:p>
          <a:p>
            <a:pPr marL="0" indent="0">
              <a:buNone/>
            </a:pPr>
            <a:r>
              <a:rPr lang="en-US" dirty="0"/>
              <a:t>E) has resulted in a wide range of banned food</a:t>
            </a:r>
          </a:p>
          <a:p>
            <a:pPr marL="0" indent="0">
              <a:buNone/>
            </a:pPr>
            <a:r>
              <a:rPr lang="en-US" dirty="0"/>
              <a:t>additives</a:t>
            </a:r>
          </a:p>
        </p:txBody>
      </p:sp>
    </p:spTree>
    <p:extLst>
      <p:ext uri="{BB962C8B-B14F-4D97-AF65-F5344CB8AC3E}">
        <p14:creationId xmlns:p14="http://schemas.microsoft.com/office/powerpoint/2010/main" val="2784130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31. Which of the following is CORRECT regarding</a:t>
            </a:r>
          </a:p>
          <a:p>
            <a:pPr marL="0" indent="0">
              <a:buNone/>
            </a:pPr>
            <a:r>
              <a:rPr lang="en-US" dirty="0"/>
              <a:t>the Delaney clause?</a:t>
            </a:r>
          </a:p>
          <a:p>
            <a:pPr marL="0" indent="0">
              <a:buNone/>
            </a:pPr>
            <a:r>
              <a:rPr lang="en-US" dirty="0"/>
              <a:t>A) permits food additives to be declared GRAS</a:t>
            </a:r>
          </a:p>
          <a:p>
            <a:pPr marL="0" indent="0">
              <a:buNone/>
            </a:pPr>
            <a:r>
              <a:rPr lang="en-US" dirty="0"/>
              <a:t>B) prohibits EPA from setting safe exposure</a:t>
            </a:r>
          </a:p>
          <a:p>
            <a:pPr marL="0" indent="0">
              <a:buNone/>
            </a:pPr>
            <a:r>
              <a:rPr lang="en-US" dirty="0"/>
              <a:t>levels to carcinogens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prohibits FDA from approving food additives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found to cause </a:t>
            </a:r>
            <a:r>
              <a:rPr lang="en-US" dirty="0" smtClean="0">
                <a:solidFill>
                  <a:srgbClr val="FF0000"/>
                </a:solidFill>
              </a:rPr>
              <a:t>cancer – food drug and cosmetic act 1958, no cancer in either human or animals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only applies to food additives demonstrating</a:t>
            </a:r>
          </a:p>
          <a:p>
            <a:pPr marL="0" indent="0">
              <a:buNone/>
            </a:pPr>
            <a:r>
              <a:rPr lang="en-US" dirty="0"/>
              <a:t>human evidence of carcinogenicity</a:t>
            </a:r>
          </a:p>
          <a:p>
            <a:pPr marL="0" indent="0">
              <a:buNone/>
            </a:pPr>
            <a:r>
              <a:rPr lang="en-US" dirty="0"/>
              <a:t>E) has resulted in a wide range of banned food</a:t>
            </a:r>
          </a:p>
          <a:p>
            <a:pPr marL="0" indent="0">
              <a:buNone/>
            </a:pPr>
            <a:r>
              <a:rPr lang="en-US" dirty="0"/>
              <a:t>additives</a:t>
            </a:r>
          </a:p>
        </p:txBody>
      </p:sp>
    </p:spTree>
    <p:extLst>
      <p:ext uri="{BB962C8B-B14F-4D97-AF65-F5344CB8AC3E}">
        <p14:creationId xmlns:p14="http://schemas.microsoft.com/office/powerpoint/2010/main" val="975723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32. A mixture of melamine and cyanuric acid, neither</a:t>
            </a:r>
          </a:p>
          <a:p>
            <a:pPr marL="0" indent="0">
              <a:buNone/>
            </a:pPr>
            <a:r>
              <a:rPr lang="en-US" dirty="0"/>
              <a:t>of which is very toxic alone, caused the deaths of</a:t>
            </a:r>
          </a:p>
          <a:p>
            <a:pPr marL="0" indent="0">
              <a:buNone/>
            </a:pPr>
            <a:r>
              <a:rPr lang="en-US" dirty="0"/>
              <a:t>many pets and even human infants in 2007-08 when</a:t>
            </a:r>
          </a:p>
          <a:p>
            <a:pPr marL="0" indent="0">
              <a:buNone/>
            </a:pPr>
            <a:r>
              <a:rPr lang="en-US" dirty="0"/>
              <a:t>the mixture was found in animal feed ingredients and</a:t>
            </a:r>
          </a:p>
          <a:p>
            <a:pPr marL="0" indent="0">
              <a:buNone/>
            </a:pPr>
            <a:r>
              <a:rPr lang="en-US" dirty="0"/>
              <a:t>milk. What was the likely mode of action?</a:t>
            </a:r>
          </a:p>
          <a:p>
            <a:pPr marL="0" indent="0">
              <a:buNone/>
            </a:pPr>
            <a:r>
              <a:rPr lang="en-US" dirty="0"/>
              <a:t>A) acute cardiac toxicity</a:t>
            </a:r>
          </a:p>
          <a:p>
            <a:pPr marL="0" indent="0">
              <a:buNone/>
            </a:pPr>
            <a:r>
              <a:rPr lang="en-US" dirty="0"/>
              <a:t>B) overwhelms homeostatic acid-base balance</a:t>
            </a:r>
          </a:p>
          <a:p>
            <a:pPr marL="0" indent="0">
              <a:buNone/>
            </a:pPr>
            <a:r>
              <a:rPr lang="en-US" dirty="0"/>
              <a:t>C) forms co-precipitates in renal </a:t>
            </a:r>
            <a:r>
              <a:rPr lang="en-US" dirty="0" smtClean="0"/>
              <a:t>tubules </a:t>
            </a:r>
          </a:p>
          <a:p>
            <a:pPr marL="0" indent="0">
              <a:buNone/>
            </a:pPr>
            <a:r>
              <a:rPr lang="en-US" dirty="0" smtClean="0"/>
              <a:t>D</a:t>
            </a:r>
            <a:r>
              <a:rPr lang="en-US" dirty="0"/>
              <a:t>) acute hepatic toxicity</a:t>
            </a:r>
          </a:p>
          <a:p>
            <a:pPr marL="0" indent="0">
              <a:buNone/>
            </a:pPr>
            <a:r>
              <a:rPr lang="en-US" dirty="0"/>
              <a:t>E) blocks mitochondrial oxidative</a:t>
            </a:r>
          </a:p>
          <a:p>
            <a:pPr marL="0" indent="0">
              <a:buNone/>
            </a:pPr>
            <a:r>
              <a:rPr lang="en-US" dirty="0"/>
              <a:t>phosphorylation</a:t>
            </a:r>
          </a:p>
        </p:txBody>
      </p:sp>
    </p:spTree>
    <p:extLst>
      <p:ext uri="{BB962C8B-B14F-4D97-AF65-F5344CB8AC3E}">
        <p14:creationId xmlns:p14="http://schemas.microsoft.com/office/powerpoint/2010/main" val="1393182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32. A mixture of melamine and cyanuric acid, neither</a:t>
            </a:r>
          </a:p>
          <a:p>
            <a:pPr marL="0" indent="0">
              <a:buNone/>
            </a:pPr>
            <a:r>
              <a:rPr lang="en-US" dirty="0"/>
              <a:t>of which is very toxic alone, caused the deaths of</a:t>
            </a:r>
          </a:p>
          <a:p>
            <a:pPr marL="0" indent="0">
              <a:buNone/>
            </a:pPr>
            <a:r>
              <a:rPr lang="en-US" dirty="0"/>
              <a:t>many pets and even human infants in 2007-08 when</a:t>
            </a:r>
          </a:p>
          <a:p>
            <a:pPr marL="0" indent="0">
              <a:buNone/>
            </a:pPr>
            <a:r>
              <a:rPr lang="en-US" dirty="0"/>
              <a:t>the mixture was found in animal feed ingredients and</a:t>
            </a:r>
          </a:p>
          <a:p>
            <a:pPr marL="0" indent="0">
              <a:buNone/>
            </a:pPr>
            <a:r>
              <a:rPr lang="en-US" dirty="0"/>
              <a:t>milk. What was the likely mode of action?</a:t>
            </a:r>
          </a:p>
          <a:p>
            <a:pPr marL="0" indent="0">
              <a:buNone/>
            </a:pPr>
            <a:r>
              <a:rPr lang="en-US" dirty="0"/>
              <a:t>A) acute cardiac toxicity</a:t>
            </a:r>
          </a:p>
          <a:p>
            <a:pPr marL="0" indent="0">
              <a:buNone/>
            </a:pPr>
            <a:r>
              <a:rPr lang="en-US" dirty="0"/>
              <a:t>B) overwhelms homeostatic acid-base balance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forms co-precipitates in renal </a:t>
            </a:r>
            <a:r>
              <a:rPr lang="en-US" dirty="0" smtClean="0">
                <a:solidFill>
                  <a:srgbClr val="FF0000"/>
                </a:solidFill>
              </a:rPr>
              <a:t>tubules – insoluble crystals in microtubules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acute hepatic toxicity</a:t>
            </a:r>
          </a:p>
          <a:p>
            <a:pPr marL="0" indent="0">
              <a:buNone/>
            </a:pPr>
            <a:r>
              <a:rPr lang="en-US" dirty="0"/>
              <a:t>E) blocks mitochondrial oxidative</a:t>
            </a:r>
          </a:p>
          <a:p>
            <a:pPr marL="0" indent="0">
              <a:buNone/>
            </a:pPr>
            <a:r>
              <a:rPr lang="en-US" dirty="0"/>
              <a:t>phosphorylation</a:t>
            </a:r>
          </a:p>
        </p:txBody>
      </p:sp>
    </p:spTree>
    <p:extLst>
      <p:ext uri="{BB962C8B-B14F-4D97-AF65-F5344CB8AC3E}">
        <p14:creationId xmlns:p14="http://schemas.microsoft.com/office/powerpoint/2010/main" val="4045837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33. Which of the following poses the greatest</a:t>
            </a:r>
          </a:p>
          <a:p>
            <a:pPr marL="0" indent="0">
              <a:buNone/>
            </a:pPr>
            <a:r>
              <a:rPr lang="en-US" dirty="0"/>
              <a:t>food-borne risk world-wide?</a:t>
            </a:r>
          </a:p>
          <a:p>
            <a:pPr marL="0" indent="0">
              <a:buNone/>
            </a:pPr>
            <a:r>
              <a:rPr lang="en-US" dirty="0"/>
              <a:t>A) chemical contaminants/adulterants (e.g.,</a:t>
            </a:r>
          </a:p>
          <a:p>
            <a:pPr marL="0" indent="0">
              <a:buNone/>
            </a:pPr>
            <a:r>
              <a:rPr lang="en-US" dirty="0"/>
              <a:t>pesticides, hormones, antibiotics)</a:t>
            </a:r>
          </a:p>
          <a:p>
            <a:pPr marL="0" indent="0">
              <a:buNone/>
            </a:pPr>
            <a:r>
              <a:rPr lang="en-US" dirty="0"/>
              <a:t>B) microbial </a:t>
            </a:r>
            <a:r>
              <a:rPr lang="en-US" dirty="0" smtClean="0"/>
              <a:t>contamination </a:t>
            </a:r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dirty="0"/>
              <a:t>) contaminants and indirect additives from food</a:t>
            </a:r>
          </a:p>
          <a:p>
            <a:pPr marL="0" indent="0">
              <a:buNone/>
            </a:pPr>
            <a:r>
              <a:rPr lang="en-US" dirty="0"/>
              <a:t>processing/packaging</a:t>
            </a:r>
          </a:p>
          <a:p>
            <a:pPr marL="0" indent="0">
              <a:buNone/>
            </a:pPr>
            <a:r>
              <a:rPr lang="en-US" dirty="0"/>
              <a:t>D) mycotoxins and food-borne molds</a:t>
            </a:r>
          </a:p>
          <a:p>
            <a:pPr marL="0" indent="0">
              <a:buNone/>
            </a:pPr>
            <a:r>
              <a:rPr lang="en-US" dirty="0"/>
              <a:t>E) food additives</a:t>
            </a:r>
          </a:p>
        </p:txBody>
      </p:sp>
    </p:spTree>
    <p:extLst>
      <p:ext uri="{BB962C8B-B14F-4D97-AF65-F5344CB8AC3E}">
        <p14:creationId xmlns:p14="http://schemas.microsoft.com/office/powerpoint/2010/main" val="1857714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33. Which of the following poses the greatest</a:t>
            </a:r>
          </a:p>
          <a:p>
            <a:pPr marL="0" indent="0">
              <a:buNone/>
            </a:pPr>
            <a:r>
              <a:rPr lang="en-US" dirty="0"/>
              <a:t>food-borne risk world-wide?</a:t>
            </a:r>
          </a:p>
          <a:p>
            <a:pPr marL="0" indent="0">
              <a:buNone/>
            </a:pPr>
            <a:r>
              <a:rPr lang="en-US" dirty="0"/>
              <a:t>A) chemical contaminants/adulterants (e.g.,</a:t>
            </a:r>
          </a:p>
          <a:p>
            <a:pPr marL="0" indent="0">
              <a:buNone/>
            </a:pPr>
            <a:r>
              <a:rPr lang="en-US" dirty="0"/>
              <a:t>pesticides, hormones, antibiotics)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B) microbial </a:t>
            </a:r>
            <a:r>
              <a:rPr lang="en-US" dirty="0" smtClean="0">
                <a:solidFill>
                  <a:srgbClr val="FF0000"/>
                </a:solidFill>
              </a:rPr>
              <a:t>contamination – microbiologic agents in food chapter listed to cause most food related illnesses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contaminants and indirect additives from food</a:t>
            </a:r>
          </a:p>
          <a:p>
            <a:pPr marL="0" indent="0">
              <a:buNone/>
            </a:pPr>
            <a:r>
              <a:rPr lang="en-US" dirty="0"/>
              <a:t>processing/packaging</a:t>
            </a:r>
          </a:p>
          <a:p>
            <a:pPr marL="0" indent="0">
              <a:buNone/>
            </a:pPr>
            <a:r>
              <a:rPr lang="en-US" dirty="0"/>
              <a:t>D) mycotoxins and food-borne molds</a:t>
            </a:r>
          </a:p>
          <a:p>
            <a:pPr marL="0" indent="0">
              <a:buNone/>
            </a:pPr>
            <a:r>
              <a:rPr lang="en-US" dirty="0"/>
              <a:t>E) food additives</a:t>
            </a:r>
          </a:p>
        </p:txBody>
      </p:sp>
    </p:spTree>
    <p:extLst>
      <p:ext uri="{BB962C8B-B14F-4D97-AF65-F5344CB8AC3E}">
        <p14:creationId xmlns:p14="http://schemas.microsoft.com/office/powerpoint/2010/main" val="3320994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248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34. Acrylamide has been used in a variety of </a:t>
            </a:r>
            <a:r>
              <a:rPr lang="en-US" sz="2200" dirty="0" smtClean="0"/>
              <a:t>foods and </a:t>
            </a:r>
            <a:r>
              <a:rPr lang="en-US" sz="2200" dirty="0"/>
              <a:t>beverages (</a:t>
            </a:r>
            <a:r>
              <a:rPr lang="en-US" sz="2200" dirty="0" err="1"/>
              <a:t>e,g</a:t>
            </a:r>
            <a:r>
              <a:rPr lang="en-US" sz="2200" dirty="0"/>
              <a:t>., baked goods and coffee, </a:t>
            </a:r>
            <a:r>
              <a:rPr lang="en-US" sz="2200" dirty="0" smtClean="0"/>
              <a:t>among others</a:t>
            </a:r>
            <a:r>
              <a:rPr lang="en-US" sz="2200" dirty="0"/>
              <a:t>). Which of the following </a:t>
            </a:r>
            <a:r>
              <a:rPr lang="en-US" sz="2200" dirty="0" smtClean="0"/>
              <a:t>INCORRECTLY describes </a:t>
            </a:r>
            <a:r>
              <a:rPr lang="en-US" sz="2200" dirty="0"/>
              <a:t>the properties of acrylamide?</a:t>
            </a:r>
          </a:p>
          <a:p>
            <a:pPr marL="0" indent="0">
              <a:buNone/>
            </a:pPr>
            <a:r>
              <a:rPr lang="en-US" sz="2200" dirty="0"/>
              <a:t>A) toxicity is primarily due to nervous </a:t>
            </a:r>
            <a:r>
              <a:rPr lang="en-US" sz="2200" dirty="0" smtClean="0"/>
              <a:t>system effects </a:t>
            </a:r>
            <a:endParaRPr lang="en-US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 dirty="0"/>
              <a:t>B) acrylamide has been shown to be </a:t>
            </a:r>
            <a:r>
              <a:rPr lang="en-US" sz="2200" dirty="0" smtClean="0"/>
              <a:t>carcinogenic in </a:t>
            </a:r>
            <a:r>
              <a:rPr lang="en-US" sz="2200" dirty="0"/>
              <a:t>animal </a:t>
            </a:r>
            <a:r>
              <a:rPr lang="en-US" sz="2200" dirty="0" smtClean="0"/>
              <a:t>studies</a:t>
            </a:r>
            <a:endParaRPr lang="en-US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 dirty="0"/>
              <a:t>C) is slowly absorbed from the </a:t>
            </a:r>
            <a:r>
              <a:rPr lang="en-US" sz="2200" dirty="0" smtClean="0"/>
              <a:t>gastrointestinal tract </a:t>
            </a:r>
            <a:r>
              <a:rPr lang="en-US" sz="2200" dirty="0"/>
              <a:t>but is rapidly excreted as a </a:t>
            </a:r>
            <a:r>
              <a:rPr lang="en-US" sz="2200" dirty="0" smtClean="0"/>
              <a:t>glucuronide conjugate </a:t>
            </a:r>
            <a:endParaRPr lang="en-US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 dirty="0"/>
              <a:t>D) is formed at baking temperatures </a:t>
            </a:r>
            <a:r>
              <a:rPr lang="en-US" sz="2200" dirty="0" smtClean="0"/>
              <a:t>particularly in </a:t>
            </a:r>
            <a:r>
              <a:rPr lang="en-US" sz="2200" dirty="0"/>
              <a:t>the presence of </a:t>
            </a:r>
            <a:r>
              <a:rPr lang="en-US" sz="2200" dirty="0" smtClean="0"/>
              <a:t>asparagine </a:t>
            </a:r>
            <a:endParaRPr lang="en-US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 dirty="0"/>
              <a:t>E) the daily intake of acrylamide is about </a:t>
            </a:r>
            <a:r>
              <a:rPr lang="en-US" sz="2200" dirty="0" smtClean="0"/>
              <a:t>200 times </a:t>
            </a:r>
            <a:r>
              <a:rPr lang="en-US" sz="2200" dirty="0"/>
              <a:t>less than the NOAEL for nervous </a:t>
            </a:r>
            <a:r>
              <a:rPr lang="en-US" sz="2200" dirty="0" smtClean="0"/>
              <a:t>system effects 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176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248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34. Acrylamide has been used in a variety of </a:t>
            </a:r>
            <a:r>
              <a:rPr lang="en-US" sz="2200" dirty="0" smtClean="0"/>
              <a:t>foods and </a:t>
            </a:r>
            <a:r>
              <a:rPr lang="en-US" sz="2200" dirty="0"/>
              <a:t>beverages (</a:t>
            </a:r>
            <a:r>
              <a:rPr lang="en-US" sz="2200" dirty="0" err="1"/>
              <a:t>e,g</a:t>
            </a:r>
            <a:r>
              <a:rPr lang="en-US" sz="2200" dirty="0"/>
              <a:t>., baked goods and coffee, </a:t>
            </a:r>
            <a:r>
              <a:rPr lang="en-US" sz="2200" dirty="0" smtClean="0"/>
              <a:t>among others</a:t>
            </a:r>
            <a:r>
              <a:rPr lang="en-US" sz="2200" dirty="0"/>
              <a:t>). Which of the following </a:t>
            </a:r>
            <a:r>
              <a:rPr lang="en-US" sz="2200" dirty="0" smtClean="0"/>
              <a:t>INCORRECTLY describes </a:t>
            </a:r>
            <a:r>
              <a:rPr lang="en-US" sz="2200" dirty="0"/>
              <a:t>the properties of acrylamide?</a:t>
            </a:r>
          </a:p>
          <a:p>
            <a:pPr marL="0" indent="0">
              <a:buNone/>
            </a:pPr>
            <a:r>
              <a:rPr lang="en-US" sz="2200" dirty="0"/>
              <a:t>A) toxicity is primarily due to nervous </a:t>
            </a:r>
            <a:r>
              <a:rPr lang="en-US" sz="2200" dirty="0" smtClean="0"/>
              <a:t>system effects – </a:t>
            </a:r>
            <a:r>
              <a:rPr lang="en-US" sz="2200" dirty="0" smtClean="0">
                <a:solidFill>
                  <a:srgbClr val="FF0000"/>
                </a:solidFill>
              </a:rPr>
              <a:t>humans peripheral neuropathies</a:t>
            </a:r>
            <a:endParaRPr lang="en-US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 dirty="0"/>
              <a:t>B) acrylamide has been shown to be </a:t>
            </a:r>
            <a:r>
              <a:rPr lang="en-US" sz="2200" dirty="0" smtClean="0"/>
              <a:t>carcinogenic in </a:t>
            </a:r>
            <a:r>
              <a:rPr lang="en-US" sz="2200" dirty="0"/>
              <a:t>animal </a:t>
            </a:r>
            <a:r>
              <a:rPr lang="en-US" sz="2200" dirty="0" smtClean="0"/>
              <a:t>studies – </a:t>
            </a:r>
            <a:r>
              <a:rPr lang="en-US" sz="2200" dirty="0" err="1" smtClean="0">
                <a:solidFill>
                  <a:srgbClr val="FF0000"/>
                </a:solidFill>
              </a:rPr>
              <a:t>fibroadenomas</a:t>
            </a:r>
            <a:r>
              <a:rPr lang="en-US" sz="2200" dirty="0" smtClean="0">
                <a:solidFill>
                  <a:srgbClr val="FF0000"/>
                </a:solidFill>
              </a:rPr>
              <a:t> in mammary and thyroid gland of rats ,probable human carcinogen</a:t>
            </a:r>
            <a:endParaRPr lang="en-US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C) is slowly absorbed from the </a:t>
            </a:r>
            <a:r>
              <a:rPr lang="en-US" sz="2200" dirty="0" smtClean="0">
                <a:solidFill>
                  <a:srgbClr val="FF0000"/>
                </a:solidFill>
              </a:rPr>
              <a:t>gastrointestinal tract </a:t>
            </a:r>
            <a:r>
              <a:rPr lang="en-US" sz="2200" dirty="0">
                <a:solidFill>
                  <a:srgbClr val="FF0000"/>
                </a:solidFill>
              </a:rPr>
              <a:t>but is rapidly excreted as a </a:t>
            </a:r>
            <a:r>
              <a:rPr lang="en-US" sz="2200" dirty="0" smtClean="0">
                <a:solidFill>
                  <a:srgbClr val="FF0000"/>
                </a:solidFill>
              </a:rPr>
              <a:t>glucuronide conjugate – absorbed rapidly and extensively in the GI tract, forms a glutathione conjugate</a:t>
            </a:r>
            <a:endParaRPr lang="en-US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 dirty="0"/>
              <a:t>D) is formed at baking temperatures </a:t>
            </a:r>
            <a:r>
              <a:rPr lang="en-US" sz="2200" dirty="0" smtClean="0"/>
              <a:t>particularly in </a:t>
            </a:r>
            <a:r>
              <a:rPr lang="en-US" sz="2200" dirty="0"/>
              <a:t>the presence of </a:t>
            </a:r>
            <a:r>
              <a:rPr lang="en-US" sz="2200" dirty="0" smtClean="0"/>
              <a:t>asparagine – </a:t>
            </a:r>
            <a:r>
              <a:rPr lang="en-US" sz="2200" dirty="0" smtClean="0">
                <a:solidFill>
                  <a:srgbClr val="FF0000"/>
                </a:solidFill>
              </a:rPr>
              <a:t>formed at high cooking temps, greater tendency to form acrylamide when asparagine present</a:t>
            </a:r>
            <a:endParaRPr lang="en-US" sz="2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 dirty="0"/>
              <a:t>E) the daily intake of acrylamide is about </a:t>
            </a:r>
            <a:r>
              <a:rPr lang="en-US" sz="2200" dirty="0" smtClean="0"/>
              <a:t>200 times </a:t>
            </a:r>
            <a:r>
              <a:rPr lang="en-US" sz="2200" dirty="0"/>
              <a:t>less than the NOAEL for nervous </a:t>
            </a:r>
            <a:r>
              <a:rPr lang="en-US" sz="2200" dirty="0" smtClean="0"/>
              <a:t>system effects – </a:t>
            </a:r>
            <a:r>
              <a:rPr lang="en-US" sz="2200" dirty="0" smtClean="0">
                <a:solidFill>
                  <a:srgbClr val="FF0000"/>
                </a:solidFill>
              </a:rPr>
              <a:t>ADI is 0.4 </a:t>
            </a:r>
            <a:r>
              <a:rPr lang="en-US" sz="2200" dirty="0" err="1" smtClean="0">
                <a:solidFill>
                  <a:srgbClr val="FF0000"/>
                </a:solidFill>
              </a:rPr>
              <a:t>ug</a:t>
            </a:r>
            <a:r>
              <a:rPr lang="en-US" sz="2200" dirty="0" smtClean="0">
                <a:solidFill>
                  <a:srgbClr val="FF0000"/>
                </a:solidFill>
              </a:rPr>
              <a:t>/kg/day 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469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35. Which of the following toxic </a:t>
            </a:r>
            <a:r>
              <a:rPr lang="en-US" dirty="0" smtClean="0"/>
              <a:t>food contaminants are </a:t>
            </a:r>
            <a:r>
              <a:rPr lang="en-US" dirty="0"/>
              <a:t>produced by cooking?</a:t>
            </a:r>
          </a:p>
          <a:p>
            <a:pPr marL="0" indent="0">
              <a:buNone/>
            </a:pPr>
            <a:r>
              <a:rPr lang="en-US" dirty="0"/>
              <a:t>A) botulinum </a:t>
            </a:r>
            <a:r>
              <a:rPr lang="en-US" dirty="0" smtClean="0"/>
              <a:t>toxin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</a:t>
            </a:r>
            <a:r>
              <a:rPr lang="en-US" dirty="0" err="1" smtClean="0"/>
              <a:t>Tetrodotoxin</a:t>
            </a:r>
            <a:r>
              <a:rPr lang="en-US" dirty="0" smtClean="0"/>
              <a:t> 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en-US" dirty="0" err="1"/>
              <a:t>trichothecenes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D) heterocyclic </a:t>
            </a:r>
            <a:r>
              <a:rPr lang="en-US" dirty="0" smtClean="0"/>
              <a:t>amines </a:t>
            </a:r>
          </a:p>
          <a:p>
            <a:pPr marL="0" indent="0">
              <a:buNone/>
            </a:pPr>
            <a:r>
              <a:rPr lang="en-US" dirty="0" smtClean="0"/>
              <a:t>E</a:t>
            </a:r>
            <a:r>
              <a:rPr lang="en-US" dirty="0"/>
              <a:t>) </a:t>
            </a:r>
            <a:r>
              <a:rPr lang="en-US" dirty="0" err="1"/>
              <a:t>fumonisins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43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35. Which of the following toxic </a:t>
            </a:r>
            <a:r>
              <a:rPr lang="en-US" dirty="0" smtClean="0"/>
              <a:t>food contaminants are </a:t>
            </a:r>
            <a:r>
              <a:rPr lang="en-US" dirty="0"/>
              <a:t>produced by cooking?</a:t>
            </a:r>
          </a:p>
          <a:p>
            <a:pPr marL="0" indent="0">
              <a:buNone/>
            </a:pPr>
            <a:r>
              <a:rPr lang="en-US" dirty="0"/>
              <a:t>A) botulinum </a:t>
            </a:r>
            <a:r>
              <a:rPr lang="en-US" dirty="0" smtClean="0"/>
              <a:t>toxin – </a:t>
            </a:r>
            <a:r>
              <a:rPr lang="en-US" dirty="0" smtClean="0">
                <a:solidFill>
                  <a:srgbClr val="FF0000"/>
                </a:solidFill>
              </a:rPr>
              <a:t>spore forming anaerobes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</a:t>
            </a:r>
            <a:r>
              <a:rPr lang="en-US" dirty="0" err="1" smtClean="0"/>
              <a:t>Tetrodotoxin</a:t>
            </a:r>
            <a:r>
              <a:rPr lang="en-US" dirty="0" smtClean="0"/>
              <a:t> – </a:t>
            </a:r>
            <a:r>
              <a:rPr lang="en-US" dirty="0" smtClean="0">
                <a:solidFill>
                  <a:srgbClr val="FF0000"/>
                </a:solidFill>
              </a:rPr>
              <a:t>puffer fish (</a:t>
            </a:r>
            <a:r>
              <a:rPr lang="en-US" dirty="0" err="1" smtClean="0">
                <a:solidFill>
                  <a:srgbClr val="FF0000"/>
                </a:solidFill>
              </a:rPr>
              <a:t>fugu</a:t>
            </a:r>
            <a:r>
              <a:rPr lang="en-US" dirty="0" smtClean="0">
                <a:solidFill>
                  <a:srgbClr val="FF0000"/>
                </a:solidFill>
              </a:rPr>
              <a:t> fish)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en-US" dirty="0" err="1"/>
              <a:t>trichothecenes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D) heterocyclic </a:t>
            </a:r>
            <a:r>
              <a:rPr lang="en-US" dirty="0" smtClean="0">
                <a:solidFill>
                  <a:srgbClr val="FF0000"/>
                </a:solidFill>
              </a:rPr>
              <a:t>amines – in </a:t>
            </a:r>
            <a:r>
              <a:rPr lang="en-US" dirty="0" err="1" smtClean="0">
                <a:solidFill>
                  <a:srgbClr val="FF0000"/>
                </a:solidFill>
              </a:rPr>
              <a:t>carc</a:t>
            </a:r>
            <a:r>
              <a:rPr lang="en-US" dirty="0" smtClean="0">
                <a:solidFill>
                  <a:srgbClr val="FF0000"/>
                </a:solidFill>
              </a:rPr>
              <a:t> chapter, formed during broiling or grilling of meat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</a:t>
            </a:r>
            <a:r>
              <a:rPr lang="en-US" dirty="0" err="1"/>
              <a:t>fumonisins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124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36. Clinical assessment of drug-induced liver </a:t>
            </a:r>
            <a:r>
              <a:rPr lang="en-US" dirty="0" smtClean="0"/>
              <a:t>injury using </a:t>
            </a:r>
            <a:r>
              <a:rPr lang="en-US" dirty="0" err="1"/>
              <a:t>Hy's</a:t>
            </a:r>
            <a:r>
              <a:rPr lang="en-US" dirty="0"/>
              <a:t> Law (indication of hepatocellular </a:t>
            </a:r>
            <a:r>
              <a:rPr lang="en-US" dirty="0" smtClean="0"/>
              <a:t>damage in </a:t>
            </a:r>
            <a:r>
              <a:rPr lang="en-US" dirty="0"/>
              <a:t>conjunction with jaundice in the absence </a:t>
            </a:r>
            <a:r>
              <a:rPr lang="en-US" dirty="0" smtClean="0"/>
              <a:t>of cholestasis</a:t>
            </a:r>
            <a:r>
              <a:rPr lang="en-US" dirty="0"/>
              <a:t>) considers which of the following </a:t>
            </a:r>
            <a:r>
              <a:rPr lang="en-US" dirty="0" smtClean="0"/>
              <a:t>test results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&gt;3-fold increases in ALT, AST, and ALP</a:t>
            </a:r>
          </a:p>
          <a:p>
            <a:pPr marL="0" indent="0">
              <a:buNone/>
            </a:pPr>
            <a:r>
              <a:rPr lang="en-US" dirty="0"/>
              <a:t>without increased total bilirubin</a:t>
            </a:r>
          </a:p>
          <a:p>
            <a:pPr marL="0" indent="0">
              <a:buNone/>
            </a:pPr>
            <a:r>
              <a:rPr lang="en-US" dirty="0"/>
              <a:t>B) &gt;3-fold increases in ALT, AST, and ALP with</a:t>
            </a:r>
          </a:p>
          <a:p>
            <a:pPr marL="0" indent="0">
              <a:buNone/>
            </a:pPr>
            <a:r>
              <a:rPr lang="en-US" dirty="0"/>
              <a:t>&gt;2-fold increases in total bilirubin</a:t>
            </a:r>
          </a:p>
          <a:p>
            <a:pPr marL="0" indent="0">
              <a:buNone/>
            </a:pPr>
            <a:r>
              <a:rPr lang="en-US" dirty="0"/>
              <a:t>C) &gt;3-fold increases in ALT and AST (not ALP)</a:t>
            </a:r>
          </a:p>
          <a:p>
            <a:pPr marL="0" indent="0">
              <a:buNone/>
            </a:pPr>
            <a:r>
              <a:rPr lang="en-US" dirty="0"/>
              <a:t>and &gt;2-fold increases in total bilirubin</a:t>
            </a:r>
          </a:p>
          <a:p>
            <a:pPr marL="0" indent="0">
              <a:buNone/>
            </a:pPr>
            <a:r>
              <a:rPr lang="en-US" dirty="0"/>
              <a:t>D) &gt;3-fold increases in ALT, AST and &gt;2-fold</a:t>
            </a:r>
          </a:p>
          <a:p>
            <a:pPr marL="0" indent="0">
              <a:buNone/>
            </a:pPr>
            <a:r>
              <a:rPr lang="en-US" dirty="0"/>
              <a:t>increases in total cholesterol</a:t>
            </a:r>
          </a:p>
          <a:p>
            <a:pPr marL="0" indent="0">
              <a:buNone/>
            </a:pPr>
            <a:r>
              <a:rPr lang="en-US" dirty="0"/>
              <a:t>E) &gt;25-fold increases in ALP and &gt;2-fold</a:t>
            </a:r>
          </a:p>
          <a:p>
            <a:pPr marL="0" indent="0">
              <a:buNone/>
            </a:pPr>
            <a:r>
              <a:rPr lang="en-US" dirty="0"/>
              <a:t>increases in total bilirubin</a:t>
            </a:r>
          </a:p>
        </p:txBody>
      </p:sp>
    </p:spTree>
    <p:extLst>
      <p:ext uri="{BB962C8B-B14F-4D97-AF65-F5344CB8AC3E}">
        <p14:creationId xmlns:p14="http://schemas.microsoft.com/office/powerpoint/2010/main" val="28582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36. Clinical assessment of drug-induced liver </a:t>
            </a:r>
            <a:r>
              <a:rPr lang="en-US" dirty="0" smtClean="0"/>
              <a:t>injury using </a:t>
            </a:r>
            <a:r>
              <a:rPr lang="en-US" dirty="0" err="1"/>
              <a:t>Hy's</a:t>
            </a:r>
            <a:r>
              <a:rPr lang="en-US" dirty="0"/>
              <a:t> Law (indication of hepatocellular </a:t>
            </a:r>
            <a:r>
              <a:rPr lang="en-US" dirty="0" smtClean="0"/>
              <a:t>damage in </a:t>
            </a:r>
            <a:r>
              <a:rPr lang="en-US" dirty="0"/>
              <a:t>conjunction with jaundice in the absence </a:t>
            </a:r>
            <a:r>
              <a:rPr lang="en-US" dirty="0" smtClean="0"/>
              <a:t>of cholestasis</a:t>
            </a:r>
            <a:r>
              <a:rPr lang="en-US" dirty="0"/>
              <a:t>) considers which of the following </a:t>
            </a:r>
            <a:r>
              <a:rPr lang="en-US" dirty="0" smtClean="0"/>
              <a:t>test results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&gt;3-fold increases in ALT, AST, and ALP</a:t>
            </a:r>
          </a:p>
          <a:p>
            <a:pPr marL="0" indent="0">
              <a:buNone/>
            </a:pPr>
            <a:r>
              <a:rPr lang="en-US" dirty="0"/>
              <a:t>without increased total bilirubin</a:t>
            </a:r>
          </a:p>
          <a:p>
            <a:pPr marL="0" indent="0">
              <a:buNone/>
            </a:pPr>
            <a:r>
              <a:rPr lang="en-US" dirty="0"/>
              <a:t>B) &gt;3-fold increases in ALT, AST, and ALP with</a:t>
            </a:r>
          </a:p>
          <a:p>
            <a:pPr marL="0" indent="0">
              <a:buNone/>
            </a:pPr>
            <a:r>
              <a:rPr lang="en-US" dirty="0"/>
              <a:t>&gt;2-fold increases in total bilirubin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&gt;3-fold increases in ALT and AST (not ALP)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and &gt;2-fold increases in total bilirubin</a:t>
            </a:r>
          </a:p>
          <a:p>
            <a:pPr marL="0" indent="0">
              <a:buNone/>
            </a:pPr>
            <a:r>
              <a:rPr lang="en-US" dirty="0"/>
              <a:t>D) &gt;3-fold increases in ALT, AST and &gt;2-fold</a:t>
            </a:r>
          </a:p>
          <a:p>
            <a:pPr marL="0" indent="0">
              <a:buNone/>
            </a:pPr>
            <a:r>
              <a:rPr lang="en-US" dirty="0"/>
              <a:t>increases in total cholesterol</a:t>
            </a:r>
          </a:p>
          <a:p>
            <a:pPr marL="0" indent="0">
              <a:buNone/>
            </a:pPr>
            <a:r>
              <a:rPr lang="en-US" dirty="0"/>
              <a:t>E) &gt;25-fold increases in ALP and &gt;2-fold</a:t>
            </a:r>
          </a:p>
          <a:p>
            <a:pPr marL="0" indent="0">
              <a:buNone/>
            </a:pPr>
            <a:r>
              <a:rPr lang="en-US" dirty="0"/>
              <a:t>increases in total bilirubin</a:t>
            </a:r>
          </a:p>
        </p:txBody>
      </p:sp>
    </p:spTree>
    <p:extLst>
      <p:ext uri="{BB962C8B-B14F-4D97-AF65-F5344CB8AC3E}">
        <p14:creationId xmlns:p14="http://schemas.microsoft.com/office/powerpoint/2010/main" val="3636686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37. There is scientific and regulatory attention </a:t>
            </a:r>
            <a:r>
              <a:rPr lang="en-US" dirty="0" smtClean="0"/>
              <a:t>being directed </a:t>
            </a:r>
            <a:r>
              <a:rPr lang="en-US" dirty="0"/>
              <a:t>towards the increasing use </a:t>
            </a:r>
            <a:r>
              <a:rPr lang="en-US" dirty="0" smtClean="0"/>
              <a:t>of nanotechnology </a:t>
            </a:r>
            <a:r>
              <a:rPr lang="en-US" dirty="0"/>
              <a:t>in many industries because of </a:t>
            </a:r>
            <a:r>
              <a:rPr lang="en-US" dirty="0" smtClean="0"/>
              <a:t>which of </a:t>
            </a:r>
            <a:r>
              <a:rPr lang="en-US" dirty="0"/>
              <a:t>the following?</a:t>
            </a:r>
          </a:p>
          <a:p>
            <a:pPr marL="0" indent="0">
              <a:buNone/>
            </a:pPr>
            <a:r>
              <a:rPr lang="en-US" dirty="0"/>
              <a:t>A) nanoparticles are larger than </a:t>
            </a:r>
            <a:r>
              <a:rPr lang="en-US" dirty="0" err="1" smtClean="0"/>
              <a:t>microparticles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nanoparticles are most likely to impact the</a:t>
            </a:r>
          </a:p>
          <a:p>
            <a:pPr marL="0" indent="0">
              <a:buNone/>
            </a:pPr>
            <a:r>
              <a:rPr lang="en-US" dirty="0"/>
              <a:t>upper respiratory tract</a:t>
            </a:r>
          </a:p>
          <a:p>
            <a:pPr marL="0" indent="0">
              <a:buNone/>
            </a:pPr>
            <a:r>
              <a:rPr lang="en-US" dirty="0"/>
              <a:t>C) nanoparticles are produced without being</a:t>
            </a:r>
          </a:p>
          <a:p>
            <a:pPr marL="0" indent="0">
              <a:buNone/>
            </a:pPr>
            <a:r>
              <a:rPr lang="en-US" dirty="0"/>
              <a:t>engineered to specific size or </a:t>
            </a:r>
            <a:r>
              <a:rPr lang="en-US" dirty="0" smtClean="0"/>
              <a:t>shape specifications D</a:t>
            </a:r>
            <a:r>
              <a:rPr lang="en-US" dirty="0"/>
              <a:t>) the surface chemistry and shape distributions</a:t>
            </a:r>
          </a:p>
          <a:p>
            <a:pPr marL="0" indent="0">
              <a:buNone/>
            </a:pPr>
            <a:r>
              <a:rPr lang="en-US" dirty="0"/>
              <a:t>of nanoparticles are unimportant </a:t>
            </a:r>
            <a:r>
              <a:rPr lang="en-US" dirty="0" smtClean="0"/>
              <a:t>in determining </a:t>
            </a:r>
            <a:r>
              <a:rPr lang="en-US" dirty="0"/>
              <a:t>their </a:t>
            </a:r>
            <a:r>
              <a:rPr lang="en-US" dirty="0" smtClean="0"/>
              <a:t>effects </a:t>
            </a:r>
          </a:p>
          <a:p>
            <a:pPr marL="0" indent="0">
              <a:buNone/>
            </a:pPr>
            <a:r>
              <a:rPr lang="en-US" dirty="0" smtClean="0"/>
              <a:t>E</a:t>
            </a:r>
            <a:r>
              <a:rPr lang="en-US" dirty="0"/>
              <a:t>) significant routes of exposure include</a:t>
            </a:r>
          </a:p>
          <a:p>
            <a:pPr marL="0" indent="0">
              <a:buNone/>
            </a:pPr>
            <a:r>
              <a:rPr lang="en-US" dirty="0"/>
              <a:t>inhalation, dermal and, possibly oral ingestion</a:t>
            </a:r>
          </a:p>
        </p:txBody>
      </p:sp>
    </p:spTree>
    <p:extLst>
      <p:ext uri="{BB962C8B-B14F-4D97-AF65-F5344CB8AC3E}">
        <p14:creationId xmlns:p14="http://schemas.microsoft.com/office/powerpoint/2010/main" val="1674058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37. There is scientific and regulatory attention </a:t>
            </a:r>
            <a:r>
              <a:rPr lang="en-US" dirty="0" smtClean="0"/>
              <a:t>being directed </a:t>
            </a:r>
            <a:r>
              <a:rPr lang="en-US" dirty="0"/>
              <a:t>towards the increasing use </a:t>
            </a:r>
            <a:r>
              <a:rPr lang="en-US" dirty="0" smtClean="0"/>
              <a:t>of nanotechnology </a:t>
            </a:r>
            <a:r>
              <a:rPr lang="en-US" dirty="0"/>
              <a:t>in many industries because of </a:t>
            </a:r>
            <a:r>
              <a:rPr lang="en-US" dirty="0" smtClean="0"/>
              <a:t>which of </a:t>
            </a:r>
            <a:r>
              <a:rPr lang="en-US" dirty="0"/>
              <a:t>the following?</a:t>
            </a:r>
          </a:p>
          <a:p>
            <a:pPr marL="0" indent="0">
              <a:buNone/>
            </a:pPr>
            <a:r>
              <a:rPr lang="en-US" dirty="0"/>
              <a:t>A) nanoparticles are larger than </a:t>
            </a:r>
            <a:r>
              <a:rPr lang="en-US" dirty="0" err="1" smtClean="0"/>
              <a:t>microparticles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- wrong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nanoparticles are most likely to impact the</a:t>
            </a:r>
          </a:p>
          <a:p>
            <a:pPr marL="0" indent="0">
              <a:buNone/>
            </a:pPr>
            <a:r>
              <a:rPr lang="en-US" dirty="0"/>
              <a:t>upper respiratory tract</a:t>
            </a:r>
          </a:p>
          <a:p>
            <a:pPr marL="0" indent="0">
              <a:buNone/>
            </a:pPr>
            <a:r>
              <a:rPr lang="en-US" dirty="0"/>
              <a:t>C) nanoparticles are produced without being</a:t>
            </a:r>
          </a:p>
          <a:p>
            <a:pPr marL="0" indent="0">
              <a:buNone/>
            </a:pPr>
            <a:r>
              <a:rPr lang="en-US" dirty="0"/>
              <a:t>engineered to specific size or </a:t>
            </a:r>
            <a:r>
              <a:rPr lang="en-US" dirty="0" smtClean="0"/>
              <a:t>shape specifications – </a:t>
            </a:r>
            <a:r>
              <a:rPr lang="en-US" dirty="0" smtClean="0">
                <a:solidFill>
                  <a:srgbClr val="FF0000"/>
                </a:solidFill>
              </a:rPr>
              <a:t>produced to be 0-100 nm to be considered nanoparticle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the surface chemistry and shape distributions</a:t>
            </a:r>
          </a:p>
          <a:p>
            <a:pPr marL="0" indent="0">
              <a:buNone/>
            </a:pPr>
            <a:r>
              <a:rPr lang="en-US" dirty="0"/>
              <a:t>of nanoparticles are unimportant </a:t>
            </a:r>
            <a:r>
              <a:rPr lang="en-US" dirty="0" smtClean="0"/>
              <a:t>in determining </a:t>
            </a:r>
            <a:r>
              <a:rPr lang="en-US" dirty="0"/>
              <a:t>their </a:t>
            </a:r>
            <a:r>
              <a:rPr lang="en-US" dirty="0" smtClean="0"/>
              <a:t>effects – </a:t>
            </a:r>
            <a:r>
              <a:rPr lang="en-US" dirty="0" smtClean="0">
                <a:solidFill>
                  <a:srgbClr val="FF0000"/>
                </a:solidFill>
              </a:rPr>
              <a:t>these impacts effects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E) significant routes of exposure include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inhalation, dermal and, possibly oral ingestion</a:t>
            </a:r>
          </a:p>
        </p:txBody>
      </p:sp>
    </p:spTree>
    <p:extLst>
      <p:ext uri="{BB962C8B-B14F-4D97-AF65-F5344CB8AC3E}">
        <p14:creationId xmlns:p14="http://schemas.microsoft.com/office/powerpoint/2010/main" val="3857651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38. Acetaminophen toxicity is best exemplified </a:t>
            </a:r>
            <a:r>
              <a:rPr lang="en-US" dirty="0" smtClean="0"/>
              <a:t>by which </a:t>
            </a:r>
            <a:r>
              <a:rPr lang="en-US" dirty="0"/>
              <a:t>of the following?</a:t>
            </a:r>
          </a:p>
          <a:p>
            <a:pPr marL="514350" indent="-514350">
              <a:buAutoNum type="alphaUcParenR"/>
            </a:pPr>
            <a:r>
              <a:rPr lang="en-US" dirty="0" smtClean="0"/>
              <a:t>acetaminophen </a:t>
            </a:r>
            <a:r>
              <a:rPr lang="en-US" dirty="0"/>
              <a:t>has been demonstrated to </a:t>
            </a:r>
            <a:r>
              <a:rPr lang="en-US" dirty="0" smtClean="0"/>
              <a:t>show a </a:t>
            </a:r>
            <a:r>
              <a:rPr lang="en-US" dirty="0"/>
              <a:t>robust (&gt;= 75%) inhibition of both </a:t>
            </a:r>
            <a:r>
              <a:rPr lang="en-US" dirty="0" smtClean="0"/>
              <a:t>COX-1 and COX-2</a:t>
            </a:r>
          </a:p>
          <a:p>
            <a:pPr marL="514350" indent="-514350">
              <a:buAutoNum type="alphaUcParenR"/>
            </a:pPr>
            <a:r>
              <a:rPr lang="en-US" dirty="0" smtClean="0"/>
              <a:t>hepatic </a:t>
            </a:r>
            <a:r>
              <a:rPr lang="en-US" dirty="0"/>
              <a:t>necrosis is noted with </a:t>
            </a:r>
            <a:r>
              <a:rPr lang="en-US" dirty="0" smtClean="0"/>
              <a:t>acetaminophen overdose </a:t>
            </a:r>
            <a:r>
              <a:rPr lang="en-US" dirty="0"/>
              <a:t>when saturation of </a:t>
            </a:r>
            <a:r>
              <a:rPr lang="en-US" dirty="0" smtClean="0"/>
              <a:t>glycine conjugation </a:t>
            </a:r>
            <a:r>
              <a:rPr lang="en-US" dirty="0"/>
              <a:t>occurs resulting in the formation</a:t>
            </a:r>
          </a:p>
          <a:p>
            <a:pPr marL="0" indent="0">
              <a:buNone/>
            </a:pPr>
            <a:r>
              <a:rPr lang="en-US" dirty="0"/>
              <a:t>of a toxic </a:t>
            </a:r>
            <a:r>
              <a:rPr lang="en-US" dirty="0" smtClean="0"/>
              <a:t>metabolite </a:t>
            </a:r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dirty="0"/>
              <a:t>) the metabolic profile of acetaminophen </a:t>
            </a:r>
            <a:r>
              <a:rPr lang="en-US" i="1" dirty="0"/>
              <a:t>in </a:t>
            </a:r>
            <a:r>
              <a:rPr lang="en-US" i="1" dirty="0" smtClean="0"/>
              <a:t>vivo </a:t>
            </a:r>
            <a:r>
              <a:rPr lang="en-US" dirty="0" smtClean="0"/>
              <a:t>involves </a:t>
            </a:r>
            <a:r>
              <a:rPr lang="en-US" dirty="0" err="1"/>
              <a:t>bioactivation</a:t>
            </a:r>
            <a:r>
              <a:rPr lang="en-US" dirty="0"/>
              <a:t> via the </a:t>
            </a:r>
            <a:r>
              <a:rPr lang="en-US" dirty="0" smtClean="0"/>
              <a:t>CYP2E1 pathway </a:t>
            </a:r>
            <a:r>
              <a:rPr lang="en-US" dirty="0"/>
              <a:t>followed by multiple </a:t>
            </a:r>
            <a:r>
              <a:rPr lang="en-US" dirty="0" smtClean="0"/>
              <a:t>conjugation reactions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D) N-acetylcysteine is contraindicated in </a:t>
            </a:r>
            <a:r>
              <a:rPr lang="en-US" dirty="0" smtClean="0"/>
              <a:t>treating individuals </a:t>
            </a:r>
            <a:r>
              <a:rPr lang="en-US" dirty="0"/>
              <a:t>experiencing </a:t>
            </a:r>
            <a:r>
              <a:rPr lang="en-US" dirty="0" smtClean="0"/>
              <a:t>acetaminophen overdose </a:t>
            </a:r>
            <a:r>
              <a:rPr lang="en-US" dirty="0"/>
              <a:t>(hepatic toxicity</a:t>
            </a:r>
            <a:r>
              <a:rPr lang="en-US" dirty="0" smtClean="0"/>
              <a:t>) </a:t>
            </a:r>
          </a:p>
          <a:p>
            <a:pPr marL="0" indent="0">
              <a:buNone/>
            </a:pPr>
            <a:r>
              <a:rPr lang="en-US" dirty="0" smtClean="0"/>
              <a:t>E</a:t>
            </a:r>
            <a:r>
              <a:rPr lang="en-US" dirty="0"/>
              <a:t>) renal tubular necrosis has not been </a:t>
            </a:r>
            <a:r>
              <a:rPr lang="en-US" dirty="0" smtClean="0"/>
              <a:t>associated with </a:t>
            </a:r>
            <a:r>
              <a:rPr lang="en-US" dirty="0"/>
              <a:t>acetaminophen overdose in that </a:t>
            </a:r>
            <a:r>
              <a:rPr lang="en-US" dirty="0" smtClean="0"/>
              <a:t>the kidneys </a:t>
            </a:r>
            <a:r>
              <a:rPr lang="en-US" dirty="0"/>
              <a:t>have the capacity to form mercapturic</a:t>
            </a:r>
          </a:p>
          <a:p>
            <a:pPr marL="0" indent="0">
              <a:buNone/>
            </a:pPr>
            <a:r>
              <a:rPr lang="en-US" dirty="0"/>
              <a:t>acid which readily eliminates the toxic </a:t>
            </a:r>
            <a:r>
              <a:rPr lang="en-US" dirty="0" smtClean="0"/>
              <a:t>parent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096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38. Acetaminophen toxicity is best exemplified </a:t>
            </a:r>
            <a:r>
              <a:rPr lang="en-US" dirty="0" smtClean="0"/>
              <a:t>by which </a:t>
            </a:r>
            <a:r>
              <a:rPr lang="en-US" dirty="0"/>
              <a:t>of the following?</a:t>
            </a:r>
          </a:p>
          <a:p>
            <a:pPr marL="0" indent="0">
              <a:buNone/>
            </a:pPr>
            <a:r>
              <a:rPr lang="en-US" dirty="0" smtClean="0"/>
              <a:t>A) acetaminophen </a:t>
            </a:r>
            <a:r>
              <a:rPr lang="en-US" dirty="0"/>
              <a:t>has been demonstrated to </a:t>
            </a:r>
            <a:r>
              <a:rPr lang="en-US" dirty="0" smtClean="0"/>
              <a:t>show a </a:t>
            </a:r>
            <a:r>
              <a:rPr lang="en-US" dirty="0"/>
              <a:t>robust (&gt;= 75%) inhibition of both </a:t>
            </a:r>
            <a:r>
              <a:rPr lang="en-US" dirty="0" smtClean="0"/>
              <a:t>COX-1 and COX-2  </a:t>
            </a:r>
            <a:r>
              <a:rPr lang="en-US" dirty="0" smtClean="0">
                <a:solidFill>
                  <a:srgbClr val="FF0000"/>
                </a:solidFill>
              </a:rPr>
              <a:t>- selective to COX2</a:t>
            </a:r>
          </a:p>
          <a:p>
            <a:pPr marL="0" indent="0">
              <a:buNone/>
            </a:pPr>
            <a:r>
              <a:rPr lang="en-US" dirty="0" smtClean="0"/>
              <a:t>B) hepatic </a:t>
            </a:r>
            <a:r>
              <a:rPr lang="en-US" dirty="0"/>
              <a:t>necrosis is noted with </a:t>
            </a:r>
            <a:r>
              <a:rPr lang="en-US" dirty="0" smtClean="0"/>
              <a:t>acetaminophen overdose </a:t>
            </a:r>
            <a:r>
              <a:rPr lang="en-US" dirty="0"/>
              <a:t>when saturation of </a:t>
            </a:r>
            <a:r>
              <a:rPr lang="en-US" dirty="0" smtClean="0"/>
              <a:t>glycine conjugation </a:t>
            </a:r>
            <a:r>
              <a:rPr lang="en-US" dirty="0"/>
              <a:t>occurs resulting in the formation</a:t>
            </a:r>
          </a:p>
          <a:p>
            <a:pPr marL="0" indent="0">
              <a:buNone/>
            </a:pPr>
            <a:r>
              <a:rPr lang="en-US" dirty="0"/>
              <a:t>of a toxic </a:t>
            </a:r>
            <a:r>
              <a:rPr lang="en-US" dirty="0" smtClean="0"/>
              <a:t>metabolite </a:t>
            </a:r>
            <a:r>
              <a:rPr lang="en-US" dirty="0" smtClean="0">
                <a:solidFill>
                  <a:srgbClr val="FF0000"/>
                </a:solidFill>
              </a:rPr>
              <a:t>– glutathione conjugation not glycine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C) the metabolic profile of acetaminophen </a:t>
            </a:r>
            <a:r>
              <a:rPr lang="en-US" i="1" dirty="0">
                <a:solidFill>
                  <a:srgbClr val="FF0000"/>
                </a:solidFill>
              </a:rPr>
              <a:t>in </a:t>
            </a:r>
            <a:r>
              <a:rPr lang="en-US" i="1" dirty="0" smtClean="0">
                <a:solidFill>
                  <a:srgbClr val="FF0000"/>
                </a:solidFill>
              </a:rPr>
              <a:t>vivo </a:t>
            </a:r>
            <a:r>
              <a:rPr lang="en-US" dirty="0" smtClean="0">
                <a:solidFill>
                  <a:srgbClr val="FF0000"/>
                </a:solidFill>
              </a:rPr>
              <a:t>involves </a:t>
            </a:r>
            <a:r>
              <a:rPr lang="en-US" dirty="0" err="1">
                <a:solidFill>
                  <a:srgbClr val="FF0000"/>
                </a:solidFill>
              </a:rPr>
              <a:t>bioactivation</a:t>
            </a:r>
            <a:r>
              <a:rPr lang="en-US" dirty="0">
                <a:solidFill>
                  <a:srgbClr val="FF0000"/>
                </a:solidFill>
              </a:rPr>
              <a:t> via the </a:t>
            </a:r>
            <a:r>
              <a:rPr lang="en-US" dirty="0" smtClean="0">
                <a:solidFill>
                  <a:srgbClr val="FF0000"/>
                </a:solidFill>
              </a:rPr>
              <a:t>CYP2E1 pathway </a:t>
            </a:r>
            <a:r>
              <a:rPr lang="en-US" dirty="0">
                <a:solidFill>
                  <a:srgbClr val="FF0000"/>
                </a:solidFill>
              </a:rPr>
              <a:t>followed by multiple </a:t>
            </a:r>
            <a:r>
              <a:rPr lang="en-US" dirty="0" smtClean="0">
                <a:solidFill>
                  <a:srgbClr val="FF0000"/>
                </a:solidFill>
              </a:rPr>
              <a:t>conjugation reactions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D) N-acetylcysteine is contraindicated in </a:t>
            </a:r>
            <a:r>
              <a:rPr lang="en-US" dirty="0" smtClean="0"/>
              <a:t>treating individuals </a:t>
            </a:r>
            <a:r>
              <a:rPr lang="en-US" dirty="0"/>
              <a:t>experiencing </a:t>
            </a:r>
            <a:r>
              <a:rPr lang="en-US" dirty="0" smtClean="0"/>
              <a:t>acetaminophen overdose </a:t>
            </a:r>
            <a:r>
              <a:rPr lang="en-US" dirty="0"/>
              <a:t>(hepatic toxicity</a:t>
            </a:r>
            <a:r>
              <a:rPr lang="en-US" dirty="0" smtClean="0"/>
              <a:t>) – </a:t>
            </a:r>
            <a:r>
              <a:rPr lang="en-US" dirty="0" smtClean="0">
                <a:solidFill>
                  <a:srgbClr val="FF0000"/>
                </a:solidFill>
              </a:rPr>
              <a:t>preferred antidote replenishes the depleted glutathione reserves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renal tubular necrosis has not been </a:t>
            </a:r>
            <a:r>
              <a:rPr lang="en-US" dirty="0" smtClean="0"/>
              <a:t>associated with </a:t>
            </a:r>
            <a:r>
              <a:rPr lang="en-US" dirty="0"/>
              <a:t>acetaminophen overdose in that </a:t>
            </a:r>
            <a:r>
              <a:rPr lang="en-US" dirty="0" smtClean="0"/>
              <a:t>the kidneys </a:t>
            </a:r>
            <a:r>
              <a:rPr lang="en-US" dirty="0"/>
              <a:t>have the capacity to form mercapturic</a:t>
            </a:r>
          </a:p>
          <a:p>
            <a:pPr marL="0" indent="0">
              <a:buNone/>
            </a:pPr>
            <a:r>
              <a:rPr lang="en-US" dirty="0"/>
              <a:t>acid which readily eliminates the toxic </a:t>
            </a:r>
            <a:r>
              <a:rPr lang="en-US" dirty="0" smtClean="0"/>
              <a:t>parent compound </a:t>
            </a:r>
            <a:r>
              <a:rPr lang="en-US" dirty="0" smtClean="0">
                <a:solidFill>
                  <a:srgbClr val="FF0000"/>
                </a:solidFill>
              </a:rPr>
              <a:t>– overdose renal </a:t>
            </a:r>
            <a:r>
              <a:rPr lang="en-US" dirty="0" err="1" smtClean="0">
                <a:solidFill>
                  <a:srgbClr val="FF0000"/>
                </a:solidFill>
              </a:rPr>
              <a:t>tox</a:t>
            </a:r>
            <a:r>
              <a:rPr lang="en-US" dirty="0" smtClean="0">
                <a:solidFill>
                  <a:srgbClr val="FF0000"/>
                </a:solidFill>
              </a:rPr>
              <a:t> characterized by proximal tubular necrosis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54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39. Excessive ingestion of which of the following</a:t>
            </a:r>
          </a:p>
          <a:p>
            <a:pPr marL="0" indent="0">
              <a:buNone/>
            </a:pPr>
            <a:r>
              <a:rPr lang="en-US" dirty="0"/>
              <a:t>food contaminants can elicit a wide range of clinical</a:t>
            </a:r>
          </a:p>
          <a:p>
            <a:pPr marL="0" indent="0">
              <a:buNone/>
            </a:pPr>
            <a:r>
              <a:rPr lang="en-US" dirty="0"/>
              <a:t>effects including acute gastrointestinal symptoms,</a:t>
            </a:r>
          </a:p>
          <a:p>
            <a:pPr marL="0" indent="0">
              <a:buNone/>
            </a:pPr>
            <a:r>
              <a:rPr lang="en-US" dirty="0"/>
              <a:t>effects on the central and peripheral nervous </a:t>
            </a:r>
            <a:r>
              <a:rPr lang="en-US" dirty="0" smtClean="0"/>
              <a:t>system and </a:t>
            </a:r>
            <a:r>
              <a:rPr lang="en-US" dirty="0"/>
              <a:t>alopecia?</a:t>
            </a:r>
          </a:p>
          <a:p>
            <a:pPr marL="514350" indent="-514350">
              <a:buAutoNum type="alphaUcParenR"/>
            </a:pPr>
            <a:r>
              <a:rPr lang="en-US" dirty="0" smtClean="0"/>
              <a:t>Vanadium </a:t>
            </a:r>
            <a:endParaRPr lang="en-US" dirty="0"/>
          </a:p>
          <a:p>
            <a:pPr marL="514350" indent="-514350">
              <a:buAutoNum type="alphaUcParenR"/>
            </a:pPr>
            <a:r>
              <a:rPr lang="en-US" dirty="0" smtClean="0"/>
              <a:t>Aflatoxin </a:t>
            </a:r>
          </a:p>
          <a:p>
            <a:pPr marL="514350" indent="-514350">
              <a:buAutoNum type="alphaUcParenR"/>
            </a:pPr>
            <a:r>
              <a:rPr lang="en-US" dirty="0" smtClean="0"/>
              <a:t>Tin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D</a:t>
            </a:r>
            <a:r>
              <a:rPr lang="en-US" dirty="0"/>
              <a:t>) </a:t>
            </a:r>
            <a:r>
              <a:rPr lang="en-US" dirty="0" smtClean="0"/>
              <a:t>Thallium </a:t>
            </a:r>
          </a:p>
          <a:p>
            <a:pPr marL="0" indent="0">
              <a:buNone/>
            </a:pPr>
            <a:r>
              <a:rPr lang="en-US" dirty="0" smtClean="0"/>
              <a:t>E</a:t>
            </a:r>
            <a:r>
              <a:rPr lang="en-US" dirty="0"/>
              <a:t>) </a:t>
            </a:r>
            <a:r>
              <a:rPr lang="en-US" dirty="0" smtClean="0"/>
              <a:t>Phthalates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6575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39. Excessive ingestion of which of the following</a:t>
            </a:r>
          </a:p>
          <a:p>
            <a:pPr marL="0" indent="0">
              <a:buNone/>
            </a:pPr>
            <a:r>
              <a:rPr lang="en-US" dirty="0"/>
              <a:t>food contaminants can elicit a wide range of clinical</a:t>
            </a:r>
          </a:p>
          <a:p>
            <a:pPr marL="0" indent="0">
              <a:buNone/>
            </a:pPr>
            <a:r>
              <a:rPr lang="en-US" dirty="0"/>
              <a:t>effects including acute gastrointestinal symptoms,</a:t>
            </a:r>
          </a:p>
          <a:p>
            <a:pPr marL="0" indent="0">
              <a:buNone/>
            </a:pPr>
            <a:r>
              <a:rPr lang="en-US" dirty="0"/>
              <a:t>effects on the central and peripheral nervous </a:t>
            </a:r>
            <a:r>
              <a:rPr lang="en-US" dirty="0" smtClean="0"/>
              <a:t>system and </a:t>
            </a:r>
            <a:r>
              <a:rPr lang="en-US" dirty="0">
                <a:solidFill>
                  <a:srgbClr val="FF0000"/>
                </a:solidFill>
              </a:rPr>
              <a:t>alopecia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</a:t>
            </a:r>
            <a:r>
              <a:rPr lang="en-US" dirty="0" smtClean="0"/>
              <a:t>Vanadium – </a:t>
            </a:r>
            <a:r>
              <a:rPr lang="en-US" dirty="0" smtClean="0">
                <a:solidFill>
                  <a:srgbClr val="FF0000"/>
                </a:solidFill>
              </a:rPr>
              <a:t>primary adverse effect is respiratory system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</a:t>
            </a:r>
            <a:r>
              <a:rPr lang="en-US" dirty="0" smtClean="0"/>
              <a:t>Aflatoxin - </a:t>
            </a:r>
            <a:r>
              <a:rPr lang="en-US" dirty="0" err="1" smtClean="0">
                <a:solidFill>
                  <a:srgbClr val="FF0000"/>
                </a:solidFill>
              </a:rPr>
              <a:t>heptatotox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en-US" dirty="0" smtClean="0"/>
              <a:t>Tin – </a:t>
            </a:r>
            <a:r>
              <a:rPr lang="en-US" dirty="0" smtClean="0">
                <a:solidFill>
                  <a:srgbClr val="FF0000"/>
                </a:solidFill>
              </a:rPr>
              <a:t>acute GI no alopecia issues, problems </a:t>
            </a:r>
            <a:r>
              <a:rPr lang="en-US" dirty="0">
                <a:solidFill>
                  <a:srgbClr val="FF0000"/>
                </a:solidFill>
              </a:rPr>
              <a:t>with metabolizing </a:t>
            </a:r>
            <a:r>
              <a:rPr lang="en-US" dirty="0" smtClean="0">
                <a:solidFill>
                  <a:srgbClr val="FF0000"/>
                </a:solidFill>
              </a:rPr>
              <a:t>essential trace elements, </a:t>
            </a:r>
            <a:r>
              <a:rPr lang="en-US" dirty="0" err="1" smtClean="0">
                <a:solidFill>
                  <a:srgbClr val="FF0000"/>
                </a:solidFill>
              </a:rPr>
              <a:t>neurotox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D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 smtClean="0">
                <a:solidFill>
                  <a:srgbClr val="FF0000"/>
                </a:solidFill>
              </a:rPr>
              <a:t>Thallium – alopecia is the best known effect (TI) salts toxic used rat poisons and insecticides, “inheritance powder” due to use for poisoning, Prussian blue antidote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</a:t>
            </a:r>
            <a:r>
              <a:rPr lang="en-US" dirty="0" smtClean="0"/>
              <a:t>Phthalates – </a:t>
            </a:r>
            <a:r>
              <a:rPr lang="en-US" dirty="0" smtClean="0">
                <a:solidFill>
                  <a:srgbClr val="FF0000"/>
                </a:solidFill>
              </a:rPr>
              <a:t>endocrine disruptors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173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40. Which of the following is NOT associated </a:t>
            </a:r>
            <a:r>
              <a:rPr lang="en-US" dirty="0" smtClean="0"/>
              <a:t>with paralytic </a:t>
            </a:r>
            <a:r>
              <a:rPr lang="en-US" dirty="0"/>
              <a:t>shell fish poisoning caused by </a:t>
            </a:r>
            <a:r>
              <a:rPr lang="en-US" dirty="0" err="1"/>
              <a:t>saxitoxin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suppression of AV nodal </a:t>
            </a:r>
            <a:r>
              <a:rPr lang="en-US" dirty="0" smtClean="0"/>
              <a:t>conduction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Na+ channel </a:t>
            </a:r>
            <a:r>
              <a:rPr lang="en-US" dirty="0" smtClean="0"/>
              <a:t>inhibition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en-US" dirty="0" err="1" smtClean="0"/>
              <a:t>Parathesia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D</a:t>
            </a:r>
            <a:r>
              <a:rPr lang="en-US" dirty="0"/>
              <a:t>) </a:t>
            </a:r>
            <a:r>
              <a:rPr lang="en-US" dirty="0" err="1" smtClean="0"/>
              <a:t>Cyclopeptides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E</a:t>
            </a:r>
            <a:r>
              <a:rPr lang="en-US" dirty="0"/>
              <a:t>) </a:t>
            </a:r>
            <a:r>
              <a:rPr lang="en-US" dirty="0" smtClean="0"/>
              <a:t>Asphyxiation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976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40. Which of the following is NOT associated </a:t>
            </a:r>
            <a:r>
              <a:rPr lang="en-US" dirty="0" smtClean="0"/>
              <a:t>with paralytic </a:t>
            </a:r>
            <a:r>
              <a:rPr lang="en-US" dirty="0"/>
              <a:t>shell fish poisoning caused by </a:t>
            </a:r>
            <a:r>
              <a:rPr lang="en-US" dirty="0" err="1"/>
              <a:t>saxitoxin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A) suppression of AV nodal </a:t>
            </a:r>
            <a:r>
              <a:rPr lang="en-US" dirty="0" smtClean="0"/>
              <a:t>conduction </a:t>
            </a:r>
            <a:r>
              <a:rPr lang="en-US" dirty="0" smtClean="0">
                <a:solidFill>
                  <a:srgbClr val="FF0000"/>
                </a:solidFill>
              </a:rPr>
              <a:t>- correct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B) Na+ channel </a:t>
            </a:r>
            <a:r>
              <a:rPr lang="en-US" dirty="0" smtClean="0"/>
              <a:t>inhibition </a:t>
            </a:r>
            <a:r>
              <a:rPr lang="en-US" dirty="0" smtClean="0">
                <a:solidFill>
                  <a:srgbClr val="FF0000"/>
                </a:solidFill>
              </a:rPr>
              <a:t>- correct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C) </a:t>
            </a:r>
            <a:r>
              <a:rPr lang="en-US" dirty="0" err="1" smtClean="0"/>
              <a:t>parathesia</a:t>
            </a:r>
            <a:r>
              <a:rPr lang="en-US" dirty="0">
                <a:solidFill>
                  <a:srgbClr val="FF0000"/>
                </a:solidFill>
              </a:rPr>
              <a:t>- correct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D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 err="1" smtClean="0">
                <a:solidFill>
                  <a:srgbClr val="FF0000"/>
                </a:solidFill>
              </a:rPr>
              <a:t>Cyclopeptides</a:t>
            </a:r>
            <a:r>
              <a:rPr lang="en-US" dirty="0" smtClean="0">
                <a:solidFill>
                  <a:srgbClr val="FF0000"/>
                </a:solidFill>
              </a:rPr>
              <a:t> – in mushrooms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E) </a:t>
            </a:r>
            <a:r>
              <a:rPr lang="en-US" dirty="0" smtClean="0"/>
              <a:t>Asphyxiation – </a:t>
            </a:r>
            <a:r>
              <a:rPr lang="en-US" dirty="0" smtClean="0">
                <a:solidFill>
                  <a:srgbClr val="FF0000"/>
                </a:solidFill>
              </a:rPr>
              <a:t>direct suppression of the respiratory center, 0.5-2mg/person purified toxin tissue lethal due to asphyxiation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Food chapter 1341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775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9B7F2886B3614BAD1C6143B699D609" ma:contentTypeVersion="12" ma:contentTypeDescription="Create a new document." ma:contentTypeScope="" ma:versionID="8d6f94fb22da2931efc8eabeca6510bb">
  <xsd:schema xmlns:xsd="http://www.w3.org/2001/XMLSchema" xmlns:xs="http://www.w3.org/2001/XMLSchema" xmlns:p="http://schemas.microsoft.com/office/2006/metadata/properties" xmlns:ns2="5d6ef54a-aa24-4e91-bc8b-44812b1eded1" xmlns:ns3="a7046a94-50c7-43c0-b98b-a3969f4076e7" targetNamespace="http://schemas.microsoft.com/office/2006/metadata/properties" ma:root="true" ma:fieldsID="cc0728bd40b4971c3e26cb78e9cfffca" ns2:_="" ns3:_="">
    <xsd:import namespace="5d6ef54a-aa24-4e91-bc8b-44812b1eded1"/>
    <xsd:import namespace="a7046a94-50c7-43c0-b98b-a3969f407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ef54a-aa24-4e91-bc8b-44812b1ede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933771c-307d-4a60-b7ad-eff2f0afcd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46a94-50c7-43c0-b98b-a3969f4076e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83d8983-1580-40b6-b87d-1f94fe43acac}" ma:internalName="TaxCatchAll" ma:showField="CatchAllData" ma:web="a7046a94-50c7-43c0-b98b-a3969f4076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6ef54a-aa24-4e91-bc8b-44812b1eded1">
      <Terms xmlns="http://schemas.microsoft.com/office/infopath/2007/PartnerControls"/>
    </lcf76f155ced4ddcb4097134ff3c332f>
    <TaxCatchAll xmlns="a7046a94-50c7-43c0-b98b-a3969f4076e7" xsi:nil="true"/>
  </documentManagement>
</p:properties>
</file>

<file path=customXml/itemProps1.xml><?xml version="1.0" encoding="utf-8"?>
<ds:datastoreItem xmlns:ds="http://schemas.openxmlformats.org/officeDocument/2006/customXml" ds:itemID="{7AD69134-D516-4C59-B562-4A45F674CCC1}"/>
</file>

<file path=customXml/itemProps2.xml><?xml version="1.0" encoding="utf-8"?>
<ds:datastoreItem xmlns:ds="http://schemas.openxmlformats.org/officeDocument/2006/customXml" ds:itemID="{4FAA29B8-AD6A-4972-90F5-B9C27813C3A3}"/>
</file>

<file path=customXml/itemProps3.xml><?xml version="1.0" encoding="utf-8"?>
<ds:datastoreItem xmlns:ds="http://schemas.openxmlformats.org/officeDocument/2006/customXml" ds:itemID="{8A6FAAE0-3918-47FE-A863-A648FA7BFF29}"/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2452</Words>
  <Application>Microsoft Office PowerPoint</Application>
  <PresentationFormat>On-screen Show (4:3)</PresentationFormat>
  <Paragraphs>266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Gilead Sciences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Andrea Mason</dc:creator>
  <cp:lastModifiedBy>April Lake</cp:lastModifiedBy>
  <cp:revision>19</cp:revision>
  <dcterms:created xsi:type="dcterms:W3CDTF">2017-08-11T00:35:16Z</dcterms:created>
  <dcterms:modified xsi:type="dcterms:W3CDTF">2018-02-12T23:46:50Z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0x010100FC9B7F2886B3614BAD1C6143B699D609</vt:lpwstr>
  </property>
</Properties>
</file>