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6" d="100"/>
          <a:sy n="116" d="100"/>
        </p:scale>
        <p:origin x="-14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FC6260-BDB0-4B67-B1AB-825E41330F10}"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2565282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FC6260-BDB0-4B67-B1AB-825E41330F10}"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2416216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FC6260-BDB0-4B67-B1AB-825E41330F10}"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4114687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FC6260-BDB0-4B67-B1AB-825E41330F10}"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227104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FC6260-BDB0-4B67-B1AB-825E41330F10}" type="datetimeFigureOut">
              <a:rPr lang="en-US" smtClean="0"/>
              <a:t>2/12/2018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1191685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FC6260-BDB0-4B67-B1AB-825E41330F10}" type="datetimeFigureOut">
              <a:rPr lang="en-US" smtClean="0"/>
              <a:t>2/12/2018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1406111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FC6260-BDB0-4B67-B1AB-825E41330F10}" type="datetimeFigureOut">
              <a:rPr lang="en-US" smtClean="0"/>
              <a:t>2/12/2018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2945568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FC6260-BDB0-4B67-B1AB-825E41330F10}"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53684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FC6260-BDB0-4B67-B1AB-825E41330F10}"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424292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FC6260-BDB0-4B67-B1AB-825E41330F10}"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221442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FC6260-BDB0-4B67-B1AB-825E41330F10}"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63C79-E34D-4BFE-A247-DD617B6273B5}" type="slidenum">
              <a:rPr lang="en-US" smtClean="0"/>
              <a:t>‹#›</a:t>
            </a:fld>
            <a:endParaRPr lang="en-US"/>
          </a:p>
        </p:txBody>
      </p:sp>
    </p:spTree>
    <p:extLst>
      <p:ext uri="{BB962C8B-B14F-4D97-AF65-F5344CB8AC3E}">
        <p14:creationId xmlns:p14="http://schemas.microsoft.com/office/powerpoint/2010/main" val="1942119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FC6260-BDB0-4B67-B1AB-825E41330F10}" type="datetimeFigureOut">
              <a:rPr lang="en-US" smtClean="0"/>
              <a:t>2/12/2018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63C79-E34D-4BFE-A247-DD617B6273B5}" type="slidenum">
              <a:rPr lang="en-US" smtClean="0"/>
              <a:t>‹#›</a:t>
            </a:fld>
            <a:endParaRPr lang="en-US"/>
          </a:p>
        </p:txBody>
      </p:sp>
    </p:spTree>
    <p:extLst>
      <p:ext uri="{BB962C8B-B14F-4D97-AF65-F5344CB8AC3E}">
        <p14:creationId xmlns:p14="http://schemas.microsoft.com/office/powerpoint/2010/main" val="1099437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19200"/>
            <a:ext cx="8229600" cy="1143000"/>
          </a:xfrm>
        </p:spPr>
        <p:txBody>
          <a:bodyPr>
            <a:normAutofit fontScale="90000"/>
          </a:bodyPr>
          <a:lstStyle/>
          <a:p>
            <a:pPr algn="l"/>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2700" dirty="0"/>
              <a:t>1. Calculate the achieved dosage in mg/kg/day of a chemical fed to rats at a concentration of 0.5% (5000 ppm) in the diet.  The rats had a mid period group mean body weight of 250g and ate 210g/week of the chemical diet admixture. </a:t>
            </a:r>
            <a:r>
              <a:rPr lang="en-US" dirty="0" smtClean="0"/>
              <a:t/>
            </a:r>
            <a:br>
              <a:rPr lang="en-US" dirty="0" smtClean="0"/>
            </a:br>
            <a:r>
              <a:rPr lang="en-US" dirty="0" smtClean="0"/>
              <a:t/>
            </a:r>
            <a:br>
              <a:rPr lang="en-US" dirty="0" smtClean="0"/>
            </a:br>
            <a:r>
              <a:rPr lang="en-US" sz="2700" dirty="0" smtClean="0">
                <a:solidFill>
                  <a:srgbClr val="FF0000"/>
                </a:solidFill>
              </a:rPr>
              <a:t>A</a:t>
            </a:r>
            <a:r>
              <a:rPr lang="en-US" sz="2700" dirty="0">
                <a:solidFill>
                  <a:srgbClr val="FF0000"/>
                </a:solidFill>
              </a:rPr>
              <a:t>) 600 </a:t>
            </a:r>
            <a:r>
              <a:rPr lang="en-US" sz="2700" dirty="0" smtClean="0"/>
              <a:t/>
            </a:r>
            <a:br>
              <a:rPr lang="en-US" sz="2700" dirty="0" smtClean="0"/>
            </a:br>
            <a:r>
              <a:rPr lang="en-US" sz="2700" dirty="0" smtClean="0"/>
              <a:t>B</a:t>
            </a:r>
            <a:r>
              <a:rPr lang="en-US" sz="2700" dirty="0"/>
              <a:t>) 420 </a:t>
            </a:r>
            <a:r>
              <a:rPr lang="en-US" sz="2700" dirty="0" smtClean="0"/>
              <a:t/>
            </a:r>
            <a:br>
              <a:rPr lang="en-US" sz="2700" dirty="0" smtClean="0"/>
            </a:br>
            <a:r>
              <a:rPr lang="en-US" sz="2700" dirty="0" smtClean="0"/>
              <a:t>C</a:t>
            </a:r>
            <a:r>
              <a:rPr lang="en-US" sz="2700" dirty="0"/>
              <a:t>) 6000 </a:t>
            </a:r>
            <a:r>
              <a:rPr lang="en-US" sz="2700" dirty="0" smtClean="0"/>
              <a:t/>
            </a:r>
            <a:br>
              <a:rPr lang="en-US" sz="2700" dirty="0" smtClean="0"/>
            </a:br>
            <a:r>
              <a:rPr lang="en-US" sz="2700" dirty="0" smtClean="0"/>
              <a:t>D</a:t>
            </a:r>
            <a:r>
              <a:rPr lang="en-US" sz="2700" dirty="0"/>
              <a:t>) 4200 </a:t>
            </a:r>
            <a:r>
              <a:rPr lang="en-US" sz="2700" dirty="0" smtClean="0"/>
              <a:t/>
            </a:r>
            <a:br>
              <a:rPr lang="en-US" sz="2700" dirty="0" smtClean="0"/>
            </a:br>
            <a:r>
              <a:rPr lang="en-US" sz="2700" dirty="0" smtClean="0"/>
              <a:t>E</a:t>
            </a:r>
            <a:r>
              <a:rPr lang="en-US" sz="2700" dirty="0"/>
              <a:t>) 60 </a:t>
            </a:r>
            <a:r>
              <a:rPr lang="en-US" sz="2700" dirty="0" smtClean="0"/>
              <a:t/>
            </a:r>
            <a:br>
              <a:rPr lang="en-US" sz="2700" dirty="0" smtClean="0"/>
            </a:br>
            <a:r>
              <a:rPr lang="en-US" sz="2700" dirty="0"/>
              <a:t/>
            </a:r>
            <a:br>
              <a:rPr lang="en-US" sz="2700" dirty="0"/>
            </a:br>
            <a:r>
              <a:rPr lang="en-US" sz="2700" dirty="0" smtClean="0"/>
              <a:t>5000ppm is 5000mg/kg diet X 0.030 kg diet/day </a:t>
            </a:r>
            <a:br>
              <a:rPr lang="en-US" sz="2700" dirty="0" smtClean="0"/>
            </a:br>
            <a:r>
              <a:rPr lang="en-US" sz="2700" dirty="0" smtClean="0"/>
              <a:t>(210 g/</a:t>
            </a:r>
            <a:r>
              <a:rPr lang="en-US" sz="2700" dirty="0" err="1" smtClean="0"/>
              <a:t>wk</a:t>
            </a:r>
            <a:r>
              <a:rPr lang="en-US" sz="2700" dirty="0" smtClean="0"/>
              <a:t> divided by 7 days/week = results in 30 g per day  0.030 kg diet per day)/0.25 kg rat = 600 mg/kg – day. </a:t>
            </a:r>
            <a:br>
              <a:rPr lang="en-US" sz="2700" dirty="0" smtClean="0"/>
            </a:br>
            <a:r>
              <a:rPr lang="en-US" sz="2700" dirty="0"/>
              <a:t/>
            </a:r>
            <a:br>
              <a:rPr lang="en-US" sz="2700" dirty="0"/>
            </a:br>
            <a:r>
              <a:rPr lang="en-US" sz="2700" dirty="0" smtClean="0"/>
              <a:t>5000mg/kg X 0.030 kg/day / 0.25 kg rat = 600 mg/kg-day</a:t>
            </a:r>
            <a:endParaRPr lang="en-US" sz="2700" dirty="0"/>
          </a:p>
        </p:txBody>
      </p:sp>
    </p:spTree>
    <p:extLst>
      <p:ext uri="{BB962C8B-B14F-4D97-AF65-F5344CB8AC3E}">
        <p14:creationId xmlns:p14="http://schemas.microsoft.com/office/powerpoint/2010/main" val="190433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 </a:t>
            </a:r>
            <a:endParaRPr lang="en-US" dirty="0"/>
          </a:p>
        </p:txBody>
      </p:sp>
      <p:sp>
        <p:nvSpPr>
          <p:cNvPr id="5" name="Rectangle 4"/>
          <p:cNvSpPr/>
          <p:nvPr/>
        </p:nvSpPr>
        <p:spPr>
          <a:xfrm>
            <a:off x="914400" y="609600"/>
            <a:ext cx="7696200" cy="4062651"/>
          </a:xfrm>
          <a:prstGeom prst="rect">
            <a:avLst/>
          </a:prstGeom>
        </p:spPr>
        <p:txBody>
          <a:bodyPr wrap="square">
            <a:spAutoFit/>
          </a:bodyPr>
          <a:lstStyle/>
          <a:p>
            <a:r>
              <a:rPr lang="en-US" sz="2400" dirty="0"/>
              <a:t>2. Select the correct pairing of toxic agent and mechanism of cardiotoxicity. </a:t>
            </a:r>
            <a:endParaRPr lang="en-US" sz="2400" dirty="0" smtClean="0"/>
          </a:p>
          <a:p>
            <a:endParaRPr lang="en-US" sz="2400" dirty="0"/>
          </a:p>
          <a:p>
            <a:endParaRPr lang="en-US" sz="2400" dirty="0" smtClean="0"/>
          </a:p>
          <a:p>
            <a:pPr marL="342900" indent="-342900">
              <a:buAutoNum type="alphaUcParenR"/>
            </a:pPr>
            <a:r>
              <a:rPr lang="en-US" dirty="0" smtClean="0"/>
              <a:t>toluene </a:t>
            </a:r>
            <a:r>
              <a:rPr lang="en-US" dirty="0"/>
              <a:t>and sodium channel blockade </a:t>
            </a:r>
            <a:endParaRPr lang="en-US" dirty="0" smtClean="0"/>
          </a:p>
          <a:p>
            <a:pPr marL="342900" indent="-342900">
              <a:buAutoNum type="alphaUcParenR"/>
            </a:pPr>
            <a:r>
              <a:rPr lang="en-US" dirty="0" smtClean="0"/>
              <a:t>carbon </a:t>
            </a:r>
            <a:r>
              <a:rPr lang="en-US" dirty="0"/>
              <a:t>tetrachloride increased parasympathetic activity </a:t>
            </a:r>
            <a:endParaRPr lang="en-US" dirty="0" smtClean="0"/>
          </a:p>
          <a:p>
            <a:pPr marL="342900" indent="-342900">
              <a:buAutoNum type="alphaUcParenR"/>
            </a:pPr>
            <a:r>
              <a:rPr lang="en-US" dirty="0" smtClean="0"/>
              <a:t>cocaine </a:t>
            </a:r>
            <a:r>
              <a:rPr lang="en-US" dirty="0"/>
              <a:t>and calcium channel blockade </a:t>
            </a:r>
            <a:endParaRPr lang="en-US" dirty="0" smtClean="0"/>
          </a:p>
          <a:p>
            <a:pPr marL="342900" indent="-342900">
              <a:buAutoNum type="alphaUcParenR"/>
            </a:pPr>
            <a:r>
              <a:rPr lang="en-US" dirty="0" smtClean="0">
                <a:solidFill>
                  <a:srgbClr val="FF0000"/>
                </a:solidFill>
              </a:rPr>
              <a:t>cobalt </a:t>
            </a:r>
            <a:r>
              <a:rPr lang="en-US" dirty="0">
                <a:solidFill>
                  <a:srgbClr val="FF0000"/>
                </a:solidFill>
              </a:rPr>
              <a:t>altered calcium </a:t>
            </a:r>
            <a:r>
              <a:rPr lang="en-US" dirty="0" smtClean="0">
                <a:solidFill>
                  <a:srgbClr val="FF0000"/>
                </a:solidFill>
              </a:rPr>
              <a:t>homeostasis</a:t>
            </a:r>
          </a:p>
          <a:p>
            <a:pPr marL="342900" indent="-342900">
              <a:buAutoNum type="alphaUcParenR"/>
            </a:pPr>
            <a:r>
              <a:rPr lang="en-US" dirty="0" smtClean="0"/>
              <a:t>barium </a:t>
            </a:r>
            <a:r>
              <a:rPr lang="en-US" dirty="0"/>
              <a:t>and potassium channel </a:t>
            </a:r>
            <a:r>
              <a:rPr lang="en-US" dirty="0" smtClean="0"/>
              <a:t>blockade</a:t>
            </a:r>
          </a:p>
          <a:p>
            <a:pPr marL="342900" indent="-342900">
              <a:buAutoNum type="alphaUcParenR"/>
            </a:pPr>
            <a:endParaRPr lang="en-US" dirty="0"/>
          </a:p>
          <a:p>
            <a:pPr marL="342900" indent="-342900">
              <a:buAutoNum type="alphaUcParenR"/>
            </a:pPr>
            <a:endParaRPr lang="en-US" dirty="0" smtClean="0"/>
          </a:p>
          <a:p>
            <a:endParaRPr lang="en-US" dirty="0"/>
          </a:p>
          <a:p>
            <a:endParaRPr lang="en-US" dirty="0"/>
          </a:p>
        </p:txBody>
      </p:sp>
      <p:sp>
        <p:nvSpPr>
          <p:cNvPr id="3" name="TextBox 2"/>
          <p:cNvSpPr txBox="1"/>
          <p:nvPr/>
        </p:nvSpPr>
        <p:spPr>
          <a:xfrm>
            <a:off x="1143000" y="4672251"/>
            <a:ext cx="7239000" cy="1200329"/>
          </a:xfrm>
          <a:prstGeom prst="rect">
            <a:avLst/>
          </a:prstGeom>
          <a:noFill/>
        </p:spPr>
        <p:txBody>
          <a:bodyPr wrap="square" rtlCol="0">
            <a:spAutoFit/>
          </a:bodyPr>
          <a:lstStyle/>
          <a:p>
            <a:r>
              <a:rPr lang="en-US" dirty="0" smtClean="0"/>
              <a:t>P 826. Cobalt has been reported to cause cardiomyopathy. The </a:t>
            </a:r>
            <a:r>
              <a:rPr lang="en-US" dirty="0" err="1" smtClean="0"/>
              <a:t>cardiotoxic</a:t>
            </a:r>
            <a:r>
              <a:rPr lang="en-US" dirty="0" smtClean="0"/>
              <a:t> effects of heavy metals are attributed to their ability to form complexes with intracellular macromolecules and their ability to antagonize intracellular calcium.</a:t>
            </a:r>
            <a:endParaRPr lang="en-US" dirty="0"/>
          </a:p>
        </p:txBody>
      </p:sp>
    </p:spTree>
    <p:extLst>
      <p:ext uri="{BB962C8B-B14F-4D97-AF65-F5344CB8AC3E}">
        <p14:creationId xmlns:p14="http://schemas.microsoft.com/office/powerpoint/2010/main" val="6065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19400"/>
            <a:ext cx="8229600" cy="1143000"/>
          </a:xfrm>
        </p:spPr>
        <p:txBody>
          <a:bodyPr>
            <a:noAutofit/>
          </a:bodyPr>
          <a:lstStyle/>
          <a:p>
            <a:pPr algn="l"/>
            <a:r>
              <a:rPr lang="en-US" sz="2400" dirty="0"/>
              <a:t>3. Furanocoumarins in grapefruit juice can increase the systemic exposure to certain orally administered drugs such as simvastatin (HMG-</a:t>
            </a:r>
            <a:r>
              <a:rPr lang="en-US" sz="2400" dirty="0" err="1"/>
              <a:t>coA</a:t>
            </a:r>
            <a:r>
              <a:rPr lang="en-US" sz="2400" dirty="0"/>
              <a:t> reductase inhibitor) and </a:t>
            </a:r>
            <a:r>
              <a:rPr lang="en-US" sz="2400" dirty="0" err="1"/>
              <a:t>felodipine</a:t>
            </a:r>
            <a:r>
              <a:rPr lang="en-US" sz="2400" dirty="0"/>
              <a:t> (calcium channel blocker) through which of the following mechanisms</a:t>
            </a:r>
            <a:r>
              <a:rPr lang="en-US" sz="2400" dirty="0" smtClean="0"/>
              <a:t>?</a:t>
            </a:r>
            <a:r>
              <a:rPr lang="en-US" sz="1800" dirty="0" smtClean="0"/>
              <a:t/>
            </a:r>
            <a:br>
              <a:rPr lang="en-US" sz="1800" dirty="0" smtClean="0"/>
            </a:br>
            <a:r>
              <a:rPr lang="en-US" sz="1800" dirty="0"/>
              <a:t/>
            </a:r>
            <a:br>
              <a:rPr lang="en-US" sz="1800" dirty="0"/>
            </a:br>
            <a:r>
              <a:rPr lang="en-US" sz="1800" dirty="0" smtClean="0"/>
              <a:t> </a:t>
            </a:r>
            <a:br>
              <a:rPr lang="en-US" sz="1800" dirty="0" smtClean="0"/>
            </a:br>
            <a:r>
              <a:rPr lang="en-US" sz="1800" b="1" dirty="0">
                <a:solidFill>
                  <a:srgbClr val="FF0000"/>
                </a:solidFill>
              </a:rPr>
              <a:t/>
            </a:r>
            <a:br>
              <a:rPr lang="en-US" sz="1800" b="1" dirty="0">
                <a:solidFill>
                  <a:srgbClr val="FF0000"/>
                </a:solidFill>
              </a:rPr>
            </a:br>
            <a:r>
              <a:rPr lang="en-US" sz="1800" b="1" dirty="0" smtClean="0">
                <a:solidFill>
                  <a:srgbClr val="FF0000"/>
                </a:solidFill>
              </a:rPr>
              <a:t>A</a:t>
            </a:r>
            <a:r>
              <a:rPr lang="en-US" sz="1800" b="1" dirty="0">
                <a:solidFill>
                  <a:srgbClr val="FF0000"/>
                </a:solidFill>
              </a:rPr>
              <a:t>) inhibition of intestinal CYP3A4 </a:t>
            </a:r>
            <a:r>
              <a:rPr lang="en-US" sz="1800" b="1" dirty="0" smtClean="0"/>
              <a:t/>
            </a:r>
            <a:br>
              <a:rPr lang="en-US" sz="1800" b="1" dirty="0" smtClean="0"/>
            </a:br>
            <a:r>
              <a:rPr lang="en-US" sz="1800" dirty="0" smtClean="0"/>
              <a:t>B</a:t>
            </a:r>
            <a:r>
              <a:rPr lang="en-US" sz="1800" dirty="0"/>
              <a:t>) inhibition of hepatic CYP3A4 </a:t>
            </a:r>
            <a:r>
              <a:rPr lang="en-US" sz="1800" dirty="0" smtClean="0"/>
              <a:t/>
            </a:r>
            <a:br>
              <a:rPr lang="en-US" sz="1800" dirty="0" smtClean="0"/>
            </a:br>
            <a:r>
              <a:rPr lang="en-US" sz="1800" dirty="0" smtClean="0"/>
              <a:t>C</a:t>
            </a:r>
            <a:r>
              <a:rPr lang="en-US" sz="1800" dirty="0"/>
              <a:t>) induction of UDP-glucuronosyltransferase </a:t>
            </a:r>
            <a:r>
              <a:rPr lang="en-US" sz="1800" dirty="0" smtClean="0"/>
              <a:t/>
            </a:r>
            <a:br>
              <a:rPr lang="en-US" sz="1800" dirty="0" smtClean="0"/>
            </a:br>
            <a:r>
              <a:rPr lang="en-US" sz="1800" dirty="0" smtClean="0"/>
              <a:t>D</a:t>
            </a:r>
            <a:r>
              <a:rPr lang="en-US" sz="1800" dirty="0"/>
              <a:t>) inhibition of hepatic </a:t>
            </a:r>
            <a:r>
              <a:rPr lang="en-US" sz="1800" dirty="0" smtClean="0"/>
              <a:t>CYP1A1</a:t>
            </a:r>
            <a:br>
              <a:rPr lang="en-US" sz="1800" dirty="0" smtClean="0"/>
            </a:br>
            <a:r>
              <a:rPr lang="en-US" sz="1800" dirty="0" smtClean="0"/>
              <a:t>E</a:t>
            </a:r>
            <a:r>
              <a:rPr lang="en-US" sz="1800" dirty="0"/>
              <a:t>) induction of aldehyde dehydrogenase </a:t>
            </a:r>
            <a:r>
              <a:rPr lang="en-US" sz="1800" dirty="0" smtClean="0"/>
              <a:t/>
            </a:r>
            <a:br>
              <a:rPr lang="en-US" sz="1800" dirty="0" smtClean="0"/>
            </a:br>
            <a:r>
              <a:rPr lang="en-US" sz="1800" dirty="0"/>
              <a:t/>
            </a:r>
            <a:br>
              <a:rPr lang="en-US" sz="1800" dirty="0"/>
            </a:br>
            <a:r>
              <a:rPr lang="en-US" sz="1800" dirty="0" smtClean="0"/>
              <a:t/>
            </a:r>
            <a:br>
              <a:rPr lang="en-US" sz="1800" dirty="0" smtClean="0"/>
            </a:br>
            <a:r>
              <a:rPr lang="en-US" sz="1800" dirty="0" smtClean="0"/>
              <a:t>Furanocoumarin derivatives inhibit initially intestinal enzyme cytochrome P450 cytochrome P450 isoform CYP3A4 and are believed to be partially responsible for the effects of grapefruit on the enzyme. Inhibition of hepatic CYP3A4 occurs later</a:t>
            </a:r>
            <a:br>
              <a:rPr lang="en-US" sz="1800" dirty="0" smtClean="0"/>
            </a:br>
            <a:r>
              <a:rPr lang="en-US" sz="1800" dirty="0"/>
              <a:t/>
            </a:r>
            <a:br>
              <a:rPr lang="en-US" sz="1800" dirty="0"/>
            </a:br>
            <a:r>
              <a:rPr lang="en-US" sz="1800" dirty="0" smtClean="0"/>
              <a:t/>
            </a:r>
            <a:br>
              <a:rPr lang="en-US" sz="1800" dirty="0" smtClean="0"/>
            </a:br>
            <a:endParaRPr lang="en-US" sz="1800" dirty="0"/>
          </a:p>
        </p:txBody>
      </p:sp>
    </p:spTree>
    <p:extLst>
      <p:ext uri="{BB962C8B-B14F-4D97-AF65-F5344CB8AC3E}">
        <p14:creationId xmlns:p14="http://schemas.microsoft.com/office/powerpoint/2010/main" val="164214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676400"/>
            <a:ext cx="8229600" cy="1143000"/>
          </a:xfrm>
        </p:spPr>
        <p:txBody>
          <a:bodyPr>
            <a:noAutofit/>
          </a:bodyPr>
          <a:lstStyle/>
          <a:p>
            <a:pPr algn="l"/>
            <a:r>
              <a:rPr lang="en-US" sz="2800" dirty="0"/>
              <a:t>4. Many chemicals require metabolic activation to form their ultimate toxicants.  Which of the following xenobiotics does NOT match its ultimate toxicant? </a:t>
            </a:r>
            <a:r>
              <a:rPr lang="en-US" sz="2800" dirty="0" smtClean="0"/>
              <a:t/>
            </a:r>
            <a:br>
              <a:rPr lang="en-US" sz="2800" dirty="0" smtClean="0"/>
            </a:br>
            <a:r>
              <a:rPr lang="en-US" sz="2800" dirty="0"/>
              <a:t/>
            </a:r>
            <a:br>
              <a:rPr lang="en-US" sz="2800" dirty="0"/>
            </a:br>
            <a:r>
              <a:rPr lang="en-US" sz="2000" dirty="0" smtClean="0"/>
              <a:t/>
            </a:r>
            <a:br>
              <a:rPr lang="en-US" sz="2000" dirty="0" smtClean="0"/>
            </a:br>
            <a:r>
              <a:rPr lang="en-US" sz="2000" dirty="0"/>
              <a:t/>
            </a:r>
            <a:br>
              <a:rPr lang="en-US" sz="2000" dirty="0"/>
            </a:br>
            <a:r>
              <a:rPr lang="en-US" sz="2000" dirty="0" smtClean="0">
                <a:solidFill>
                  <a:srgbClr val="FF0000"/>
                </a:solidFill>
              </a:rPr>
              <a:t>A</a:t>
            </a:r>
            <a:r>
              <a:rPr lang="en-US" sz="2000" dirty="0">
                <a:solidFill>
                  <a:srgbClr val="FF0000"/>
                </a:solidFill>
              </a:rPr>
              <a:t>) </a:t>
            </a:r>
            <a:r>
              <a:rPr lang="en-US" sz="2000" dirty="0" err="1">
                <a:solidFill>
                  <a:srgbClr val="FF0000"/>
                </a:solidFill>
              </a:rPr>
              <a:t>fluoroacetate</a:t>
            </a:r>
            <a:r>
              <a:rPr lang="en-US" sz="2000" dirty="0">
                <a:solidFill>
                  <a:srgbClr val="FF0000"/>
                </a:solidFill>
              </a:rPr>
              <a:t> forms </a:t>
            </a:r>
            <a:r>
              <a:rPr lang="en-US" sz="2000" dirty="0" err="1" smtClean="0">
                <a:solidFill>
                  <a:srgbClr val="FF0000"/>
                </a:solidFill>
              </a:rPr>
              <a:t>fluoronitrate</a:t>
            </a:r>
            <a:r>
              <a:rPr lang="en-US" sz="2000" dirty="0" smtClean="0"/>
              <a:t/>
            </a:r>
            <a:br>
              <a:rPr lang="en-US" sz="2000" dirty="0" smtClean="0"/>
            </a:br>
            <a:r>
              <a:rPr lang="en-US" sz="2000" dirty="0" smtClean="0"/>
              <a:t>B</a:t>
            </a:r>
            <a:r>
              <a:rPr lang="en-US" sz="2000" dirty="0"/>
              <a:t>) </a:t>
            </a:r>
            <a:r>
              <a:rPr lang="en-US" sz="2000" dirty="0" err="1"/>
              <a:t>acetominophen</a:t>
            </a:r>
            <a:r>
              <a:rPr lang="en-US" sz="2000" dirty="0"/>
              <a:t> forms N-acetyl-p-</a:t>
            </a:r>
            <a:r>
              <a:rPr lang="en-US" sz="2000" dirty="0" err="1"/>
              <a:t>benzoquinoneimine</a:t>
            </a:r>
            <a:r>
              <a:rPr lang="en-US" sz="2000" dirty="0"/>
              <a:t>  </a:t>
            </a:r>
            <a:r>
              <a:rPr lang="en-US" sz="2000" dirty="0" smtClean="0"/>
              <a:t/>
            </a:r>
            <a:br>
              <a:rPr lang="en-US" sz="2000" dirty="0" smtClean="0"/>
            </a:br>
            <a:r>
              <a:rPr lang="en-US" sz="2000" dirty="0" smtClean="0"/>
              <a:t>C</a:t>
            </a:r>
            <a:r>
              <a:rPr lang="en-US" sz="2000" dirty="0"/>
              <a:t>) carbon tetrachloride forms CCl300  </a:t>
            </a:r>
            <a:r>
              <a:rPr lang="en-US" sz="2000" dirty="0" smtClean="0"/>
              <a:t/>
            </a:r>
            <a:br>
              <a:rPr lang="en-US" sz="2000" dirty="0" smtClean="0"/>
            </a:br>
            <a:r>
              <a:rPr lang="en-US" sz="2000" dirty="0" smtClean="0"/>
              <a:t>D</a:t>
            </a:r>
            <a:r>
              <a:rPr lang="en-US" sz="2000" dirty="0"/>
              <a:t>) benzo[a]pyrene forms benzo[a]pyrene-7-8-diol-9,10-epoxide  </a:t>
            </a:r>
            <a:r>
              <a:rPr lang="en-US" sz="2000" dirty="0" smtClean="0"/>
              <a:t/>
            </a:r>
            <a:br>
              <a:rPr lang="en-US" sz="2000" dirty="0" smtClean="0"/>
            </a:br>
            <a:r>
              <a:rPr lang="en-US" sz="2000" dirty="0" smtClean="0"/>
              <a:t>E</a:t>
            </a:r>
            <a:r>
              <a:rPr lang="en-US" sz="2000" dirty="0"/>
              <a:t>) ethylene glycol forms oxalic </a:t>
            </a:r>
            <a:r>
              <a:rPr lang="en-US" sz="2000" dirty="0" smtClean="0"/>
              <a:t>acid</a:t>
            </a:r>
            <a:br>
              <a:rPr lang="en-US" sz="2000" dirty="0" smtClean="0"/>
            </a:br>
            <a:r>
              <a:rPr lang="en-US" sz="2000" dirty="0"/>
              <a:t/>
            </a:r>
            <a:br>
              <a:rPr lang="en-US" sz="2000" dirty="0"/>
            </a:br>
            <a:r>
              <a:rPr lang="en-US" sz="2000" dirty="0" smtClean="0"/>
              <a:t/>
            </a:r>
            <a:br>
              <a:rPr lang="en-US" sz="2000" dirty="0" smtClean="0"/>
            </a:br>
            <a:r>
              <a:rPr lang="en-US" sz="2000" dirty="0" smtClean="0"/>
              <a:t>Table 3-1. P. 51 C&amp;D Chapter 3 </a:t>
            </a:r>
            <a:br>
              <a:rPr lang="en-US" sz="2000" dirty="0" smtClean="0"/>
            </a:br>
            <a:r>
              <a:rPr lang="en-US" sz="2000" dirty="0">
                <a:solidFill>
                  <a:srgbClr val="FF0000"/>
                </a:solidFill>
              </a:rPr>
              <a:t>(ultimate toxicant =  </a:t>
            </a:r>
            <a:r>
              <a:rPr lang="en-US" sz="2000" dirty="0" err="1" smtClean="0">
                <a:solidFill>
                  <a:srgbClr val="FF0000"/>
                </a:solidFill>
              </a:rPr>
              <a:t>fluorocitrate</a:t>
            </a:r>
            <a:r>
              <a:rPr lang="en-US" sz="2000" dirty="0" smtClean="0">
                <a:solidFill>
                  <a:srgbClr val="FF0000"/>
                </a:solidFill>
              </a:rPr>
              <a:t> NOT </a:t>
            </a:r>
            <a:r>
              <a:rPr lang="en-US" sz="2000" dirty="0" err="1" smtClean="0">
                <a:solidFill>
                  <a:srgbClr val="FF0000"/>
                </a:solidFill>
              </a:rPr>
              <a:t>fluoronitrate</a:t>
            </a:r>
            <a:r>
              <a:rPr lang="en-US" sz="2000" dirty="0" smtClean="0">
                <a:solidFill>
                  <a:srgbClr val="FF0000"/>
                </a:solidFill>
              </a:rPr>
              <a:t>)</a:t>
            </a:r>
            <a:endParaRPr lang="en-US" sz="2000" dirty="0"/>
          </a:p>
        </p:txBody>
      </p:sp>
    </p:spTree>
    <p:extLst>
      <p:ext uri="{BB962C8B-B14F-4D97-AF65-F5344CB8AC3E}">
        <p14:creationId xmlns:p14="http://schemas.microsoft.com/office/powerpoint/2010/main" val="101995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33600"/>
            <a:ext cx="8229600" cy="1143000"/>
          </a:xfrm>
        </p:spPr>
        <p:txBody>
          <a:bodyPr>
            <a:normAutofit fontScale="90000"/>
          </a:bodyPr>
          <a:lstStyle/>
          <a:p>
            <a:pPr algn="l"/>
            <a:r>
              <a:rPr lang="en-US" sz="2200" dirty="0"/>
              <a:t>5. </a:t>
            </a:r>
            <a:r>
              <a:rPr lang="en-US" sz="2200" dirty="0" err="1"/>
              <a:t>Oligomycin</a:t>
            </a:r>
            <a:r>
              <a:rPr lang="en-US" sz="2200" dirty="0"/>
              <a:t>, </a:t>
            </a:r>
            <a:r>
              <a:rPr lang="en-US" sz="2200" dirty="0" err="1"/>
              <a:t>cyhexatin</a:t>
            </a:r>
            <a:r>
              <a:rPr lang="en-US" sz="2200" dirty="0"/>
              <a:t>, DDT, and </a:t>
            </a:r>
            <a:r>
              <a:rPr lang="en-US" sz="2200" dirty="0" err="1"/>
              <a:t>chlordecone</a:t>
            </a:r>
            <a:r>
              <a:rPr lang="en-US" sz="2200" dirty="0"/>
              <a:t> all can interfere with mitochondrial ATP synthesis which can lead to ATP depletion and cell death.  These agents impair mitochondrial ATP synthesis by which of the following mechanisms? </a:t>
            </a:r>
            <a:r>
              <a:rPr lang="en-US" sz="2000" dirty="0" smtClean="0"/>
              <a:t/>
            </a:r>
            <a:br>
              <a:rPr lang="en-US" sz="2000" dirty="0" smtClean="0"/>
            </a:br>
            <a:r>
              <a:rPr lang="en-US" sz="2000" dirty="0"/>
              <a:t/>
            </a:r>
            <a:br>
              <a:rPr lang="en-US" sz="2000" dirty="0"/>
            </a:br>
            <a:r>
              <a:rPr lang="en-US" sz="2000" dirty="0" smtClean="0">
                <a:solidFill>
                  <a:srgbClr val="FF0000"/>
                </a:solidFill>
              </a:rPr>
              <a:t>A</a:t>
            </a:r>
            <a:r>
              <a:rPr lang="en-US" sz="2000" dirty="0">
                <a:solidFill>
                  <a:srgbClr val="FF0000"/>
                </a:solidFill>
              </a:rPr>
              <a:t>) they inhibit ADP phosphorylation by acting on ATP synthase </a:t>
            </a:r>
            <a:r>
              <a:rPr lang="en-US" sz="2000" dirty="0" smtClean="0"/>
              <a:t/>
            </a:r>
            <a:br>
              <a:rPr lang="en-US" sz="2000" dirty="0" smtClean="0"/>
            </a:br>
            <a:r>
              <a:rPr lang="en-US" sz="2000" dirty="0"/>
              <a:t/>
            </a:r>
            <a:br>
              <a:rPr lang="en-US" sz="2000" dirty="0"/>
            </a:br>
            <a:r>
              <a:rPr lang="en-US" sz="2000" dirty="0" smtClean="0"/>
              <a:t>B</a:t>
            </a:r>
            <a:r>
              <a:rPr lang="en-US" sz="2000" dirty="0"/>
              <a:t>) they inhibit electron transport complex I (NADH-coenzyme Q reductase) </a:t>
            </a:r>
            <a:r>
              <a:rPr lang="en-US" sz="2000" dirty="0" smtClean="0"/>
              <a:t/>
            </a:r>
            <a:br>
              <a:rPr lang="en-US" sz="2000" dirty="0" smtClean="0"/>
            </a:br>
            <a:r>
              <a:rPr lang="en-US" sz="2000" dirty="0"/>
              <a:t/>
            </a:r>
            <a:br>
              <a:rPr lang="en-US" sz="2000" dirty="0"/>
            </a:br>
            <a:r>
              <a:rPr lang="en-US" sz="2000" dirty="0" smtClean="0"/>
              <a:t>C</a:t>
            </a:r>
            <a:r>
              <a:rPr lang="en-US" sz="2000" dirty="0"/>
              <a:t>) they inhibit oxygen delivery to the electron transport chain </a:t>
            </a:r>
            <a:r>
              <a:rPr lang="en-US" sz="2000" dirty="0" smtClean="0"/>
              <a:t/>
            </a:r>
            <a:br>
              <a:rPr lang="en-US" sz="2000" dirty="0" smtClean="0"/>
            </a:br>
            <a:r>
              <a:rPr lang="en-US" sz="2000" dirty="0"/>
              <a:t/>
            </a:r>
            <a:br>
              <a:rPr lang="en-US" sz="2000" dirty="0"/>
            </a:br>
            <a:r>
              <a:rPr lang="en-US" sz="2000" dirty="0" smtClean="0"/>
              <a:t>D</a:t>
            </a:r>
            <a:r>
              <a:rPr lang="en-US" sz="2000" dirty="0"/>
              <a:t>) they impair the transcription of key mitochondrial proteins </a:t>
            </a:r>
            <a:r>
              <a:rPr lang="en-US" sz="2000" dirty="0" smtClean="0"/>
              <a:t/>
            </a:r>
            <a:br>
              <a:rPr lang="en-US" sz="2000" dirty="0" smtClean="0"/>
            </a:br>
            <a:r>
              <a:rPr lang="en-US" sz="2000" dirty="0" smtClean="0"/>
              <a:t>E</a:t>
            </a:r>
            <a:r>
              <a:rPr lang="en-US" sz="2000" dirty="0"/>
              <a:t>) they inhibit electron transport by acting on complex IV (cytochrome oxidase)</a:t>
            </a:r>
            <a:r>
              <a:rPr lang="en-US" dirty="0"/>
              <a:t> </a:t>
            </a:r>
          </a:p>
        </p:txBody>
      </p:sp>
      <p:sp>
        <p:nvSpPr>
          <p:cNvPr id="4" name="Subtitle 2"/>
          <p:cNvSpPr txBox="1">
            <a:spLocks/>
          </p:cNvSpPr>
          <p:nvPr/>
        </p:nvSpPr>
        <p:spPr>
          <a:xfrm>
            <a:off x="609600" y="4343400"/>
            <a:ext cx="64008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dirty="0" smtClean="0"/>
          </a:p>
        </p:txBody>
      </p:sp>
      <p:sp>
        <p:nvSpPr>
          <p:cNvPr id="3" name="TextBox 2"/>
          <p:cNvSpPr txBox="1"/>
          <p:nvPr/>
        </p:nvSpPr>
        <p:spPr>
          <a:xfrm>
            <a:off x="990600" y="5181600"/>
            <a:ext cx="6019800" cy="646331"/>
          </a:xfrm>
          <a:prstGeom prst="rect">
            <a:avLst/>
          </a:prstGeom>
          <a:noFill/>
        </p:spPr>
        <p:txBody>
          <a:bodyPr wrap="square" rtlCol="0">
            <a:spAutoFit/>
          </a:bodyPr>
          <a:lstStyle/>
          <a:p>
            <a:r>
              <a:rPr lang="en-US" dirty="0" smtClean="0">
                <a:solidFill>
                  <a:srgbClr val="FF0000"/>
                </a:solidFill>
              </a:rPr>
              <a:t>Table 3.6 page. 80</a:t>
            </a:r>
            <a:endParaRPr lang="en-US" dirty="0">
              <a:solidFill>
                <a:srgbClr val="FF0000"/>
              </a:solidFill>
            </a:endParaRPr>
          </a:p>
          <a:p>
            <a:endParaRPr lang="en-US" dirty="0"/>
          </a:p>
        </p:txBody>
      </p:sp>
    </p:spTree>
    <p:extLst>
      <p:ext uri="{BB962C8B-B14F-4D97-AF65-F5344CB8AC3E}">
        <p14:creationId xmlns:p14="http://schemas.microsoft.com/office/powerpoint/2010/main" val="4141373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685800"/>
            <a:ext cx="8305800" cy="5016758"/>
          </a:xfrm>
          <a:prstGeom prst="rect">
            <a:avLst/>
          </a:prstGeom>
        </p:spPr>
        <p:txBody>
          <a:bodyPr wrap="square">
            <a:spAutoFit/>
          </a:bodyPr>
          <a:lstStyle/>
          <a:p>
            <a:r>
              <a:rPr lang="en-US" sz="1600" dirty="0"/>
              <a:t>6. Establishing a causal association between an occupational toxicant and harmful effect/disease can be difficult.  In order to evaluate the level of exposure at which there is an acceptable risk for health impairment, </a:t>
            </a:r>
            <a:r>
              <a:rPr lang="en-US" sz="1600" dirty="0" err="1"/>
              <a:t>toxicologic</a:t>
            </a:r>
            <a:r>
              <a:rPr lang="en-US" sz="1600" dirty="0"/>
              <a:t> data from a variety of sources is required, including in vitro assays, animal toxicology studies, human challenge studies, case reports and epidemiology studies.  In animal studies, which one of the following is NOT a limitation? </a:t>
            </a:r>
            <a:endParaRPr lang="en-US" sz="1600" dirty="0" smtClean="0"/>
          </a:p>
          <a:p>
            <a:endParaRPr lang="en-US" sz="1600" dirty="0"/>
          </a:p>
          <a:p>
            <a:pPr marL="342900" indent="-342900">
              <a:buAutoNum type="alphaUcParenR"/>
            </a:pPr>
            <a:r>
              <a:rPr lang="en-US" sz="1600" dirty="0" smtClean="0"/>
              <a:t>animal </a:t>
            </a:r>
            <a:r>
              <a:rPr lang="en-US" sz="1600" dirty="0"/>
              <a:t>testing can provide only an estimate of the toxicity of a chemical that would be exhibited in humans </a:t>
            </a:r>
            <a:r>
              <a:rPr lang="en-US" sz="1600" dirty="0" smtClean="0">
                <a:solidFill>
                  <a:srgbClr val="FF0000"/>
                </a:solidFill>
              </a:rPr>
              <a:t>(has a limitation – only provides an estimate)</a:t>
            </a:r>
          </a:p>
          <a:p>
            <a:pPr marL="342900" indent="-342900">
              <a:buAutoNum type="alphaUcParenR"/>
            </a:pPr>
            <a:endParaRPr lang="en-US" sz="1600" dirty="0"/>
          </a:p>
          <a:p>
            <a:pPr marL="342900" indent="-342900">
              <a:buAutoNum type="alphaUcParenR"/>
            </a:pPr>
            <a:r>
              <a:rPr lang="en-US" sz="1600" dirty="0" smtClean="0"/>
              <a:t>animals </a:t>
            </a:r>
            <a:r>
              <a:rPr lang="en-US" sz="1600" dirty="0"/>
              <a:t>do not always respond to a chemical exposure in the same way that humans would respond </a:t>
            </a:r>
            <a:r>
              <a:rPr lang="en-US" sz="1600" dirty="0" smtClean="0">
                <a:solidFill>
                  <a:srgbClr val="FF0000"/>
                </a:solidFill>
              </a:rPr>
              <a:t>(has a limitation – animal model response is not predictive of humans)</a:t>
            </a:r>
          </a:p>
          <a:p>
            <a:pPr marL="342900" indent="-342900">
              <a:buAutoNum type="alphaUcParenR"/>
            </a:pPr>
            <a:endParaRPr lang="en-US" sz="1600" dirty="0"/>
          </a:p>
          <a:p>
            <a:pPr marL="342900" indent="-342900">
              <a:buAutoNum type="alphaUcParenR"/>
            </a:pPr>
            <a:r>
              <a:rPr lang="en-US" sz="1600" dirty="0" smtClean="0"/>
              <a:t>there </a:t>
            </a:r>
            <a:r>
              <a:rPr lang="en-US" sz="1600" dirty="0"/>
              <a:t>can be interspecies differences in metabolism where cancer occurs in rodents but not humans </a:t>
            </a:r>
            <a:r>
              <a:rPr lang="en-US" sz="1600" dirty="0" smtClean="0">
                <a:solidFill>
                  <a:srgbClr val="FF0000"/>
                </a:solidFill>
              </a:rPr>
              <a:t>(has a limitation – interspecies differences is a limitation)</a:t>
            </a:r>
          </a:p>
          <a:p>
            <a:pPr marL="342900" indent="-342900">
              <a:buAutoNum type="alphaUcParenR"/>
            </a:pPr>
            <a:endParaRPr lang="en-US" sz="1600" dirty="0"/>
          </a:p>
          <a:p>
            <a:pPr marL="342900" indent="-342900">
              <a:buAutoNum type="alphaUcParenR"/>
            </a:pPr>
            <a:r>
              <a:rPr lang="en-US" sz="1600" dirty="0" smtClean="0">
                <a:solidFill>
                  <a:srgbClr val="FF0000"/>
                </a:solidFill>
              </a:rPr>
              <a:t>relationships </a:t>
            </a:r>
            <a:r>
              <a:rPr lang="en-US" sz="1600" dirty="0">
                <a:solidFill>
                  <a:srgbClr val="FF0000"/>
                </a:solidFill>
              </a:rPr>
              <a:t>between the metabolic pathways of a chemical and its interaction with target molecules can be derived </a:t>
            </a:r>
            <a:endParaRPr lang="en-US" sz="1600" dirty="0" smtClean="0">
              <a:solidFill>
                <a:srgbClr val="FF0000"/>
              </a:solidFill>
            </a:endParaRPr>
          </a:p>
          <a:p>
            <a:pPr marL="342900" indent="-342900">
              <a:buAutoNum type="alphaUcParenR"/>
            </a:pPr>
            <a:endParaRPr lang="en-US" sz="1600" dirty="0" smtClean="0"/>
          </a:p>
          <a:p>
            <a:pPr marL="342900" indent="-342900">
              <a:buAutoNum type="alphaUcParenR"/>
            </a:pPr>
            <a:r>
              <a:rPr lang="en-US" sz="1600" dirty="0" smtClean="0"/>
              <a:t>there </a:t>
            </a:r>
            <a:r>
              <a:rPr lang="en-US" sz="1600" dirty="0"/>
              <a:t>are a few chemicals for which predictive animal models have either not yet been determined or do not exist </a:t>
            </a:r>
            <a:r>
              <a:rPr lang="en-US" sz="1600" dirty="0" smtClean="0">
                <a:solidFill>
                  <a:srgbClr val="FF0000"/>
                </a:solidFill>
              </a:rPr>
              <a:t>(has a limitation – good animal model is not always available)</a:t>
            </a:r>
            <a:endParaRPr lang="en-US" sz="1600" dirty="0">
              <a:solidFill>
                <a:srgbClr val="FF0000"/>
              </a:solidFill>
            </a:endParaRPr>
          </a:p>
        </p:txBody>
      </p:sp>
    </p:spTree>
    <p:extLst>
      <p:ext uri="{BB962C8B-B14F-4D97-AF65-F5344CB8AC3E}">
        <p14:creationId xmlns:p14="http://schemas.microsoft.com/office/powerpoint/2010/main" val="706762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14400" y="533400"/>
            <a:ext cx="7239000" cy="4524315"/>
          </a:xfrm>
          <a:prstGeom prst="rect">
            <a:avLst/>
          </a:prstGeom>
        </p:spPr>
        <p:txBody>
          <a:bodyPr wrap="square">
            <a:spAutoFit/>
          </a:bodyPr>
          <a:lstStyle/>
          <a:p>
            <a:r>
              <a:rPr lang="en-US" dirty="0"/>
              <a:t>7. Which of the following would be expected to be the most effective treatment for protecting against systemic effects from hydrofluoric acid (HF) burns? </a:t>
            </a:r>
            <a:endParaRPr lang="en-US" dirty="0" smtClean="0"/>
          </a:p>
          <a:p>
            <a:endParaRPr lang="en-US" dirty="0"/>
          </a:p>
          <a:p>
            <a:pPr marL="342900" indent="-342900">
              <a:buAutoNum type="alphaUcParenR"/>
            </a:pPr>
            <a:r>
              <a:rPr lang="en-US" dirty="0" smtClean="0"/>
              <a:t>sodium </a:t>
            </a:r>
            <a:r>
              <a:rPr lang="en-US" dirty="0"/>
              <a:t>gluconate </a:t>
            </a:r>
            <a:endParaRPr lang="en-US" dirty="0" smtClean="0"/>
          </a:p>
          <a:p>
            <a:pPr marL="342900" indent="-342900">
              <a:buAutoNum type="alphaUcParenR"/>
            </a:pPr>
            <a:r>
              <a:rPr lang="en-US" dirty="0" smtClean="0"/>
              <a:t>potassium </a:t>
            </a:r>
            <a:r>
              <a:rPr lang="en-US" dirty="0"/>
              <a:t>gluconate </a:t>
            </a:r>
            <a:endParaRPr lang="en-US" dirty="0" smtClean="0"/>
          </a:p>
          <a:p>
            <a:pPr marL="342900" indent="-342900">
              <a:buAutoNum type="alphaUcParenR"/>
            </a:pPr>
            <a:r>
              <a:rPr lang="en-US" dirty="0" smtClean="0">
                <a:solidFill>
                  <a:srgbClr val="FF0000"/>
                </a:solidFill>
              </a:rPr>
              <a:t>calcium gluconate</a:t>
            </a:r>
          </a:p>
          <a:p>
            <a:pPr marL="342900" indent="-342900">
              <a:buAutoNum type="alphaUcParenR"/>
            </a:pPr>
            <a:r>
              <a:rPr lang="en-US" dirty="0" err="1" smtClean="0"/>
              <a:t>ethylenediaminetetraacetic</a:t>
            </a:r>
            <a:r>
              <a:rPr lang="en-US" dirty="0" smtClean="0"/>
              <a:t> </a:t>
            </a:r>
            <a:r>
              <a:rPr lang="en-US" dirty="0"/>
              <a:t>acid (EDTA) </a:t>
            </a:r>
            <a:endParaRPr lang="en-US" dirty="0" smtClean="0"/>
          </a:p>
          <a:p>
            <a:pPr marL="342900" indent="-342900">
              <a:buAutoNum type="alphaUcParenR"/>
            </a:pPr>
            <a:r>
              <a:rPr lang="en-US" dirty="0" smtClean="0"/>
              <a:t>sodium nitrite</a:t>
            </a:r>
          </a:p>
          <a:p>
            <a:pPr marL="342900" indent="-342900">
              <a:buAutoNum type="alphaUcParenR"/>
            </a:pPr>
            <a:endParaRPr lang="en-US" dirty="0"/>
          </a:p>
          <a:p>
            <a:pPr marL="342900" indent="-342900">
              <a:buAutoNum type="alphaUcParenR"/>
            </a:pPr>
            <a:endParaRPr lang="en-US" dirty="0" smtClean="0"/>
          </a:p>
          <a:p>
            <a:r>
              <a:rPr lang="en-US" b="1" dirty="0" smtClean="0"/>
              <a:t>Google: Calcium </a:t>
            </a:r>
            <a:r>
              <a:rPr lang="en-US" b="1" dirty="0"/>
              <a:t>gluconate</a:t>
            </a:r>
            <a:r>
              <a:rPr lang="en-US" dirty="0"/>
              <a:t> gel, consisting of 2.5% USP </a:t>
            </a:r>
            <a:r>
              <a:rPr lang="en-US" b="1" dirty="0"/>
              <a:t>calcium gluconate</a:t>
            </a:r>
            <a:r>
              <a:rPr lang="en-US" dirty="0"/>
              <a:t> in a surgical water soluble lubricant, is widely used for </a:t>
            </a:r>
            <a:r>
              <a:rPr lang="en-US" b="1" dirty="0"/>
              <a:t>first aid</a:t>
            </a:r>
            <a:r>
              <a:rPr lang="en-US" dirty="0"/>
              <a:t> and/or primary </a:t>
            </a:r>
            <a:r>
              <a:rPr lang="en-US" b="1" dirty="0"/>
              <a:t>treatment</a:t>
            </a:r>
            <a:r>
              <a:rPr lang="en-US" dirty="0"/>
              <a:t> of </a:t>
            </a:r>
            <a:r>
              <a:rPr lang="en-US" b="1" dirty="0"/>
              <a:t>HF burns</a:t>
            </a:r>
            <a:r>
              <a:rPr lang="en-US" dirty="0"/>
              <a:t> of the skin. The gel is convenient to carry and can be used to initially </a:t>
            </a:r>
            <a:r>
              <a:rPr lang="en-US" b="1" dirty="0"/>
              <a:t>treat</a:t>
            </a:r>
            <a:r>
              <a:rPr lang="en-US" dirty="0"/>
              <a:t> small </a:t>
            </a:r>
            <a:r>
              <a:rPr lang="en-US" b="1" dirty="0" smtClean="0"/>
              <a:t>burns </a:t>
            </a:r>
            <a:r>
              <a:rPr lang="en-US" dirty="0" smtClean="0"/>
              <a:t>that </a:t>
            </a:r>
            <a:r>
              <a:rPr lang="en-US" dirty="0"/>
              <a:t>might occur away from medical care.</a:t>
            </a:r>
          </a:p>
        </p:txBody>
      </p:sp>
    </p:spTree>
    <p:extLst>
      <p:ext uri="{BB962C8B-B14F-4D97-AF65-F5344CB8AC3E}">
        <p14:creationId xmlns:p14="http://schemas.microsoft.com/office/powerpoint/2010/main" val="933724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905000"/>
            <a:ext cx="8915400" cy="1143000"/>
          </a:xfrm>
        </p:spPr>
        <p:txBody>
          <a:bodyPr>
            <a:noAutofit/>
          </a:bodyPr>
          <a:lstStyle/>
          <a:p>
            <a:pPr algn="l"/>
            <a:r>
              <a:rPr lang="en-US" sz="2800" dirty="0"/>
              <a:t>8. Which of the following is NOT considered an important factor affecting nanoparticle toxicity in the lung? </a:t>
            </a:r>
            <a:r>
              <a:rPr lang="en-US" sz="2800" dirty="0" smtClean="0"/>
              <a:t/>
            </a:r>
            <a:br>
              <a:rPr lang="en-US" sz="2800" dirty="0" smtClean="0"/>
            </a:br>
            <a:r>
              <a:rPr lang="en-US" sz="2800" dirty="0"/>
              <a:t/>
            </a:r>
            <a:br>
              <a:rPr lang="en-US" sz="2800" dirty="0"/>
            </a:br>
            <a:r>
              <a:rPr lang="en-US" sz="2400" dirty="0" smtClean="0"/>
              <a:t>A</a:t>
            </a:r>
            <a:r>
              <a:rPr lang="en-US" sz="2400" dirty="0"/>
              <a:t>) the large surface area relative to mass </a:t>
            </a:r>
            <a:r>
              <a:rPr lang="en-US" sz="2400" dirty="0" smtClean="0"/>
              <a:t/>
            </a:r>
            <a:br>
              <a:rPr lang="en-US" sz="2400" dirty="0" smtClean="0"/>
            </a:br>
            <a:r>
              <a:rPr lang="en-US" sz="2400" dirty="0" smtClean="0">
                <a:solidFill>
                  <a:srgbClr val="FF0000"/>
                </a:solidFill>
              </a:rPr>
              <a:t>B</a:t>
            </a:r>
            <a:r>
              <a:rPr lang="en-US" sz="2400" dirty="0">
                <a:solidFill>
                  <a:srgbClr val="FF0000"/>
                </a:solidFill>
              </a:rPr>
              <a:t>) </a:t>
            </a:r>
            <a:r>
              <a:rPr lang="en-US" sz="2400" dirty="0" err="1">
                <a:solidFill>
                  <a:srgbClr val="FF0000"/>
                </a:solidFill>
              </a:rPr>
              <a:t>glucuronidation</a:t>
            </a:r>
            <a:r>
              <a:rPr lang="en-US" sz="2400" dirty="0">
                <a:solidFill>
                  <a:srgbClr val="FF0000"/>
                </a:solidFill>
              </a:rPr>
              <a:t> of </a:t>
            </a:r>
            <a:r>
              <a:rPr lang="en-US" sz="2400" dirty="0" err="1">
                <a:solidFill>
                  <a:srgbClr val="FF0000"/>
                </a:solidFill>
              </a:rPr>
              <a:t>nanoparticulates</a:t>
            </a:r>
            <a:r>
              <a:rPr lang="en-US" sz="2400" dirty="0">
                <a:solidFill>
                  <a:srgbClr val="FF0000"/>
                </a:solidFill>
              </a:rPr>
              <a:t> </a:t>
            </a:r>
            <a:r>
              <a:rPr lang="en-US" sz="2400" dirty="0" smtClean="0"/>
              <a:t/>
            </a:r>
            <a:br>
              <a:rPr lang="en-US" sz="2400" dirty="0" smtClean="0"/>
            </a:br>
            <a:r>
              <a:rPr lang="en-US" sz="2400" dirty="0" smtClean="0"/>
              <a:t>C</a:t>
            </a:r>
            <a:r>
              <a:rPr lang="en-US" sz="2400" dirty="0"/>
              <a:t>) particulate diameters of less than 100nm </a:t>
            </a:r>
            <a:r>
              <a:rPr lang="en-US" sz="2400" dirty="0" smtClean="0"/>
              <a:t/>
            </a:r>
            <a:br>
              <a:rPr lang="en-US" sz="2400" dirty="0" smtClean="0"/>
            </a:br>
            <a:r>
              <a:rPr lang="en-US" sz="2400" dirty="0" smtClean="0"/>
              <a:t>D</a:t>
            </a:r>
            <a:r>
              <a:rPr lang="en-US" sz="2400" dirty="0"/>
              <a:t>) the presence of reactive metals on the surface of </a:t>
            </a:r>
            <a:r>
              <a:rPr lang="en-US" sz="2400" dirty="0" err="1"/>
              <a:t>nanoparticulates</a:t>
            </a:r>
            <a:r>
              <a:rPr lang="en-US" sz="2400" dirty="0"/>
              <a:t> </a:t>
            </a:r>
            <a:r>
              <a:rPr lang="en-US" sz="2400" dirty="0" smtClean="0"/>
              <a:t/>
            </a:r>
            <a:br>
              <a:rPr lang="en-US" sz="2400" dirty="0" smtClean="0"/>
            </a:br>
            <a:r>
              <a:rPr lang="en-US" sz="2400" dirty="0" smtClean="0"/>
              <a:t>E</a:t>
            </a:r>
            <a:r>
              <a:rPr lang="en-US" sz="2400" dirty="0"/>
              <a:t>) breathing </a:t>
            </a:r>
            <a:r>
              <a:rPr lang="en-US" sz="2400" dirty="0" smtClean="0"/>
              <a:t>rate</a:t>
            </a:r>
            <a:br>
              <a:rPr lang="en-US" sz="2400" dirty="0" smtClean="0"/>
            </a:br>
            <a:r>
              <a:rPr lang="en-US" sz="2400" dirty="0"/>
              <a:t/>
            </a:r>
            <a:br>
              <a:rPr lang="en-US" sz="2400" dirty="0"/>
            </a:br>
            <a:r>
              <a:rPr lang="en-US" sz="2400" dirty="0" smtClean="0"/>
              <a:t>Explanation: Nanoparticle do not undergo phase 1 and phase II metabolism.</a:t>
            </a:r>
            <a:endParaRPr lang="en-US" sz="2400" dirty="0"/>
          </a:p>
        </p:txBody>
      </p:sp>
    </p:spTree>
    <p:extLst>
      <p:ext uri="{BB962C8B-B14F-4D97-AF65-F5344CB8AC3E}">
        <p14:creationId xmlns:p14="http://schemas.microsoft.com/office/powerpoint/2010/main" val="4290831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9B7F2886B3614BAD1C6143B699D609" ma:contentTypeVersion="12" ma:contentTypeDescription="Create a new document." ma:contentTypeScope="" ma:versionID="8d6f94fb22da2931efc8eabeca6510bb">
  <xsd:schema xmlns:xsd="http://www.w3.org/2001/XMLSchema" xmlns:xs="http://www.w3.org/2001/XMLSchema" xmlns:p="http://schemas.microsoft.com/office/2006/metadata/properties" xmlns:ns2="5d6ef54a-aa24-4e91-bc8b-44812b1eded1" xmlns:ns3="a7046a94-50c7-43c0-b98b-a3969f4076e7" targetNamespace="http://schemas.microsoft.com/office/2006/metadata/properties" ma:root="true" ma:fieldsID="cc0728bd40b4971c3e26cb78e9cfffca" ns2:_="" ns3:_="">
    <xsd:import namespace="5d6ef54a-aa24-4e91-bc8b-44812b1eded1"/>
    <xsd:import namespace="a7046a94-50c7-43c0-b98b-a3969f4076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6ef54a-aa24-4e91-bc8b-44812b1ede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933771c-307d-4a60-b7ad-eff2f0afcd3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046a94-50c7-43c0-b98b-a3969f4076e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83d8983-1580-40b6-b87d-1f94fe43acac}" ma:internalName="TaxCatchAll" ma:showField="CatchAllData" ma:web="a7046a94-50c7-43c0-b98b-a3969f4076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d6ef54a-aa24-4e91-bc8b-44812b1eded1">
      <Terms xmlns="http://schemas.microsoft.com/office/infopath/2007/PartnerControls"/>
    </lcf76f155ced4ddcb4097134ff3c332f>
    <TaxCatchAll xmlns="a7046a94-50c7-43c0-b98b-a3969f4076e7" xsi:nil="true"/>
  </documentManagement>
</p:properties>
</file>

<file path=customXml/itemProps1.xml><?xml version="1.0" encoding="utf-8"?>
<ds:datastoreItem xmlns:ds="http://schemas.openxmlformats.org/officeDocument/2006/customXml" ds:itemID="{FE86F343-21D8-40E9-A768-8E2239DD4481}"/>
</file>

<file path=customXml/itemProps2.xml><?xml version="1.0" encoding="utf-8"?>
<ds:datastoreItem xmlns:ds="http://schemas.openxmlformats.org/officeDocument/2006/customXml" ds:itemID="{02B1A4E2-6009-414C-BE29-3E040E5B560F}"/>
</file>

<file path=customXml/itemProps3.xml><?xml version="1.0" encoding="utf-8"?>
<ds:datastoreItem xmlns:ds="http://schemas.openxmlformats.org/officeDocument/2006/customXml" ds:itemID="{E581DE6F-960E-475F-87F8-A04E2ADC0E00}"/>
</file>

<file path=docProps/app.xml><?xml version="1.0" encoding="utf-8"?>
<Properties xmlns="http://schemas.openxmlformats.org/officeDocument/2006/extended-properties" xmlns:vt="http://schemas.openxmlformats.org/officeDocument/2006/docPropsVTypes">
  <TotalTime>20577</TotalTime>
  <Words>462</Words>
  <Application>Microsoft Office PowerPoint</Application>
  <PresentationFormat>On-screen Show (4:3)</PresentationFormat>
  <Paragraphs>39</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1. Calculate the achieved dosage in mg/kg/day of a chemical fed to rats at a concentration of 0.5% (5000 ppm) in the diet.  The rats had a mid period group mean body weight of 250g and ate 210g/week of the chemical diet admixture.   A) 600  B) 420  C) 6000  D) 4200  E) 60   5000ppm is 5000mg/kg diet X 0.030 kg diet/day  (210 g/wk divided by 7 days/week = results in 30 g per day  0.030 kg diet per day)/0.25 kg rat = 600 mg/kg – day.   5000mg/kg X 0.030 kg/day / 0.25 kg rat = 600 mg/kg-day</vt:lpstr>
      <vt:lpstr> </vt:lpstr>
      <vt:lpstr>3. Furanocoumarins in grapefruit juice can increase the systemic exposure to certain orally administered drugs such as simvastatin (HMG-coA reductase inhibitor) and felodipine (calcium channel blocker) through which of the following mechanisms?     A) inhibition of intestinal CYP3A4  B) inhibition of hepatic CYP3A4  C) induction of UDP-glucuronosyltransferase  D) inhibition of hepatic CYP1A1 E) induction of aldehyde dehydrogenase    Furanocoumarin derivatives inhibit initially intestinal enzyme cytochrome P450 cytochrome P450 isoform CYP3A4 and are believed to be partially responsible for the effects of grapefruit on the enzyme. Inhibition of hepatic CYP3A4 occurs later   </vt:lpstr>
      <vt:lpstr>4. Many chemicals require metabolic activation to form their ultimate toxicants.  Which of the following xenobiotics does NOT match its ultimate toxicant?     A) fluoroacetate forms fluoronitrate B) acetominophen forms N-acetyl-p-benzoquinoneimine   C) carbon tetrachloride forms CCl300   D) benzo[a]pyrene forms benzo[a]pyrene-7-8-diol-9,10-epoxide   E) ethylene glycol forms oxalic acid   Table 3-1. P. 51 C&amp;D Chapter 3  (ultimate toxicant =  fluorocitrate NOT fluoronitrate)</vt:lpstr>
      <vt:lpstr>5. Oligomycin, cyhexatin, DDT, and chlordecone all can interfere with mitochondrial ATP synthesis which can lead to ATP depletion and cell death.  These agents impair mitochondrial ATP synthesis by which of the following mechanisms?   A) they inhibit ADP phosphorylation by acting on ATP synthase   B) they inhibit electron transport complex I (NADH-coenzyme Q reductase)   C) they inhibit oxygen delivery to the electron transport chain   D) they impair the transcription of key mitochondrial proteins  E) they inhibit electron transport by acting on complex IV (cytochrome oxidase) </vt:lpstr>
      <vt:lpstr>PowerPoint Presentation</vt:lpstr>
      <vt:lpstr>PowerPoint Presentation</vt:lpstr>
      <vt:lpstr>8. Which of the following is NOT considered an important factor affecting nanoparticle toxicity in the lung?   A) the large surface area relative to mass  B) glucuronidation of nanoparticulates  C) particulate diameters of less than 100nm  D) the presence of reactive metals on the surface of nanoparticulates  E) breathing rate  Explanation: Nanoparticle do not undergo phase 1 and phase II metabolism.</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Owner</dc:creator>
  <cp:lastModifiedBy>April Lake</cp:lastModifiedBy>
  <cp:revision>33</cp:revision>
  <dcterms:created xsi:type="dcterms:W3CDTF">2017-08-16T22:30:32Z</dcterms:created>
  <dcterms:modified xsi:type="dcterms:W3CDTF">2018-02-12T23:58:56Z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0x010100FC9B7F2886B3614BAD1C6143B699D609</vt:lpwstr>
  </property>
</Properties>
</file>