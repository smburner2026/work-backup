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9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91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7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2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9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3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46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7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66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3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22C29-82BD-4AE0-9D62-35D282B95B2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BB14A-075B-4062-88F1-CD81CD711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3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24. Which of the following is NOT </a:t>
            </a:r>
            <a:r>
              <a:rPr lang="en-US" dirty="0" smtClean="0"/>
              <a:t>CORRECT regarding </a:t>
            </a:r>
            <a:r>
              <a:rPr lang="en-US" dirty="0"/>
              <a:t>renal injury?</a:t>
            </a:r>
          </a:p>
          <a:p>
            <a:pPr marL="0" indent="0">
              <a:buNone/>
            </a:pPr>
            <a:r>
              <a:rPr lang="en-US" dirty="0"/>
              <a:t>A) detachment of podocytes from the </a:t>
            </a:r>
            <a:r>
              <a:rPr lang="en-US" dirty="0" smtClean="0"/>
              <a:t>glomerular basement </a:t>
            </a:r>
            <a:r>
              <a:rPr lang="en-US" dirty="0"/>
              <a:t>membrane is thought to be a basis </a:t>
            </a:r>
            <a:r>
              <a:rPr lang="en-US" dirty="0" smtClean="0"/>
              <a:t>for the </a:t>
            </a:r>
            <a:r>
              <a:rPr lang="en-US" dirty="0"/>
              <a:t>decrease in size selectivity for </a:t>
            </a:r>
            <a:r>
              <a:rPr lang="en-US" dirty="0" smtClean="0"/>
              <a:t>compounds excreted </a:t>
            </a:r>
            <a:r>
              <a:rPr lang="en-US" dirty="0"/>
              <a:t>in urine</a:t>
            </a:r>
          </a:p>
          <a:p>
            <a:pPr marL="0" indent="0">
              <a:buNone/>
            </a:pPr>
            <a:r>
              <a:rPr lang="en-US" dirty="0"/>
              <a:t>B) alterations of concentrating ability are </a:t>
            </a:r>
            <a:r>
              <a:rPr lang="en-US" dirty="0" smtClean="0"/>
              <a:t>one characteristic </a:t>
            </a:r>
            <a:r>
              <a:rPr lang="en-US" dirty="0"/>
              <a:t>of compounds that damage </a:t>
            </a:r>
            <a:r>
              <a:rPr lang="en-US" dirty="0" smtClean="0"/>
              <a:t>more distal </a:t>
            </a:r>
            <a:r>
              <a:rPr lang="en-US" dirty="0"/>
              <a:t>structures in the nephron</a:t>
            </a:r>
          </a:p>
          <a:p>
            <a:pPr marL="0" indent="0">
              <a:buNone/>
            </a:pPr>
            <a:r>
              <a:rPr lang="en-US" dirty="0"/>
              <a:t>C) the proximal tubule has a key role in </a:t>
            </a:r>
            <a:r>
              <a:rPr lang="en-US" dirty="0" smtClean="0"/>
              <a:t>transport and </a:t>
            </a:r>
            <a:r>
              <a:rPr lang="en-US" dirty="0"/>
              <a:t>reabsorption processes; </a:t>
            </a:r>
            <a:r>
              <a:rPr lang="en-US" dirty="0" smtClean="0"/>
              <a:t>regional differences </a:t>
            </a:r>
            <a:r>
              <a:rPr lang="en-US" dirty="0"/>
              <a:t>in transport function are not solely</a:t>
            </a:r>
          </a:p>
          <a:p>
            <a:pPr marL="0" indent="0">
              <a:buNone/>
            </a:pPr>
            <a:r>
              <a:rPr lang="en-US" dirty="0"/>
              <a:t>responsible for regional differences </a:t>
            </a:r>
            <a:r>
              <a:rPr lang="en-US" dirty="0" smtClean="0"/>
              <a:t>in susceptibility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exposure may mediate some of </a:t>
            </a:r>
            <a:r>
              <a:rPr lang="en-US" dirty="0" smtClean="0"/>
              <a:t>the susceptibility </a:t>
            </a:r>
            <a:r>
              <a:rPr lang="en-US" dirty="0"/>
              <a:t>of this tissue because </a:t>
            </a:r>
            <a:r>
              <a:rPr lang="en-US" dirty="0" smtClean="0"/>
              <a:t>kidneys constitute </a:t>
            </a:r>
            <a:r>
              <a:rPr lang="en-US" dirty="0"/>
              <a:t>approximately one-half percent of</a:t>
            </a:r>
          </a:p>
          <a:p>
            <a:pPr marL="0" indent="0">
              <a:buNone/>
            </a:pPr>
            <a:r>
              <a:rPr lang="en-US" dirty="0"/>
              <a:t>body mass and receive approximately 20% </a:t>
            </a:r>
            <a:r>
              <a:rPr lang="en-US" dirty="0" smtClean="0"/>
              <a:t>of the </a:t>
            </a:r>
            <a:r>
              <a:rPr lang="en-US" dirty="0"/>
              <a:t>cardiac output</a:t>
            </a:r>
          </a:p>
          <a:p>
            <a:pPr marL="0" indent="0">
              <a:buNone/>
            </a:pPr>
            <a:r>
              <a:rPr lang="en-US" dirty="0"/>
              <a:t>E) the glomerulus is the most common site </a:t>
            </a:r>
            <a:r>
              <a:rPr lang="en-US" dirty="0" smtClean="0"/>
              <a:t>of renal </a:t>
            </a:r>
            <a:r>
              <a:rPr lang="en-US" dirty="0"/>
              <a:t>injury</a:t>
            </a:r>
          </a:p>
        </p:txBody>
      </p:sp>
    </p:spTree>
    <p:extLst>
      <p:ext uri="{BB962C8B-B14F-4D97-AF65-F5344CB8AC3E}">
        <p14:creationId xmlns:p14="http://schemas.microsoft.com/office/powerpoint/2010/main" val="85662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24. Which of the following is NOT </a:t>
            </a:r>
            <a:r>
              <a:rPr lang="en-US" dirty="0" smtClean="0"/>
              <a:t>CORRECT regarding </a:t>
            </a:r>
            <a:r>
              <a:rPr lang="en-US" dirty="0"/>
              <a:t>renal injury?</a:t>
            </a:r>
          </a:p>
          <a:p>
            <a:pPr marL="0" indent="0">
              <a:buNone/>
            </a:pPr>
            <a:r>
              <a:rPr lang="en-US" dirty="0"/>
              <a:t>A) detachment of podocytes from the </a:t>
            </a:r>
            <a:r>
              <a:rPr lang="en-US" dirty="0" smtClean="0"/>
              <a:t>glomerular basement </a:t>
            </a:r>
            <a:r>
              <a:rPr lang="en-US" dirty="0"/>
              <a:t>membrane is thought to be a basis </a:t>
            </a:r>
            <a:r>
              <a:rPr lang="en-US" dirty="0" smtClean="0"/>
              <a:t>for the </a:t>
            </a:r>
            <a:r>
              <a:rPr lang="en-US" dirty="0"/>
              <a:t>decrease in size selectivity for </a:t>
            </a:r>
            <a:r>
              <a:rPr lang="en-US" dirty="0" smtClean="0"/>
              <a:t>compounds excreted </a:t>
            </a:r>
            <a:r>
              <a:rPr lang="en-US" dirty="0"/>
              <a:t>in </a:t>
            </a:r>
            <a:r>
              <a:rPr lang="en-US" dirty="0" smtClean="0"/>
              <a:t>urine -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alterations of concentrating ability are </a:t>
            </a:r>
            <a:r>
              <a:rPr lang="en-US" dirty="0" smtClean="0"/>
              <a:t>one characteristic </a:t>
            </a:r>
            <a:r>
              <a:rPr lang="en-US" dirty="0"/>
              <a:t>of compounds that damage </a:t>
            </a:r>
            <a:r>
              <a:rPr lang="en-US" dirty="0" smtClean="0"/>
              <a:t>more distal </a:t>
            </a:r>
            <a:r>
              <a:rPr lang="en-US" dirty="0"/>
              <a:t>structures in the nephron</a:t>
            </a:r>
          </a:p>
          <a:p>
            <a:pPr marL="0" indent="0">
              <a:buNone/>
            </a:pPr>
            <a:r>
              <a:rPr lang="en-US" dirty="0"/>
              <a:t>C) the proximal tubule has a key role in </a:t>
            </a:r>
            <a:r>
              <a:rPr lang="en-US" dirty="0" smtClean="0"/>
              <a:t>transport and </a:t>
            </a:r>
            <a:r>
              <a:rPr lang="en-US" dirty="0"/>
              <a:t>reabsorption processes; </a:t>
            </a:r>
            <a:r>
              <a:rPr lang="en-US" dirty="0" smtClean="0"/>
              <a:t>regional differences </a:t>
            </a:r>
            <a:r>
              <a:rPr lang="en-US" dirty="0"/>
              <a:t>in transport function are not solely</a:t>
            </a:r>
          </a:p>
          <a:p>
            <a:pPr marL="0" indent="0">
              <a:buNone/>
            </a:pPr>
            <a:r>
              <a:rPr lang="en-US" dirty="0"/>
              <a:t>responsible for regional differences </a:t>
            </a:r>
            <a:r>
              <a:rPr lang="en-US" dirty="0" smtClean="0"/>
              <a:t>in susceptibility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exposure may mediate some of </a:t>
            </a:r>
            <a:r>
              <a:rPr lang="en-US" dirty="0" smtClean="0"/>
              <a:t>the susceptibility </a:t>
            </a:r>
            <a:r>
              <a:rPr lang="en-US" dirty="0"/>
              <a:t>of this tissue because </a:t>
            </a:r>
            <a:r>
              <a:rPr lang="en-US" dirty="0" smtClean="0"/>
              <a:t>kidneys constitute </a:t>
            </a:r>
            <a:r>
              <a:rPr lang="en-US" dirty="0"/>
              <a:t>approximately one-half percent of</a:t>
            </a:r>
          </a:p>
          <a:p>
            <a:pPr marL="0" indent="0">
              <a:buNone/>
            </a:pPr>
            <a:r>
              <a:rPr lang="en-US" dirty="0"/>
              <a:t>body mass and receive approximately 20% </a:t>
            </a:r>
            <a:r>
              <a:rPr lang="en-US" dirty="0" smtClean="0"/>
              <a:t>of the </a:t>
            </a:r>
            <a:r>
              <a:rPr lang="en-US" dirty="0"/>
              <a:t>cardiac </a:t>
            </a:r>
            <a:r>
              <a:rPr lang="en-US" dirty="0" smtClean="0"/>
              <a:t>output</a:t>
            </a:r>
            <a:r>
              <a:rPr lang="en-US" dirty="0" smtClean="0">
                <a:solidFill>
                  <a:srgbClr val="FF0000"/>
                </a:solidFill>
              </a:rPr>
              <a:t> - correct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E) the glomerulus is the most common site </a:t>
            </a:r>
            <a:r>
              <a:rPr lang="en-US" dirty="0" smtClean="0">
                <a:solidFill>
                  <a:srgbClr val="FF0000"/>
                </a:solidFill>
              </a:rPr>
              <a:t>of renal injury – proximal </a:t>
            </a:r>
            <a:r>
              <a:rPr lang="en-US" dirty="0" err="1" smtClean="0">
                <a:solidFill>
                  <a:srgbClr val="FF0000"/>
                </a:solidFill>
              </a:rPr>
              <a:t>tubual</a:t>
            </a:r>
            <a:r>
              <a:rPr lang="en-US" dirty="0" smtClean="0">
                <a:solidFill>
                  <a:srgbClr val="FF0000"/>
                </a:solidFill>
              </a:rPr>
              <a:t> is most common site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C&amp;D Kidney chapter 14 </a:t>
            </a:r>
            <a:r>
              <a:rPr lang="en-US" dirty="0" err="1" smtClean="0"/>
              <a:t>pg</a:t>
            </a:r>
            <a:r>
              <a:rPr lang="en-US" dirty="0" smtClean="0"/>
              <a:t> 674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27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25. Which of the following is the primary site of</a:t>
            </a:r>
          </a:p>
          <a:p>
            <a:pPr marL="0" indent="0">
              <a:buNone/>
            </a:pPr>
            <a:r>
              <a:rPr lang="en-US" dirty="0"/>
              <a:t>kidney injury resulting from exposure to </a:t>
            </a:r>
            <a:r>
              <a:rPr lang="en-US" dirty="0" smtClean="0"/>
              <a:t>chloroform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proximal tubule</a:t>
            </a:r>
          </a:p>
          <a:p>
            <a:pPr marL="0" indent="0">
              <a:buNone/>
            </a:pPr>
            <a:r>
              <a:rPr lang="en-US" dirty="0"/>
              <a:t>B) glomerulus</a:t>
            </a:r>
          </a:p>
          <a:p>
            <a:pPr marL="0" indent="0">
              <a:buNone/>
            </a:pPr>
            <a:r>
              <a:rPr lang="en-US" dirty="0"/>
              <a:t>C) loop of Henle</a:t>
            </a:r>
          </a:p>
          <a:p>
            <a:pPr marL="0" indent="0">
              <a:buNone/>
            </a:pPr>
            <a:r>
              <a:rPr lang="en-US" dirty="0"/>
              <a:t>D) distal tubule/collecting duct</a:t>
            </a:r>
          </a:p>
          <a:p>
            <a:pPr marL="0" indent="0">
              <a:buNone/>
            </a:pPr>
            <a:r>
              <a:rPr lang="en-US" dirty="0"/>
              <a:t>E) medulla/papilla</a:t>
            </a:r>
          </a:p>
        </p:txBody>
      </p:sp>
    </p:spTree>
    <p:extLst>
      <p:ext uri="{BB962C8B-B14F-4D97-AF65-F5344CB8AC3E}">
        <p14:creationId xmlns:p14="http://schemas.microsoft.com/office/powerpoint/2010/main" val="17929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25. Which of the following is the primary site of</a:t>
            </a:r>
          </a:p>
          <a:p>
            <a:pPr marL="0" indent="0">
              <a:buNone/>
            </a:pPr>
            <a:r>
              <a:rPr lang="en-US" dirty="0"/>
              <a:t>kidney injury resulting from exposure to </a:t>
            </a:r>
            <a:r>
              <a:rPr lang="en-US" dirty="0" smtClean="0"/>
              <a:t>chloroform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proximal </a:t>
            </a:r>
            <a:r>
              <a:rPr lang="en-US" dirty="0" smtClean="0">
                <a:solidFill>
                  <a:srgbClr val="FF0000"/>
                </a:solidFill>
              </a:rPr>
              <a:t>tubule- no change to glomerulus or distal tubules, </a:t>
            </a:r>
            <a:r>
              <a:rPr lang="en-US" dirty="0" err="1" smtClean="0">
                <a:solidFill>
                  <a:srgbClr val="FF0000"/>
                </a:solidFill>
              </a:rPr>
              <a:t>tox</a:t>
            </a:r>
            <a:r>
              <a:rPr lang="en-US" dirty="0" smtClean="0">
                <a:solidFill>
                  <a:srgbClr val="FF0000"/>
                </a:solidFill>
              </a:rPr>
              <a:t> linked to metabolism which forms phosgene that reacts with cellular macromolecules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glomerulus</a:t>
            </a:r>
          </a:p>
          <a:p>
            <a:pPr marL="0" indent="0">
              <a:buNone/>
            </a:pPr>
            <a:r>
              <a:rPr lang="en-US" dirty="0"/>
              <a:t>C) loop of Henle</a:t>
            </a:r>
          </a:p>
          <a:p>
            <a:pPr marL="0" indent="0">
              <a:buNone/>
            </a:pPr>
            <a:r>
              <a:rPr lang="en-US" dirty="0"/>
              <a:t>D) distal tubule/collecting duct</a:t>
            </a: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medulla/papilla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C&amp;D Kidney chapter 14 </a:t>
            </a:r>
            <a:r>
              <a:rPr lang="en-US" dirty="0" err="1" smtClean="0"/>
              <a:t>pg</a:t>
            </a:r>
            <a:r>
              <a:rPr lang="en-US" dirty="0" smtClean="0"/>
              <a:t> 681 or </a:t>
            </a:r>
            <a:r>
              <a:rPr lang="en-US" dirty="0" err="1" smtClean="0"/>
              <a:t>pg</a:t>
            </a:r>
            <a:r>
              <a:rPr lang="en-US" dirty="0" smtClean="0"/>
              <a:t> 219 essentials of </a:t>
            </a:r>
            <a:r>
              <a:rPr lang="en-US" dirty="0" err="1" smtClean="0"/>
              <a:t>tox</a:t>
            </a:r>
            <a:r>
              <a:rPr lang="en-US" dirty="0" smtClean="0"/>
              <a:t> book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55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26. Which of the following statements BEST</a:t>
            </a:r>
          </a:p>
          <a:p>
            <a:pPr marL="0" indent="0">
              <a:buNone/>
            </a:pPr>
            <a:r>
              <a:rPr lang="en-US" dirty="0"/>
              <a:t>characterizes the Buehler and Maximization assays?</a:t>
            </a:r>
          </a:p>
          <a:p>
            <a:pPr marL="0" indent="0">
              <a:buNone/>
            </a:pPr>
            <a:r>
              <a:rPr lang="en-US" dirty="0"/>
              <a:t>A) they are conducted to evaluate the potential of</a:t>
            </a:r>
          </a:p>
          <a:p>
            <a:pPr marL="0" indent="0">
              <a:buNone/>
            </a:pPr>
            <a:r>
              <a:rPr lang="en-US" dirty="0"/>
              <a:t>a product to produce skin irritation</a:t>
            </a:r>
          </a:p>
          <a:p>
            <a:pPr marL="0" indent="0">
              <a:buNone/>
            </a:pPr>
            <a:r>
              <a:rPr lang="en-US" dirty="0"/>
              <a:t>B) they are most commonly performed in</a:t>
            </a:r>
          </a:p>
          <a:p>
            <a:pPr marL="0" indent="0">
              <a:buNone/>
            </a:pPr>
            <a:r>
              <a:rPr lang="en-US" dirty="0" err="1"/>
              <a:t>minipigs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C) they require 72 hour to perform</a:t>
            </a:r>
          </a:p>
          <a:p>
            <a:pPr marL="0" indent="0">
              <a:buNone/>
            </a:pPr>
            <a:r>
              <a:rPr lang="en-US" dirty="0"/>
              <a:t>D) they evaluate delayed-contact hypersensitivity</a:t>
            </a:r>
          </a:p>
          <a:p>
            <a:pPr marL="0" indent="0">
              <a:buNone/>
            </a:pPr>
            <a:r>
              <a:rPr lang="en-US" dirty="0"/>
              <a:t>E) they are </a:t>
            </a:r>
            <a:r>
              <a:rPr lang="en-US" i="1" dirty="0"/>
              <a:t>in vitro </a:t>
            </a:r>
            <a:r>
              <a:rPr lang="en-US" dirty="0"/>
              <a:t>assays for cell-mediated</a:t>
            </a:r>
          </a:p>
          <a:p>
            <a:pPr marL="0" indent="0">
              <a:buNone/>
            </a:pPr>
            <a:r>
              <a:rPr lang="en-US" dirty="0"/>
              <a:t>immune response</a:t>
            </a:r>
          </a:p>
        </p:txBody>
      </p:sp>
    </p:spTree>
    <p:extLst>
      <p:ext uri="{BB962C8B-B14F-4D97-AF65-F5344CB8AC3E}">
        <p14:creationId xmlns:p14="http://schemas.microsoft.com/office/powerpoint/2010/main" val="330521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26. Which of the following statements BEST</a:t>
            </a:r>
          </a:p>
          <a:p>
            <a:pPr marL="0" indent="0">
              <a:buNone/>
            </a:pPr>
            <a:r>
              <a:rPr lang="en-US" dirty="0"/>
              <a:t>characterizes the Buehler and Maximization assays?</a:t>
            </a:r>
          </a:p>
          <a:p>
            <a:pPr marL="0" indent="0">
              <a:buNone/>
            </a:pPr>
            <a:r>
              <a:rPr lang="en-US" dirty="0"/>
              <a:t>A) they are conducted to evaluate the potential of</a:t>
            </a:r>
          </a:p>
          <a:p>
            <a:pPr marL="0" indent="0">
              <a:buNone/>
            </a:pPr>
            <a:r>
              <a:rPr lang="en-US" dirty="0"/>
              <a:t>a product to produce skin </a:t>
            </a:r>
            <a:r>
              <a:rPr lang="en-US" dirty="0" smtClean="0"/>
              <a:t>irritation </a:t>
            </a:r>
            <a:r>
              <a:rPr lang="en-US" dirty="0" smtClean="0">
                <a:solidFill>
                  <a:srgbClr val="FF0000"/>
                </a:solidFill>
              </a:rPr>
              <a:t>– test for hypersensitivity not irritation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they are most commonly performed in</a:t>
            </a:r>
          </a:p>
          <a:p>
            <a:pPr marL="0" indent="0">
              <a:buNone/>
            </a:pPr>
            <a:r>
              <a:rPr lang="en-US" dirty="0" err="1" smtClean="0"/>
              <a:t>Minipigs</a:t>
            </a:r>
            <a:r>
              <a:rPr lang="en-US" dirty="0" smtClean="0"/>
              <a:t> – </a:t>
            </a:r>
            <a:r>
              <a:rPr lang="en-US" dirty="0" smtClean="0">
                <a:solidFill>
                  <a:srgbClr val="FF0000"/>
                </a:solidFill>
              </a:rPr>
              <a:t>in guinea pigs not mini pigs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they require 72 hour to </a:t>
            </a:r>
            <a:r>
              <a:rPr lang="en-US" dirty="0" smtClean="0"/>
              <a:t>perform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en-US" dirty="0" err="1" smtClean="0">
                <a:solidFill>
                  <a:srgbClr val="FF0000"/>
                </a:solidFill>
              </a:rPr>
              <a:t>buhler</a:t>
            </a:r>
            <a:r>
              <a:rPr lang="en-US" dirty="0" smtClean="0">
                <a:solidFill>
                  <a:srgbClr val="FF0000"/>
                </a:solidFill>
              </a:rPr>
              <a:t> goes out to Day 28, maximization Day 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D) they evaluate delayed-contact hypersensitivity</a:t>
            </a:r>
          </a:p>
          <a:p>
            <a:pPr marL="0" indent="0">
              <a:buNone/>
            </a:pPr>
            <a:r>
              <a:rPr lang="en-US" dirty="0"/>
              <a:t>E) they are </a:t>
            </a:r>
            <a:r>
              <a:rPr lang="en-US" i="1" dirty="0"/>
              <a:t>in vitro </a:t>
            </a:r>
            <a:r>
              <a:rPr lang="en-US" dirty="0"/>
              <a:t>assays for cell-mediated</a:t>
            </a:r>
          </a:p>
          <a:p>
            <a:pPr marL="0" indent="0">
              <a:buNone/>
            </a:pPr>
            <a:r>
              <a:rPr lang="en-US" dirty="0"/>
              <a:t>immune </a:t>
            </a:r>
            <a:r>
              <a:rPr lang="en-US" dirty="0" smtClean="0"/>
              <a:t>response – </a:t>
            </a:r>
            <a:r>
              <a:rPr lang="en-US" dirty="0" smtClean="0">
                <a:solidFill>
                  <a:srgbClr val="FF0000"/>
                </a:solidFill>
              </a:rPr>
              <a:t>wrong both in vivo</a:t>
            </a:r>
          </a:p>
          <a:p>
            <a:pPr marL="0" indent="0">
              <a:buNone/>
            </a:pPr>
            <a:r>
              <a:rPr lang="en-US" dirty="0" smtClean="0"/>
              <a:t> C&amp;D immune </a:t>
            </a:r>
            <a:r>
              <a:rPr lang="en-US" dirty="0" err="1" smtClean="0"/>
              <a:t>chp</a:t>
            </a:r>
            <a:r>
              <a:rPr lang="en-US" dirty="0" smtClean="0"/>
              <a:t> 12 </a:t>
            </a:r>
            <a:r>
              <a:rPr lang="en-US" dirty="0" err="1" smtClean="0"/>
              <a:t>pg</a:t>
            </a:r>
            <a:r>
              <a:rPr lang="en-US" dirty="0" smtClean="0"/>
              <a:t> 586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8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27. </a:t>
            </a:r>
            <a:r>
              <a:rPr lang="en-US" dirty="0" err="1"/>
              <a:t>Chloracne</a:t>
            </a:r>
            <a:r>
              <a:rPr lang="en-US" dirty="0"/>
              <a:t> is a persistent skin disease caused </a:t>
            </a:r>
            <a:r>
              <a:rPr lang="en-US" dirty="0" smtClean="0"/>
              <a:t>by overexposure </a:t>
            </a:r>
            <a:r>
              <a:rPr lang="en-US" dirty="0"/>
              <a:t>to certain halogenated </a:t>
            </a:r>
            <a:r>
              <a:rPr lang="en-US" dirty="0" smtClean="0"/>
              <a:t>aromatic hydrocarbons like 2,3,7,8-tetrachlorodibenzo-p-dioxin</a:t>
            </a:r>
            <a:r>
              <a:rPr lang="en-US" dirty="0"/>
              <a:t>. What is </a:t>
            </a:r>
            <a:r>
              <a:rPr lang="en-US" dirty="0" smtClean="0"/>
              <a:t>the prominent </a:t>
            </a:r>
            <a:r>
              <a:rPr lang="en-US" dirty="0"/>
              <a:t>target tissue for </a:t>
            </a:r>
            <a:r>
              <a:rPr lang="en-US" dirty="0" err="1"/>
              <a:t>chloracnegenic</a:t>
            </a:r>
            <a:r>
              <a:rPr lang="en-US" dirty="0"/>
              <a:t> </a:t>
            </a:r>
            <a:r>
              <a:rPr lang="en-US" dirty="0" smtClean="0"/>
              <a:t>agents within </a:t>
            </a:r>
            <a:r>
              <a:rPr lang="en-US" dirty="0"/>
              <a:t>the skin matrix?</a:t>
            </a:r>
          </a:p>
          <a:p>
            <a:pPr marL="0" indent="0">
              <a:buNone/>
            </a:pPr>
            <a:r>
              <a:rPr lang="en-US" dirty="0"/>
              <a:t>A) stratum </a:t>
            </a:r>
            <a:r>
              <a:rPr lang="en-US" dirty="0" err="1"/>
              <a:t>corneum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sebaceous (oil) glands</a:t>
            </a:r>
          </a:p>
          <a:p>
            <a:pPr marL="0" indent="0">
              <a:buNone/>
            </a:pPr>
            <a:r>
              <a:rPr lang="en-US" dirty="0"/>
              <a:t>C) viable hypodermis</a:t>
            </a:r>
          </a:p>
          <a:p>
            <a:pPr marL="0" indent="0">
              <a:buNone/>
            </a:pPr>
            <a:r>
              <a:rPr lang="en-US" dirty="0"/>
              <a:t>D) sweat glands</a:t>
            </a:r>
          </a:p>
          <a:p>
            <a:pPr marL="0" indent="0">
              <a:buNone/>
            </a:pPr>
            <a:r>
              <a:rPr lang="en-US" dirty="0"/>
              <a:t>E) subcutaneous adipose</a:t>
            </a:r>
          </a:p>
        </p:txBody>
      </p:sp>
    </p:spTree>
    <p:extLst>
      <p:ext uri="{BB962C8B-B14F-4D97-AF65-F5344CB8AC3E}">
        <p14:creationId xmlns:p14="http://schemas.microsoft.com/office/powerpoint/2010/main" val="421210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27. </a:t>
            </a:r>
            <a:r>
              <a:rPr lang="en-US" dirty="0" err="1"/>
              <a:t>Chloracne</a:t>
            </a:r>
            <a:r>
              <a:rPr lang="en-US" dirty="0"/>
              <a:t> is a persistent skin disease caused </a:t>
            </a:r>
            <a:r>
              <a:rPr lang="en-US" dirty="0" smtClean="0"/>
              <a:t>by overexposure </a:t>
            </a:r>
            <a:r>
              <a:rPr lang="en-US" dirty="0"/>
              <a:t>to certain halogenated </a:t>
            </a:r>
            <a:r>
              <a:rPr lang="en-US" dirty="0" smtClean="0"/>
              <a:t>aromatic hydrocarbons like 2,3,7,8-tetrachlorodibenzo-p-dioxin</a:t>
            </a:r>
            <a:r>
              <a:rPr lang="en-US" dirty="0"/>
              <a:t>. What is </a:t>
            </a:r>
            <a:r>
              <a:rPr lang="en-US" dirty="0" smtClean="0"/>
              <a:t>the prominent </a:t>
            </a:r>
            <a:r>
              <a:rPr lang="en-US" dirty="0"/>
              <a:t>target tissue for </a:t>
            </a:r>
            <a:r>
              <a:rPr lang="en-US" dirty="0" err="1"/>
              <a:t>chloracnegenic</a:t>
            </a:r>
            <a:r>
              <a:rPr lang="en-US" dirty="0"/>
              <a:t> </a:t>
            </a:r>
            <a:r>
              <a:rPr lang="en-US" dirty="0" smtClean="0"/>
              <a:t>agents within </a:t>
            </a:r>
            <a:r>
              <a:rPr lang="en-US" dirty="0"/>
              <a:t>the skin matrix?</a:t>
            </a:r>
          </a:p>
          <a:p>
            <a:pPr marL="0" indent="0">
              <a:buNone/>
            </a:pPr>
            <a:r>
              <a:rPr lang="en-US" dirty="0"/>
              <a:t>A) stratum </a:t>
            </a:r>
            <a:r>
              <a:rPr lang="en-US" dirty="0" err="1"/>
              <a:t>corneum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B) sebaceous (oil) glands – progressive degeneration of sebaceous gland cells to keratinizing cells and hyperkeratosis in follicular canal. Skin </a:t>
            </a:r>
            <a:r>
              <a:rPr lang="en-US" dirty="0" err="1" smtClean="0">
                <a:solidFill>
                  <a:srgbClr val="FF0000"/>
                </a:solidFill>
              </a:rPr>
              <a:t>tox</a:t>
            </a:r>
            <a:r>
              <a:rPr lang="en-US" dirty="0" smtClean="0">
                <a:solidFill>
                  <a:srgbClr val="FF0000"/>
                </a:solidFill>
              </a:rPr>
              <a:t> months after exposure cleared quickly or persist for years</a:t>
            </a:r>
          </a:p>
          <a:p>
            <a:pPr marL="0" indent="0">
              <a:buNone/>
            </a:pPr>
            <a:r>
              <a:rPr lang="en-US" dirty="0" smtClean="0"/>
              <a:t>C) viable hypodermis</a:t>
            </a:r>
          </a:p>
          <a:p>
            <a:pPr marL="0" indent="0">
              <a:buNone/>
            </a:pPr>
            <a:r>
              <a:rPr lang="en-US" dirty="0" smtClean="0"/>
              <a:t>D</a:t>
            </a:r>
            <a:r>
              <a:rPr lang="en-US" dirty="0"/>
              <a:t>) sweat glands</a:t>
            </a:r>
          </a:p>
          <a:p>
            <a:pPr marL="0" indent="0">
              <a:buNone/>
            </a:pPr>
            <a:r>
              <a:rPr lang="en-US" dirty="0"/>
              <a:t>E) subcutaneous </a:t>
            </a:r>
            <a:r>
              <a:rPr lang="en-US" dirty="0" smtClean="0"/>
              <a:t>adipose</a:t>
            </a:r>
          </a:p>
          <a:p>
            <a:pPr marL="0" indent="0">
              <a:buNone/>
            </a:pPr>
            <a:r>
              <a:rPr lang="en-US" dirty="0" smtClean="0"/>
              <a:t>C&amp;D skin </a:t>
            </a:r>
            <a:r>
              <a:rPr lang="en-US" dirty="0" err="1" smtClean="0"/>
              <a:t>ch</a:t>
            </a:r>
            <a:r>
              <a:rPr lang="en-US" dirty="0" smtClean="0"/>
              <a:t> 19 </a:t>
            </a:r>
            <a:r>
              <a:rPr lang="en-US" dirty="0" err="1" smtClean="0"/>
              <a:t>pg</a:t>
            </a:r>
            <a:r>
              <a:rPr lang="en-US" dirty="0" smtClean="0"/>
              <a:t> 851 essential </a:t>
            </a:r>
            <a:r>
              <a:rPr lang="en-US" dirty="0" err="1" smtClean="0"/>
              <a:t>tox</a:t>
            </a:r>
            <a:r>
              <a:rPr lang="en-US" dirty="0" smtClean="0"/>
              <a:t> pg299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3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28. Which of the following is NOT characteristic of</a:t>
            </a:r>
          </a:p>
          <a:p>
            <a:pPr marL="0" indent="0">
              <a:buNone/>
            </a:pPr>
            <a:r>
              <a:rPr lang="en-US" dirty="0"/>
              <a:t>allergic contact dermatitis?</a:t>
            </a:r>
          </a:p>
          <a:p>
            <a:pPr marL="0" indent="0">
              <a:buNone/>
            </a:pPr>
            <a:r>
              <a:rPr lang="en-US" dirty="0"/>
              <a:t>A) low molecular weight chemicals (</a:t>
            </a:r>
            <a:r>
              <a:rPr lang="en-US" dirty="0" err="1"/>
              <a:t>haptens</a:t>
            </a:r>
            <a:r>
              <a:rPr lang="en-US" dirty="0"/>
              <a:t>) are</a:t>
            </a:r>
          </a:p>
          <a:p>
            <a:pPr marL="0" indent="0">
              <a:buNone/>
            </a:pPr>
            <a:r>
              <a:rPr lang="en-US" dirty="0"/>
              <a:t>most often responsible</a:t>
            </a:r>
          </a:p>
          <a:p>
            <a:pPr marL="0" indent="0">
              <a:buNone/>
            </a:pPr>
            <a:r>
              <a:rPr lang="en-US" dirty="0"/>
              <a:t>B) minute quantities of an allergenic chemical</a:t>
            </a:r>
          </a:p>
          <a:p>
            <a:pPr marL="0" indent="0">
              <a:buNone/>
            </a:pPr>
            <a:r>
              <a:rPr lang="en-US" dirty="0"/>
              <a:t>may elicit an overt reaction</a:t>
            </a:r>
          </a:p>
          <a:p>
            <a:pPr marL="0" indent="0">
              <a:buNone/>
            </a:pPr>
            <a:r>
              <a:rPr lang="en-US" dirty="0"/>
              <a:t>C) sensitization must occur first</a:t>
            </a:r>
          </a:p>
          <a:p>
            <a:pPr marL="0" indent="0">
              <a:buNone/>
            </a:pPr>
            <a:r>
              <a:rPr lang="en-US" dirty="0"/>
              <a:t>D) the intensity of the reaction is proportional to</a:t>
            </a:r>
          </a:p>
          <a:p>
            <a:pPr marL="0" indent="0">
              <a:buNone/>
            </a:pPr>
            <a:r>
              <a:rPr lang="en-US" dirty="0"/>
              <a:t>the dose applied</a:t>
            </a:r>
          </a:p>
          <a:p>
            <a:pPr marL="0" indent="0">
              <a:buNone/>
            </a:pPr>
            <a:r>
              <a:rPr lang="en-US" dirty="0"/>
              <a:t>E) contact sensitivity to an agent that is</a:t>
            </a:r>
          </a:p>
          <a:p>
            <a:pPr marL="0" indent="0">
              <a:buNone/>
            </a:pPr>
            <a:r>
              <a:rPr lang="en-US" dirty="0"/>
              <a:t>systemically administered may cause</a:t>
            </a:r>
          </a:p>
          <a:p>
            <a:pPr marL="0" indent="0">
              <a:buNone/>
            </a:pPr>
            <a:r>
              <a:rPr lang="en-US" dirty="0"/>
              <a:t>symptoms such as headache, malaise, and</a:t>
            </a:r>
          </a:p>
          <a:p>
            <a:pPr marL="0" indent="0">
              <a:buNone/>
            </a:pPr>
            <a:r>
              <a:rPr lang="en-US" dirty="0"/>
              <a:t>arthralgia</a:t>
            </a:r>
          </a:p>
        </p:txBody>
      </p:sp>
    </p:spTree>
    <p:extLst>
      <p:ext uri="{BB962C8B-B14F-4D97-AF65-F5344CB8AC3E}">
        <p14:creationId xmlns:p14="http://schemas.microsoft.com/office/powerpoint/2010/main" val="159531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049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28. Which of the following is NOT characteristic of</a:t>
            </a:r>
          </a:p>
          <a:p>
            <a:pPr marL="0" indent="0">
              <a:buNone/>
            </a:pPr>
            <a:r>
              <a:rPr lang="en-US" dirty="0"/>
              <a:t>allergic contact dermatitis</a:t>
            </a:r>
            <a:r>
              <a:rPr lang="en-US" dirty="0" smtClean="0"/>
              <a:t>? </a:t>
            </a:r>
          </a:p>
          <a:p>
            <a:pPr marL="0" indent="0">
              <a:buNone/>
            </a:pPr>
            <a:r>
              <a:rPr lang="en-US" dirty="0" smtClean="0"/>
              <a:t>A</a:t>
            </a:r>
            <a:r>
              <a:rPr lang="en-US" dirty="0"/>
              <a:t>) low molecular weight chemicals (</a:t>
            </a:r>
            <a:r>
              <a:rPr lang="en-US" dirty="0" err="1"/>
              <a:t>haptens</a:t>
            </a:r>
            <a:r>
              <a:rPr lang="en-US" dirty="0"/>
              <a:t>) are</a:t>
            </a:r>
          </a:p>
          <a:p>
            <a:pPr marL="0" indent="0">
              <a:buNone/>
            </a:pPr>
            <a:r>
              <a:rPr lang="en-US" dirty="0"/>
              <a:t>most often </a:t>
            </a:r>
            <a:r>
              <a:rPr lang="en-US" dirty="0" smtClean="0"/>
              <a:t>responsible </a:t>
            </a:r>
            <a:r>
              <a:rPr lang="en-US" dirty="0" smtClean="0">
                <a:solidFill>
                  <a:srgbClr val="FF0000"/>
                </a:solidFill>
              </a:rPr>
              <a:t>– true penetrate lipid barrier detected by immune system attach to carrier proteins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minute quantities of an allergenic chemical</a:t>
            </a:r>
          </a:p>
          <a:p>
            <a:pPr marL="0" indent="0">
              <a:buNone/>
            </a:pPr>
            <a:r>
              <a:rPr lang="en-US" dirty="0"/>
              <a:t>may elicit an overt </a:t>
            </a:r>
            <a:r>
              <a:rPr lang="en-US" dirty="0" smtClean="0"/>
              <a:t>reaction - </a:t>
            </a:r>
            <a:r>
              <a:rPr lang="en-US" dirty="0" smtClean="0">
                <a:solidFill>
                  <a:srgbClr val="FF0000"/>
                </a:solidFill>
              </a:rPr>
              <a:t>true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sensitization must occur </a:t>
            </a:r>
            <a:r>
              <a:rPr lang="en-US" dirty="0" smtClean="0"/>
              <a:t>first </a:t>
            </a:r>
            <a:r>
              <a:rPr lang="en-US" dirty="0" smtClean="0">
                <a:solidFill>
                  <a:srgbClr val="FF0000"/>
                </a:solidFill>
              </a:rPr>
              <a:t>– delayed T-cell mediated hypersensitivity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D) the intensity of the reaction is proportional to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dose </a:t>
            </a:r>
            <a:r>
              <a:rPr lang="en-US" dirty="0" smtClean="0">
                <a:solidFill>
                  <a:srgbClr val="FF0000"/>
                </a:solidFill>
              </a:rPr>
              <a:t>applied – true for contact irritants not allergic contact dermatitis, reactions happen at very small doses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contact sensitivity to an agent that </a:t>
            </a:r>
            <a:r>
              <a:rPr lang="en-US" dirty="0" smtClean="0"/>
              <a:t>is systemically </a:t>
            </a:r>
            <a:r>
              <a:rPr lang="en-US" dirty="0"/>
              <a:t>administered may </a:t>
            </a:r>
            <a:r>
              <a:rPr lang="en-US" dirty="0" smtClean="0"/>
              <a:t>cause symptoms </a:t>
            </a:r>
            <a:r>
              <a:rPr lang="en-US" dirty="0"/>
              <a:t>such as headache, malaise, </a:t>
            </a:r>
            <a:r>
              <a:rPr lang="en-US" dirty="0" smtClean="0"/>
              <a:t>and arthralgia - </a:t>
            </a:r>
          </a:p>
          <a:p>
            <a:pPr marL="0" indent="0">
              <a:buNone/>
            </a:pPr>
            <a:r>
              <a:rPr lang="en-US" dirty="0" smtClean="0"/>
              <a:t>C&amp;D skin </a:t>
            </a:r>
            <a:r>
              <a:rPr lang="en-US" dirty="0" err="1" smtClean="0"/>
              <a:t>chp</a:t>
            </a:r>
            <a:r>
              <a:rPr lang="en-US" dirty="0" smtClean="0"/>
              <a:t> 19 </a:t>
            </a:r>
            <a:r>
              <a:rPr lang="en-US" dirty="0" err="1" smtClean="0"/>
              <a:t>pg</a:t>
            </a:r>
            <a:r>
              <a:rPr lang="en-US" dirty="0" smtClean="0"/>
              <a:t> 845 essentials of </a:t>
            </a:r>
            <a:r>
              <a:rPr lang="en-US" dirty="0" err="1" smtClean="0"/>
              <a:t>tox</a:t>
            </a:r>
            <a:r>
              <a:rPr lang="en-US" dirty="0" smtClean="0"/>
              <a:t> </a:t>
            </a:r>
            <a:r>
              <a:rPr lang="en-US" dirty="0" err="1" smtClean="0"/>
              <a:t>pg</a:t>
            </a:r>
            <a:r>
              <a:rPr lang="en-US" dirty="0" smtClean="0"/>
              <a:t> 295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9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29. Which ocular tissue is highly vulnerable to</a:t>
            </a:r>
          </a:p>
          <a:p>
            <a:pPr marL="0" indent="0">
              <a:buNone/>
            </a:pPr>
            <a:r>
              <a:rPr lang="en-US" dirty="0"/>
              <a:t>systemic, toxicant induced structural and/or</a:t>
            </a:r>
          </a:p>
          <a:p>
            <a:pPr marL="0" indent="0">
              <a:buNone/>
            </a:pPr>
            <a:r>
              <a:rPr lang="en-US" dirty="0"/>
              <a:t>functional damage?</a:t>
            </a:r>
          </a:p>
          <a:p>
            <a:pPr marL="0" indent="0">
              <a:buNone/>
            </a:pPr>
            <a:r>
              <a:rPr lang="en-US" dirty="0"/>
              <a:t>A) iris</a:t>
            </a:r>
          </a:p>
          <a:p>
            <a:pPr marL="0" indent="0">
              <a:buNone/>
            </a:pPr>
            <a:r>
              <a:rPr lang="en-US" dirty="0"/>
              <a:t>B) lens</a:t>
            </a:r>
          </a:p>
          <a:p>
            <a:pPr marL="0" indent="0">
              <a:buNone/>
            </a:pPr>
            <a:r>
              <a:rPr lang="en-US" dirty="0"/>
              <a:t>C) cornea</a:t>
            </a:r>
          </a:p>
          <a:p>
            <a:pPr marL="0" indent="0">
              <a:buNone/>
            </a:pPr>
            <a:r>
              <a:rPr lang="en-US" dirty="0"/>
              <a:t>D) ciliary body</a:t>
            </a:r>
          </a:p>
          <a:p>
            <a:pPr marL="0" indent="0">
              <a:buNone/>
            </a:pPr>
            <a:r>
              <a:rPr lang="en-US" dirty="0"/>
              <a:t>E) retina</a:t>
            </a:r>
          </a:p>
        </p:txBody>
      </p:sp>
    </p:spTree>
    <p:extLst>
      <p:ext uri="{BB962C8B-B14F-4D97-AF65-F5344CB8AC3E}">
        <p14:creationId xmlns:p14="http://schemas.microsoft.com/office/powerpoint/2010/main" val="124588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29. Which ocular tissue is highly vulnerable to</a:t>
            </a:r>
          </a:p>
          <a:p>
            <a:pPr marL="0" indent="0">
              <a:buNone/>
            </a:pPr>
            <a:r>
              <a:rPr lang="en-US" dirty="0"/>
              <a:t>systemic, toxicant induced structural and/or</a:t>
            </a:r>
          </a:p>
          <a:p>
            <a:pPr marL="0" indent="0">
              <a:buNone/>
            </a:pPr>
            <a:r>
              <a:rPr lang="en-US" dirty="0"/>
              <a:t>functional damage?</a:t>
            </a:r>
          </a:p>
          <a:p>
            <a:pPr marL="0" indent="0">
              <a:buNone/>
            </a:pPr>
            <a:r>
              <a:rPr lang="en-US" dirty="0"/>
              <a:t>A) iris</a:t>
            </a:r>
          </a:p>
          <a:p>
            <a:pPr marL="0" indent="0">
              <a:buNone/>
            </a:pPr>
            <a:r>
              <a:rPr lang="en-US" dirty="0"/>
              <a:t>B) lens</a:t>
            </a:r>
          </a:p>
          <a:p>
            <a:pPr marL="0" indent="0">
              <a:buNone/>
            </a:pPr>
            <a:r>
              <a:rPr lang="en-US" dirty="0"/>
              <a:t>C) cornea</a:t>
            </a:r>
          </a:p>
          <a:p>
            <a:pPr marL="0" indent="0">
              <a:buNone/>
            </a:pPr>
            <a:r>
              <a:rPr lang="en-US" dirty="0"/>
              <a:t>D) ciliary body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E) </a:t>
            </a:r>
            <a:r>
              <a:rPr lang="en-US" dirty="0" smtClean="0">
                <a:solidFill>
                  <a:srgbClr val="FF0000"/>
                </a:solidFill>
              </a:rPr>
              <a:t>Retina – due to fenestrated </a:t>
            </a:r>
            <a:r>
              <a:rPr lang="en-US" dirty="0" err="1" smtClean="0">
                <a:solidFill>
                  <a:srgbClr val="FF0000"/>
                </a:solidFill>
              </a:rPr>
              <a:t>choricocapillaries</a:t>
            </a:r>
            <a:r>
              <a:rPr lang="en-US" dirty="0" smtClean="0">
                <a:solidFill>
                  <a:srgbClr val="FF0000"/>
                </a:solidFill>
              </a:rPr>
              <a:t> high rate metabolism, high turnover rods/cones and susceptibility to </a:t>
            </a:r>
            <a:r>
              <a:rPr lang="en-US" dirty="0" err="1" smtClean="0">
                <a:solidFill>
                  <a:srgbClr val="FF0000"/>
                </a:solidFill>
              </a:rPr>
              <a:t>degeration</a:t>
            </a:r>
            <a:r>
              <a:rPr lang="en-US" dirty="0" smtClean="0">
                <a:solidFill>
                  <a:srgbClr val="FF0000"/>
                </a:solidFill>
              </a:rPr>
              <a:t>…..10 reasons</a:t>
            </a:r>
          </a:p>
          <a:p>
            <a:pPr marL="0" indent="0">
              <a:buNone/>
            </a:pPr>
            <a:r>
              <a:rPr lang="en-US" dirty="0" smtClean="0"/>
              <a:t>C&amp;D ch17 </a:t>
            </a:r>
            <a:r>
              <a:rPr lang="en-US" dirty="0" err="1" smtClean="0"/>
              <a:t>pg</a:t>
            </a:r>
            <a:r>
              <a:rPr lang="en-US" dirty="0" smtClean="0"/>
              <a:t> 781 essentials of </a:t>
            </a:r>
            <a:r>
              <a:rPr lang="en-US" dirty="0" err="1" smtClean="0"/>
              <a:t>tox</a:t>
            </a:r>
            <a:r>
              <a:rPr lang="en-US" dirty="0" smtClean="0"/>
              <a:t> </a:t>
            </a:r>
            <a:r>
              <a:rPr lang="en-US" dirty="0" err="1" smtClean="0"/>
              <a:t>pg</a:t>
            </a:r>
            <a:r>
              <a:rPr lang="en-US" dirty="0" smtClean="0"/>
              <a:t> 265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87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30. The oral anticoagulant, warfarin, modulates</a:t>
            </a:r>
          </a:p>
          <a:p>
            <a:pPr marL="0" indent="0">
              <a:buNone/>
            </a:pPr>
            <a:r>
              <a:rPr lang="en-US" dirty="0"/>
              <a:t>hemostasis by interfering with vitamin K </a:t>
            </a:r>
            <a:r>
              <a:rPr lang="en-US" dirty="0" smtClean="0"/>
              <a:t>metabolism resulting in </a:t>
            </a:r>
          </a:p>
          <a:p>
            <a:pPr marL="0" indent="0">
              <a:buNone/>
            </a:pPr>
            <a:r>
              <a:rPr lang="en-US" dirty="0" smtClean="0"/>
              <a:t>A</a:t>
            </a:r>
            <a:r>
              <a:rPr lang="en-US" dirty="0"/>
              <a:t>) increased fibrinolytic activity</a:t>
            </a:r>
          </a:p>
          <a:p>
            <a:pPr marL="0" indent="0">
              <a:buNone/>
            </a:pPr>
            <a:r>
              <a:rPr lang="en-US" dirty="0"/>
              <a:t>B) decreased vitamin K epoxide levels</a:t>
            </a:r>
          </a:p>
          <a:p>
            <a:pPr marL="0" indent="0">
              <a:buNone/>
            </a:pPr>
            <a:r>
              <a:rPr lang="en-US" dirty="0"/>
              <a:t>C) decreased </a:t>
            </a:r>
            <a:r>
              <a:rPr lang="en-US" dirty="0" err="1"/>
              <a:t>fibrogen</a:t>
            </a:r>
            <a:r>
              <a:rPr lang="en-US" dirty="0"/>
              <a:t> levels</a:t>
            </a:r>
          </a:p>
          <a:p>
            <a:pPr marL="0" indent="0">
              <a:buNone/>
            </a:pPr>
            <a:r>
              <a:rPr lang="en-US" dirty="0"/>
              <a:t>D) decreased clotting factors IX and X</a:t>
            </a:r>
          </a:p>
          <a:p>
            <a:pPr marL="0" indent="0">
              <a:buNone/>
            </a:pPr>
            <a:r>
              <a:rPr lang="en-US" dirty="0"/>
              <a:t>E) thrombocytopenia</a:t>
            </a:r>
          </a:p>
        </p:txBody>
      </p:sp>
    </p:spTree>
    <p:extLst>
      <p:ext uri="{BB962C8B-B14F-4D97-AF65-F5344CB8AC3E}">
        <p14:creationId xmlns:p14="http://schemas.microsoft.com/office/powerpoint/2010/main" val="245344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30. The oral anticoagulant, warfarin, modulates</a:t>
            </a:r>
          </a:p>
          <a:p>
            <a:pPr marL="0" indent="0">
              <a:buNone/>
            </a:pPr>
            <a:r>
              <a:rPr lang="en-US" dirty="0"/>
              <a:t>hemostasis by interfering with vitamin K </a:t>
            </a:r>
            <a:r>
              <a:rPr lang="en-US" dirty="0" smtClean="0"/>
              <a:t>metabolism resulting in </a:t>
            </a:r>
          </a:p>
          <a:p>
            <a:pPr marL="0" indent="0">
              <a:buNone/>
            </a:pPr>
            <a:r>
              <a:rPr lang="en-US" dirty="0" smtClean="0"/>
              <a:t>A</a:t>
            </a:r>
            <a:r>
              <a:rPr lang="en-US" dirty="0"/>
              <a:t>) increased fibrinolytic activity</a:t>
            </a:r>
          </a:p>
          <a:p>
            <a:pPr marL="0" indent="0">
              <a:buNone/>
            </a:pPr>
            <a:r>
              <a:rPr lang="en-US" dirty="0"/>
              <a:t>B) decreased vitamin K epoxide </a:t>
            </a:r>
            <a:r>
              <a:rPr lang="en-US" dirty="0" smtClean="0"/>
              <a:t>levels </a:t>
            </a:r>
            <a:r>
              <a:rPr lang="en-US" dirty="0" smtClean="0">
                <a:solidFill>
                  <a:srgbClr val="FF0000"/>
                </a:solidFill>
              </a:rPr>
              <a:t>– doesn’t decrease it </a:t>
            </a:r>
            <a:r>
              <a:rPr lang="en-US" u="sng" dirty="0" smtClean="0">
                <a:solidFill>
                  <a:srgbClr val="FF0000"/>
                </a:solidFill>
              </a:rPr>
              <a:t>inhibits</a:t>
            </a:r>
            <a:r>
              <a:rPr lang="en-US" dirty="0" smtClean="0">
                <a:solidFill>
                  <a:srgbClr val="FF0000"/>
                </a:solidFill>
              </a:rPr>
              <a:t> vitamin K epoxide that is responsible to </a:t>
            </a:r>
            <a:r>
              <a:rPr lang="en-US" smtClean="0">
                <a:solidFill>
                  <a:srgbClr val="FF0000"/>
                </a:solidFill>
              </a:rPr>
              <a:t>regenerate reduced </a:t>
            </a:r>
            <a:r>
              <a:rPr lang="en-US" dirty="0" smtClean="0">
                <a:solidFill>
                  <a:srgbClr val="FF0000"/>
                </a:solidFill>
              </a:rPr>
              <a:t>vitamin K levels which synthesizes clotting factors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decreased </a:t>
            </a:r>
            <a:r>
              <a:rPr lang="en-US" dirty="0" err="1"/>
              <a:t>fibrogen</a:t>
            </a:r>
            <a:r>
              <a:rPr lang="en-US" dirty="0"/>
              <a:t> levels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D) decreased clotting factors IX and X - most common mechanism for interference with anticoagulants is inhibition of CYP2C9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</a:t>
            </a:r>
            <a:r>
              <a:rPr lang="en-US" dirty="0" smtClean="0"/>
              <a:t>Thrombocytopenia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C&amp;D </a:t>
            </a:r>
            <a:r>
              <a:rPr lang="en-US" dirty="0" err="1" smtClean="0"/>
              <a:t>chp</a:t>
            </a:r>
            <a:r>
              <a:rPr lang="en-US" dirty="0" smtClean="0"/>
              <a:t> 11 </a:t>
            </a:r>
            <a:r>
              <a:rPr lang="en-US" dirty="0" err="1" smtClean="0"/>
              <a:t>pg</a:t>
            </a:r>
            <a:r>
              <a:rPr lang="en-US" dirty="0" smtClean="0"/>
              <a:t> 547 essentials </a:t>
            </a:r>
            <a:r>
              <a:rPr lang="en-US" dirty="0" err="1" smtClean="0"/>
              <a:t>pg</a:t>
            </a:r>
            <a:r>
              <a:rPr lang="en-US" dirty="0" smtClean="0"/>
              <a:t> 172/344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97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31. Which of the following agents specifically</a:t>
            </a:r>
          </a:p>
          <a:p>
            <a:pPr marL="0" indent="0">
              <a:buNone/>
            </a:pPr>
            <a:r>
              <a:rPr lang="en-US" dirty="0"/>
              <a:t>accumulates in hepatic stellate cells?</a:t>
            </a:r>
          </a:p>
          <a:p>
            <a:pPr marL="0" indent="0">
              <a:buNone/>
            </a:pPr>
            <a:r>
              <a:rPr lang="en-US" dirty="0"/>
              <a:t>A) iron</a:t>
            </a:r>
          </a:p>
          <a:p>
            <a:pPr marL="0" indent="0">
              <a:buNone/>
            </a:pPr>
            <a:r>
              <a:rPr lang="en-US" dirty="0"/>
              <a:t>B) vitamin A</a:t>
            </a:r>
          </a:p>
          <a:p>
            <a:pPr marL="0" indent="0">
              <a:buNone/>
            </a:pPr>
            <a:r>
              <a:rPr lang="en-US" dirty="0"/>
              <a:t>C) endotoxin</a:t>
            </a:r>
          </a:p>
          <a:p>
            <a:pPr marL="0" indent="0">
              <a:buNone/>
            </a:pPr>
            <a:r>
              <a:rPr lang="en-US" dirty="0"/>
              <a:t>D) acetaminophen</a:t>
            </a:r>
          </a:p>
          <a:p>
            <a:pPr marL="0" indent="0">
              <a:buNone/>
            </a:pPr>
            <a:r>
              <a:rPr lang="en-US" dirty="0"/>
              <a:t>E) pyrrolizidine alkaloids</a:t>
            </a:r>
          </a:p>
        </p:txBody>
      </p:sp>
    </p:spTree>
    <p:extLst>
      <p:ext uri="{BB962C8B-B14F-4D97-AF65-F5344CB8AC3E}">
        <p14:creationId xmlns:p14="http://schemas.microsoft.com/office/powerpoint/2010/main" val="316562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31. Which of the following agents specifically</a:t>
            </a:r>
          </a:p>
          <a:p>
            <a:pPr marL="0" indent="0">
              <a:buNone/>
            </a:pPr>
            <a:r>
              <a:rPr lang="en-US" dirty="0"/>
              <a:t>accumulates in hepatic stellate cells?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en-US" dirty="0" smtClean="0"/>
              <a:t>Iron </a:t>
            </a:r>
            <a:r>
              <a:rPr lang="en-US" dirty="0" smtClean="0">
                <a:solidFill>
                  <a:srgbClr val="FF0000"/>
                </a:solidFill>
              </a:rPr>
              <a:t>– zone 1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vitamin </a:t>
            </a:r>
            <a:r>
              <a:rPr lang="en-US" dirty="0" smtClean="0">
                <a:solidFill>
                  <a:srgbClr val="FF0000"/>
                </a:solidFill>
              </a:rPr>
              <a:t>A – preferential site for storage and </a:t>
            </a:r>
            <a:r>
              <a:rPr lang="en-US" dirty="0" err="1" smtClean="0">
                <a:solidFill>
                  <a:srgbClr val="FF0000"/>
                </a:solidFill>
              </a:rPr>
              <a:t>engorgememt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smtClean="0"/>
              <a:t>Endotoxin –</a:t>
            </a:r>
            <a:r>
              <a:rPr lang="en-US" dirty="0" err="1" smtClean="0">
                <a:solidFill>
                  <a:srgbClr val="FF0000"/>
                </a:solidFill>
              </a:rPr>
              <a:t>kupffer</a:t>
            </a:r>
            <a:r>
              <a:rPr lang="en-US" dirty="0" smtClean="0">
                <a:solidFill>
                  <a:srgbClr val="FF0000"/>
                </a:solidFill>
              </a:rPr>
              <a:t> cells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smtClean="0"/>
              <a:t>Acetaminophen – </a:t>
            </a:r>
            <a:r>
              <a:rPr lang="en-US" dirty="0" smtClean="0">
                <a:solidFill>
                  <a:srgbClr val="FF0000"/>
                </a:solidFill>
              </a:rPr>
              <a:t>zone 3 hepatocytes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pyrrolizidine </a:t>
            </a:r>
            <a:r>
              <a:rPr lang="en-US" dirty="0" smtClean="0"/>
              <a:t>alkaloids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C&amp;D </a:t>
            </a:r>
            <a:r>
              <a:rPr lang="en-US" dirty="0" err="1" smtClean="0"/>
              <a:t>chp</a:t>
            </a:r>
            <a:r>
              <a:rPr lang="en-US" dirty="0" smtClean="0"/>
              <a:t> 13 </a:t>
            </a:r>
            <a:r>
              <a:rPr lang="en-US" dirty="0" err="1" smtClean="0"/>
              <a:t>pg</a:t>
            </a:r>
            <a:r>
              <a:rPr lang="en-US" dirty="0" smtClean="0"/>
              <a:t> 649 table 13-3 essentials </a:t>
            </a:r>
            <a:r>
              <a:rPr lang="en-US" dirty="0" err="1" smtClean="0"/>
              <a:t>tox</a:t>
            </a:r>
            <a:r>
              <a:rPr lang="en-US" dirty="0" smtClean="0"/>
              <a:t> </a:t>
            </a:r>
            <a:r>
              <a:rPr lang="en-US" dirty="0" err="1" smtClean="0"/>
              <a:t>pg</a:t>
            </a:r>
            <a:r>
              <a:rPr lang="en-US" dirty="0" smtClean="0"/>
              <a:t> 202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33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32. Which of the following is the primary function </a:t>
            </a:r>
            <a:r>
              <a:rPr lang="en-US" dirty="0" smtClean="0"/>
              <a:t>for </a:t>
            </a:r>
            <a:r>
              <a:rPr lang="en-US" dirty="0" err="1" smtClean="0"/>
              <a:t>Kupffer</a:t>
            </a:r>
            <a:r>
              <a:rPr lang="en-US" dirty="0" smtClean="0"/>
              <a:t> </a:t>
            </a:r>
            <a:r>
              <a:rPr lang="en-US" dirty="0"/>
              <a:t>cells in the liver?</a:t>
            </a:r>
          </a:p>
          <a:p>
            <a:pPr marL="0" indent="0">
              <a:buNone/>
            </a:pPr>
            <a:r>
              <a:rPr lang="en-US" dirty="0"/>
              <a:t>A) support the cords of hepatocytes in the liver</a:t>
            </a:r>
          </a:p>
          <a:p>
            <a:pPr marL="0" indent="0">
              <a:buNone/>
            </a:pPr>
            <a:r>
              <a:rPr lang="en-US" dirty="0"/>
              <a:t>B) macrophages that ingest and degrade</a:t>
            </a:r>
          </a:p>
          <a:p>
            <a:pPr marL="0" indent="0">
              <a:buNone/>
            </a:pPr>
            <a:r>
              <a:rPr lang="en-US" dirty="0"/>
              <a:t>particulate matter</a:t>
            </a:r>
          </a:p>
          <a:p>
            <a:pPr marL="0" indent="0">
              <a:buNone/>
            </a:pPr>
            <a:r>
              <a:rPr lang="en-US" dirty="0"/>
              <a:t>C) provide support to bile ducts</a:t>
            </a:r>
          </a:p>
          <a:p>
            <a:pPr marL="0" indent="0">
              <a:buNone/>
            </a:pPr>
            <a:r>
              <a:rPr lang="en-US" dirty="0"/>
              <a:t>D) play a major role in the formation of bile</a:t>
            </a:r>
          </a:p>
          <a:p>
            <a:pPr marL="0" indent="0">
              <a:buNone/>
            </a:pPr>
            <a:r>
              <a:rPr lang="en-US" dirty="0"/>
              <a:t>E) provide nutrient homeostasis</a:t>
            </a:r>
          </a:p>
        </p:txBody>
      </p:sp>
    </p:spTree>
    <p:extLst>
      <p:ext uri="{BB962C8B-B14F-4D97-AF65-F5344CB8AC3E}">
        <p14:creationId xmlns:p14="http://schemas.microsoft.com/office/powerpoint/2010/main" val="6285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32. Which of the following is the primary function </a:t>
            </a:r>
            <a:r>
              <a:rPr lang="en-US" dirty="0" smtClean="0"/>
              <a:t>for </a:t>
            </a:r>
            <a:r>
              <a:rPr lang="en-US" dirty="0" err="1" smtClean="0"/>
              <a:t>Kupffer</a:t>
            </a:r>
            <a:r>
              <a:rPr lang="en-US" dirty="0" smtClean="0"/>
              <a:t> </a:t>
            </a:r>
            <a:r>
              <a:rPr lang="en-US" dirty="0"/>
              <a:t>cells in the liver?</a:t>
            </a:r>
          </a:p>
          <a:p>
            <a:pPr marL="0" indent="0">
              <a:buNone/>
            </a:pPr>
            <a:r>
              <a:rPr lang="en-US" dirty="0"/>
              <a:t>A) support the cords of hepatocytes in the liver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macrophages that ingest and degrade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particulate matter</a:t>
            </a:r>
          </a:p>
          <a:p>
            <a:pPr marL="0" indent="0">
              <a:buNone/>
            </a:pPr>
            <a:r>
              <a:rPr lang="en-US" dirty="0"/>
              <a:t>C) provide support to bile ducts</a:t>
            </a:r>
          </a:p>
          <a:p>
            <a:pPr marL="0" indent="0">
              <a:buNone/>
            </a:pPr>
            <a:r>
              <a:rPr lang="en-US" dirty="0"/>
              <a:t>D) play a major role in the formation of bile</a:t>
            </a:r>
          </a:p>
          <a:p>
            <a:pPr marL="0" indent="0">
              <a:buNone/>
            </a:pPr>
            <a:r>
              <a:rPr lang="en-US" dirty="0"/>
              <a:t>E) provide nutrient </a:t>
            </a:r>
            <a:r>
              <a:rPr lang="en-US" dirty="0" smtClean="0"/>
              <a:t>homeostasis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C&amp;D </a:t>
            </a:r>
            <a:r>
              <a:rPr lang="en-US" dirty="0" err="1" smtClean="0"/>
              <a:t>chp</a:t>
            </a:r>
            <a:r>
              <a:rPr lang="en-US" dirty="0" smtClean="0"/>
              <a:t> 13 </a:t>
            </a:r>
            <a:r>
              <a:rPr lang="en-US" dirty="0" err="1" smtClean="0"/>
              <a:t>pg</a:t>
            </a:r>
            <a:r>
              <a:rPr lang="en-US" dirty="0" smtClean="0"/>
              <a:t> 641 essentials </a:t>
            </a:r>
            <a:r>
              <a:rPr lang="en-US" dirty="0" err="1" smtClean="0"/>
              <a:t>pg</a:t>
            </a:r>
            <a:r>
              <a:rPr lang="en-US" dirty="0" smtClean="0"/>
              <a:t> 197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33. The </a:t>
            </a:r>
            <a:r>
              <a:rPr lang="en-US" i="1" dirty="0"/>
              <a:t>in vivo </a:t>
            </a:r>
            <a:r>
              <a:rPr lang="en-US" dirty="0"/>
              <a:t>micronucleus test is often used in a</a:t>
            </a:r>
          </a:p>
          <a:p>
            <a:pPr marL="0" indent="0">
              <a:buNone/>
            </a:pPr>
            <a:r>
              <a:rPr lang="en-US" dirty="0"/>
              <a:t>standard battery of genetic toxicity assays. In this test</a:t>
            </a:r>
            <a:r>
              <a:rPr lang="en-US" dirty="0" smtClean="0"/>
              <a:t>, the </a:t>
            </a:r>
            <a:r>
              <a:rPr lang="en-US" dirty="0"/>
              <a:t>micronuclei are defined as which of </a:t>
            </a:r>
            <a:r>
              <a:rPr lang="en-US" dirty="0" smtClean="0"/>
              <a:t>the following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en-US" dirty="0" err="1"/>
              <a:t>pyknotic</a:t>
            </a:r>
            <a:r>
              <a:rPr lang="en-US" dirty="0"/>
              <a:t> nuclei from a cell with decreased</a:t>
            </a:r>
          </a:p>
          <a:p>
            <a:pPr marL="0" indent="0">
              <a:buNone/>
            </a:pPr>
            <a:r>
              <a:rPr lang="en-US" dirty="0"/>
              <a:t>cytoplasmic to nuclear ratios</a:t>
            </a:r>
          </a:p>
          <a:p>
            <a:pPr marL="0" indent="0">
              <a:buNone/>
            </a:pPr>
            <a:r>
              <a:rPr lang="en-US" dirty="0"/>
              <a:t>B) clumps of ribosomes</a:t>
            </a:r>
          </a:p>
          <a:p>
            <a:pPr marL="0" indent="0">
              <a:buNone/>
            </a:pPr>
            <a:r>
              <a:rPr lang="en-US" dirty="0"/>
              <a:t>C) membrane-bounded structures that contain</a:t>
            </a:r>
          </a:p>
          <a:p>
            <a:pPr marL="0" indent="0">
              <a:buNone/>
            </a:pPr>
            <a:r>
              <a:rPr lang="en-US" dirty="0"/>
              <a:t>chromosomal fragments or whole</a:t>
            </a:r>
          </a:p>
          <a:p>
            <a:pPr marL="0" indent="0">
              <a:buNone/>
            </a:pPr>
            <a:r>
              <a:rPr lang="en-US" dirty="0"/>
              <a:t>chromosomes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binucleated</a:t>
            </a:r>
            <a:r>
              <a:rPr lang="en-US" dirty="0"/>
              <a:t> remnants of germ cells</a:t>
            </a:r>
          </a:p>
          <a:p>
            <a:pPr marL="0" indent="0">
              <a:buNone/>
            </a:pPr>
            <a:r>
              <a:rPr lang="en-US" dirty="0"/>
              <a:t>E) dense bodies of lysosomal origin</a:t>
            </a:r>
          </a:p>
        </p:txBody>
      </p:sp>
    </p:spTree>
    <p:extLst>
      <p:ext uri="{BB962C8B-B14F-4D97-AF65-F5344CB8AC3E}">
        <p14:creationId xmlns:p14="http://schemas.microsoft.com/office/powerpoint/2010/main" val="113002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33. The </a:t>
            </a:r>
            <a:r>
              <a:rPr lang="en-US" i="1" dirty="0"/>
              <a:t>in vivo </a:t>
            </a:r>
            <a:r>
              <a:rPr lang="en-US" dirty="0"/>
              <a:t>micronucleus test is often used in a</a:t>
            </a:r>
          </a:p>
          <a:p>
            <a:pPr marL="0" indent="0">
              <a:buNone/>
            </a:pPr>
            <a:r>
              <a:rPr lang="en-US" dirty="0"/>
              <a:t>standard battery of genetic toxicity assays. In this test</a:t>
            </a:r>
            <a:r>
              <a:rPr lang="en-US" dirty="0" smtClean="0"/>
              <a:t>, the </a:t>
            </a:r>
            <a:r>
              <a:rPr lang="en-US" dirty="0"/>
              <a:t>micronuclei are defined as which of </a:t>
            </a:r>
            <a:r>
              <a:rPr lang="en-US" dirty="0" smtClean="0"/>
              <a:t>the following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en-US" dirty="0" err="1"/>
              <a:t>pyknotic</a:t>
            </a:r>
            <a:r>
              <a:rPr lang="en-US" dirty="0"/>
              <a:t> nuclei from a cell with decreased</a:t>
            </a:r>
          </a:p>
          <a:p>
            <a:pPr marL="0" indent="0">
              <a:buNone/>
            </a:pPr>
            <a:r>
              <a:rPr lang="en-US" dirty="0"/>
              <a:t>cytoplasmic to nuclear ratios</a:t>
            </a:r>
          </a:p>
          <a:p>
            <a:pPr marL="0" indent="0">
              <a:buNone/>
            </a:pPr>
            <a:r>
              <a:rPr lang="en-US" dirty="0"/>
              <a:t>B) clumps of ribosomes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membrane-bounded structures that contain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chromosomal fragments or </a:t>
            </a:r>
            <a:r>
              <a:rPr lang="en-US" dirty="0" smtClean="0">
                <a:solidFill>
                  <a:srgbClr val="FF0000"/>
                </a:solidFill>
              </a:rPr>
              <a:t>whole chromosomes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binucleated</a:t>
            </a:r>
            <a:r>
              <a:rPr lang="en-US" dirty="0"/>
              <a:t> remnants of germ cells</a:t>
            </a:r>
          </a:p>
          <a:p>
            <a:pPr marL="0" indent="0">
              <a:buNone/>
            </a:pPr>
            <a:r>
              <a:rPr lang="en-US" dirty="0"/>
              <a:t>E) dense bodies of lysosomal </a:t>
            </a:r>
            <a:r>
              <a:rPr lang="en-US" dirty="0" smtClean="0"/>
              <a:t>origin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C&amp;D </a:t>
            </a:r>
            <a:r>
              <a:rPr lang="en-US" dirty="0" err="1" smtClean="0"/>
              <a:t>chp</a:t>
            </a:r>
            <a:r>
              <a:rPr lang="en-US" dirty="0" smtClean="0"/>
              <a:t> 9 pg466 essentials </a:t>
            </a:r>
            <a:r>
              <a:rPr lang="en-US" dirty="0" err="1" smtClean="0"/>
              <a:t>tox</a:t>
            </a:r>
            <a:r>
              <a:rPr lang="en-US" dirty="0" smtClean="0"/>
              <a:t> </a:t>
            </a:r>
            <a:r>
              <a:rPr lang="en-US" dirty="0" err="1" smtClean="0"/>
              <a:t>pg</a:t>
            </a:r>
            <a:r>
              <a:rPr lang="en-US" dirty="0" smtClean="0"/>
              <a:t> 143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96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34. Which of the following answers is CORRECT</a:t>
            </a:r>
          </a:p>
          <a:p>
            <a:pPr marL="0" indent="0">
              <a:buNone/>
            </a:pPr>
            <a:r>
              <a:rPr lang="en-US" dirty="0"/>
              <a:t>regarding IARC Class 1 carcinogens with a sufficient</a:t>
            </a:r>
          </a:p>
          <a:p>
            <a:pPr marL="0" indent="0">
              <a:buNone/>
            </a:pPr>
            <a:r>
              <a:rPr lang="en-US" dirty="0"/>
              <a:t>evidence (causal relationships) for human</a:t>
            </a:r>
          </a:p>
          <a:p>
            <a:pPr marL="0" indent="0">
              <a:buNone/>
            </a:pPr>
            <a:r>
              <a:rPr lang="en-US" dirty="0"/>
              <a:t>carcinogenicity?</a:t>
            </a:r>
          </a:p>
          <a:p>
            <a:pPr marL="0" indent="0">
              <a:buNone/>
            </a:pPr>
            <a:r>
              <a:rPr lang="en-US" dirty="0"/>
              <a:t>A) arsenic, </a:t>
            </a:r>
            <a:r>
              <a:rPr lang="en-US" dirty="0" err="1"/>
              <a:t>benz</a:t>
            </a:r>
            <a:r>
              <a:rPr lang="en-US" dirty="0"/>
              <a:t>(a)anthracene,</a:t>
            </a:r>
          </a:p>
          <a:p>
            <a:pPr marL="0" indent="0">
              <a:buNone/>
            </a:pPr>
            <a:r>
              <a:rPr lang="en-US" dirty="0" err="1"/>
              <a:t>diethylnitrosamine</a:t>
            </a:r>
            <a:r>
              <a:rPr lang="en-US" dirty="0"/>
              <a:t>, urethane, estrogens</a:t>
            </a:r>
          </a:p>
          <a:p>
            <a:pPr marL="0" indent="0">
              <a:buNone/>
            </a:pPr>
            <a:r>
              <a:rPr lang="en-US" dirty="0"/>
              <a:t>B) aflatoxin, benzene, 5-Azacytidine, estrogens</a:t>
            </a:r>
          </a:p>
          <a:p>
            <a:pPr marL="0" indent="0">
              <a:buNone/>
            </a:pPr>
            <a:r>
              <a:rPr lang="en-US" dirty="0"/>
              <a:t>C) benzene, aflatoxin, vinyl chloride</a:t>
            </a:r>
          </a:p>
          <a:p>
            <a:pPr marL="0" indent="0">
              <a:buNone/>
            </a:pPr>
            <a:r>
              <a:rPr lang="en-US" dirty="0"/>
              <a:t>D) TCDD, arsenic, urethane</a:t>
            </a:r>
          </a:p>
          <a:p>
            <a:pPr marL="0" indent="0">
              <a:buNone/>
            </a:pPr>
            <a:r>
              <a:rPr lang="en-US" dirty="0"/>
              <a:t>E) alcohol, estrogen, testosterone</a:t>
            </a:r>
          </a:p>
        </p:txBody>
      </p:sp>
    </p:spTree>
    <p:extLst>
      <p:ext uri="{BB962C8B-B14F-4D97-AF65-F5344CB8AC3E}">
        <p14:creationId xmlns:p14="http://schemas.microsoft.com/office/powerpoint/2010/main" val="153952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34. Which of the following answers is CORRECT</a:t>
            </a:r>
          </a:p>
          <a:p>
            <a:pPr marL="0" indent="0">
              <a:buNone/>
            </a:pPr>
            <a:r>
              <a:rPr lang="en-US" dirty="0"/>
              <a:t>regarding IARC Class 1 carcinogens with a sufficient</a:t>
            </a:r>
          </a:p>
          <a:p>
            <a:pPr marL="0" indent="0">
              <a:buNone/>
            </a:pPr>
            <a:r>
              <a:rPr lang="en-US" dirty="0"/>
              <a:t>evidence (causal relationships) for human</a:t>
            </a:r>
          </a:p>
          <a:p>
            <a:pPr marL="0" indent="0">
              <a:buNone/>
            </a:pPr>
            <a:r>
              <a:rPr lang="en-US" dirty="0"/>
              <a:t>carcinogenicity?</a:t>
            </a:r>
          </a:p>
          <a:p>
            <a:pPr marL="0" indent="0">
              <a:buNone/>
            </a:pPr>
            <a:r>
              <a:rPr lang="en-US" dirty="0"/>
              <a:t>A) arsenic, </a:t>
            </a:r>
            <a:r>
              <a:rPr lang="en-US" u="sng" dirty="0" err="1"/>
              <a:t>benz</a:t>
            </a:r>
            <a:r>
              <a:rPr lang="en-US" u="sng" dirty="0"/>
              <a:t>(a)anthracene,</a:t>
            </a:r>
          </a:p>
          <a:p>
            <a:pPr marL="0" indent="0">
              <a:buNone/>
            </a:pPr>
            <a:r>
              <a:rPr lang="en-US" u="sng" dirty="0" err="1" smtClean="0"/>
              <a:t>Diethylnitrosamine</a:t>
            </a:r>
            <a:r>
              <a:rPr lang="en-US" u="sng" dirty="0" smtClean="0"/>
              <a:t> (rodents)</a:t>
            </a:r>
            <a:r>
              <a:rPr lang="en-US" dirty="0" smtClean="0"/>
              <a:t>, </a:t>
            </a:r>
            <a:r>
              <a:rPr lang="en-US" u="sng" dirty="0" smtClean="0"/>
              <a:t>urethane (2A)</a:t>
            </a:r>
            <a:r>
              <a:rPr lang="en-US" dirty="0" smtClean="0"/>
              <a:t>, </a:t>
            </a:r>
            <a:r>
              <a:rPr lang="en-US" dirty="0"/>
              <a:t>estrogens</a:t>
            </a:r>
          </a:p>
          <a:p>
            <a:pPr marL="0" indent="0">
              <a:buNone/>
            </a:pPr>
            <a:r>
              <a:rPr lang="en-US" dirty="0"/>
              <a:t>B) aflatoxin, benzene, </a:t>
            </a:r>
            <a:r>
              <a:rPr lang="en-US" u="sng" dirty="0"/>
              <a:t>5-Azacytidine</a:t>
            </a:r>
            <a:r>
              <a:rPr lang="en-US" dirty="0"/>
              <a:t>, </a:t>
            </a:r>
            <a:r>
              <a:rPr lang="en-US" dirty="0" smtClean="0"/>
              <a:t>estrogens -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benzene, aflatoxin, vinyl chloride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u="sng" dirty="0" smtClean="0"/>
              <a:t>TCDD (NTP not IARC)</a:t>
            </a:r>
            <a:r>
              <a:rPr lang="en-US" dirty="0" smtClean="0"/>
              <a:t>, </a:t>
            </a:r>
            <a:r>
              <a:rPr lang="en-US" dirty="0"/>
              <a:t>arsenic, </a:t>
            </a:r>
            <a:r>
              <a:rPr lang="en-US" u="sng" dirty="0"/>
              <a:t>urethane</a:t>
            </a:r>
          </a:p>
          <a:p>
            <a:pPr marL="0" indent="0">
              <a:buNone/>
            </a:pPr>
            <a:r>
              <a:rPr lang="en-US" dirty="0"/>
              <a:t>E) alcohol, estrogen, </a:t>
            </a:r>
            <a:r>
              <a:rPr lang="en-US" u="sng" dirty="0" smtClean="0"/>
              <a:t>testosterone</a:t>
            </a:r>
          </a:p>
          <a:p>
            <a:pPr marL="0" indent="0">
              <a:buNone/>
            </a:pPr>
            <a:r>
              <a:rPr lang="en-US" dirty="0" smtClean="0"/>
              <a:t>C&amp;D </a:t>
            </a:r>
            <a:r>
              <a:rPr lang="en-US" dirty="0" err="1" smtClean="0"/>
              <a:t>chp</a:t>
            </a:r>
            <a:r>
              <a:rPr lang="en-US" dirty="0" smtClean="0"/>
              <a:t> 8  </a:t>
            </a:r>
            <a:r>
              <a:rPr lang="en-US" dirty="0" err="1" smtClean="0"/>
              <a:t>pg</a:t>
            </a:r>
            <a:r>
              <a:rPr lang="en-US" dirty="0" smtClean="0"/>
              <a:t> 434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81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35. The tester strains of </a:t>
            </a:r>
            <a:r>
              <a:rPr lang="en-US" i="1" dirty="0"/>
              <a:t>Salmonella typhimurium </a:t>
            </a:r>
            <a:r>
              <a:rPr lang="en-US" dirty="0" smtClean="0"/>
              <a:t>used in </a:t>
            </a:r>
            <a:r>
              <a:rPr lang="en-US" dirty="0"/>
              <a:t>the Ames Assay are which of the following?</a:t>
            </a:r>
          </a:p>
          <a:p>
            <a:pPr marL="0" indent="0">
              <a:buNone/>
            </a:pPr>
            <a:r>
              <a:rPr lang="en-US" dirty="0"/>
              <a:t>A) TA 1535, TA 100, TA 1538, TA 98</a:t>
            </a:r>
          </a:p>
          <a:p>
            <a:pPr marL="0" indent="0">
              <a:buNone/>
            </a:pPr>
            <a:r>
              <a:rPr lang="sv-SE" dirty="0"/>
              <a:t>B) TA 1540, TA 200, TA 1520, TA 80</a:t>
            </a:r>
          </a:p>
          <a:p>
            <a:pPr marL="0" indent="0">
              <a:buNone/>
            </a:pPr>
            <a:r>
              <a:rPr lang="sv-SE" dirty="0"/>
              <a:t>C) TA 1548, TA 202, TA 1505, TA 92</a:t>
            </a:r>
          </a:p>
          <a:p>
            <a:pPr marL="0" indent="0">
              <a:buNone/>
            </a:pPr>
            <a:r>
              <a:rPr lang="sv-SE" dirty="0"/>
              <a:t>D) TA 1536, TA 110, TA 1518, TA 85</a:t>
            </a:r>
          </a:p>
          <a:p>
            <a:pPr marL="0" indent="0">
              <a:buNone/>
            </a:pPr>
            <a:r>
              <a:rPr lang="sv-SE" dirty="0"/>
              <a:t>E) TA 1510, TA 105, TA 536, TA 98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31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35. The tester strains of </a:t>
            </a:r>
            <a:r>
              <a:rPr lang="en-US" i="1" dirty="0"/>
              <a:t>Salmonella typhimurium </a:t>
            </a:r>
            <a:r>
              <a:rPr lang="en-US" dirty="0" smtClean="0"/>
              <a:t>used in </a:t>
            </a:r>
            <a:r>
              <a:rPr lang="en-US" dirty="0"/>
              <a:t>the Ames Assay are which of the following?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TA 1535, TA 100, TA 1538, TA 98</a:t>
            </a:r>
          </a:p>
          <a:p>
            <a:pPr marL="0" indent="0">
              <a:buNone/>
            </a:pPr>
            <a:r>
              <a:rPr lang="sv-SE" dirty="0"/>
              <a:t>B) TA 1540, TA 200, TA 1520, TA 80</a:t>
            </a:r>
          </a:p>
          <a:p>
            <a:pPr marL="0" indent="0">
              <a:buNone/>
            </a:pPr>
            <a:r>
              <a:rPr lang="sv-SE" dirty="0"/>
              <a:t>C) TA 1548, TA 202, TA 1505, TA 92</a:t>
            </a:r>
          </a:p>
          <a:p>
            <a:pPr marL="0" indent="0">
              <a:buNone/>
            </a:pPr>
            <a:r>
              <a:rPr lang="sv-SE" dirty="0"/>
              <a:t>D) TA 1536, TA 110, TA 1518, TA 85</a:t>
            </a:r>
          </a:p>
          <a:p>
            <a:pPr marL="0" indent="0">
              <a:buNone/>
            </a:pPr>
            <a:r>
              <a:rPr lang="sv-SE" dirty="0"/>
              <a:t>E) TA 1510, TA 105, TA 536, TA </a:t>
            </a:r>
            <a:r>
              <a:rPr lang="sv-SE" dirty="0" smtClean="0"/>
              <a:t>98</a:t>
            </a:r>
          </a:p>
          <a:p>
            <a:pPr marL="0" indent="0">
              <a:buNone/>
            </a:pPr>
            <a:r>
              <a:rPr lang="sv-SE" dirty="0"/>
              <a:t> </a:t>
            </a:r>
            <a:r>
              <a:rPr lang="sv-SE" dirty="0" smtClean="0"/>
              <a:t>C&amp;D chp 9 pg 462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1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36. Which organ system is most susceptible to</a:t>
            </a:r>
          </a:p>
          <a:p>
            <a:pPr marL="0" indent="0">
              <a:buNone/>
            </a:pPr>
            <a:r>
              <a:rPr lang="en-US" dirty="0"/>
              <a:t>cisplatin toxicity?</a:t>
            </a:r>
          </a:p>
          <a:p>
            <a:pPr marL="0" indent="0">
              <a:buNone/>
            </a:pPr>
            <a:r>
              <a:rPr lang="en-US" dirty="0"/>
              <a:t>A) kidney</a:t>
            </a:r>
          </a:p>
          <a:p>
            <a:pPr marL="0" indent="0">
              <a:buNone/>
            </a:pPr>
            <a:r>
              <a:rPr lang="en-US" dirty="0"/>
              <a:t>B) liver</a:t>
            </a:r>
          </a:p>
          <a:p>
            <a:pPr marL="0" indent="0">
              <a:buNone/>
            </a:pPr>
            <a:r>
              <a:rPr lang="en-US" dirty="0"/>
              <a:t>C) CNS</a:t>
            </a:r>
          </a:p>
          <a:p>
            <a:pPr marL="0" indent="0">
              <a:buNone/>
            </a:pPr>
            <a:r>
              <a:rPr lang="en-US" dirty="0"/>
              <a:t>D) heart</a:t>
            </a:r>
          </a:p>
          <a:p>
            <a:pPr marL="0" indent="0">
              <a:buNone/>
            </a:pPr>
            <a:r>
              <a:rPr lang="en-US" dirty="0"/>
              <a:t>E) eye</a:t>
            </a:r>
          </a:p>
        </p:txBody>
      </p:sp>
    </p:spTree>
    <p:extLst>
      <p:ext uri="{BB962C8B-B14F-4D97-AF65-F5344CB8AC3E}">
        <p14:creationId xmlns:p14="http://schemas.microsoft.com/office/powerpoint/2010/main" val="46342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36. Which organ system is most susceptible to</a:t>
            </a:r>
          </a:p>
          <a:p>
            <a:pPr marL="0" indent="0">
              <a:buNone/>
            </a:pPr>
            <a:r>
              <a:rPr lang="en-US" dirty="0"/>
              <a:t>cisplatin toxicity?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</a:t>
            </a:r>
            <a:r>
              <a:rPr lang="en-US" dirty="0" smtClean="0">
                <a:solidFill>
                  <a:srgbClr val="FF0000"/>
                </a:solidFill>
              </a:rPr>
              <a:t>Kidney – for solid tumors, kidney </a:t>
            </a:r>
            <a:r>
              <a:rPr lang="en-US" dirty="0" err="1" smtClean="0">
                <a:solidFill>
                  <a:srgbClr val="FF0000"/>
                </a:solidFill>
              </a:rPr>
              <a:t>tox</a:t>
            </a:r>
            <a:r>
              <a:rPr lang="en-US" dirty="0" smtClean="0">
                <a:solidFill>
                  <a:srgbClr val="FF0000"/>
                </a:solidFill>
              </a:rPr>
              <a:t> limits clinical use, primary site accumulation and excretion, acute and chronic renal failure, magnesium wasting and polyuria permanent loss 10-30% renal function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liver</a:t>
            </a:r>
          </a:p>
          <a:p>
            <a:pPr marL="0" indent="0">
              <a:buNone/>
            </a:pPr>
            <a:r>
              <a:rPr lang="en-US" dirty="0"/>
              <a:t>C) CNS</a:t>
            </a:r>
          </a:p>
          <a:p>
            <a:pPr marL="0" indent="0">
              <a:buNone/>
            </a:pPr>
            <a:r>
              <a:rPr lang="en-US" dirty="0"/>
              <a:t>D) heart</a:t>
            </a: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Eye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C&amp;D chp14 </a:t>
            </a:r>
            <a:r>
              <a:rPr lang="en-US" dirty="0" err="1" smtClean="0"/>
              <a:t>pg</a:t>
            </a:r>
            <a:r>
              <a:rPr lang="en-US" dirty="0" smtClean="0"/>
              <a:t> 686 essentials </a:t>
            </a:r>
            <a:r>
              <a:rPr lang="en-US" dirty="0" err="1" smtClean="0"/>
              <a:t>tox</a:t>
            </a:r>
            <a:r>
              <a:rPr lang="en-US" dirty="0" smtClean="0"/>
              <a:t> </a:t>
            </a:r>
            <a:r>
              <a:rPr lang="en-US" dirty="0" err="1" smtClean="0"/>
              <a:t>pg</a:t>
            </a:r>
            <a:r>
              <a:rPr lang="en-US" dirty="0" smtClean="0"/>
              <a:t> 221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2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37. Which of the following associations is NOT</a:t>
            </a:r>
          </a:p>
          <a:p>
            <a:pPr marL="0" indent="0">
              <a:buNone/>
            </a:pPr>
            <a:r>
              <a:rPr lang="en-US" dirty="0"/>
              <a:t>CORRECT?</a:t>
            </a:r>
          </a:p>
          <a:p>
            <a:pPr marL="0" indent="0">
              <a:buNone/>
            </a:pPr>
            <a:r>
              <a:rPr lang="en-US" dirty="0"/>
              <a:t>A) mercury : acute renal failure in humans</a:t>
            </a:r>
          </a:p>
          <a:p>
            <a:pPr marL="0" indent="0">
              <a:buNone/>
            </a:pPr>
            <a:r>
              <a:rPr lang="en-US" dirty="0"/>
              <a:t>B) mercury : acute renal failure in rats</a:t>
            </a:r>
          </a:p>
          <a:p>
            <a:pPr marL="0" indent="0">
              <a:buNone/>
            </a:pPr>
            <a:r>
              <a:rPr lang="en-US" dirty="0"/>
              <a:t>C) unleaded gasoline : alpha2u-globulin in humans</a:t>
            </a:r>
          </a:p>
          <a:p>
            <a:pPr marL="0" indent="0">
              <a:buNone/>
            </a:pPr>
            <a:r>
              <a:rPr lang="en-US" dirty="0"/>
              <a:t>D) unleaded gasoline : alpha2u-globulin in rats</a:t>
            </a:r>
          </a:p>
          <a:p>
            <a:pPr marL="0" indent="0">
              <a:buNone/>
            </a:pPr>
            <a:r>
              <a:rPr lang="en-US" dirty="0"/>
              <a:t>E) cadmium : B2-microglobulin in humans</a:t>
            </a:r>
          </a:p>
        </p:txBody>
      </p:sp>
    </p:spTree>
    <p:extLst>
      <p:ext uri="{BB962C8B-B14F-4D97-AF65-F5344CB8AC3E}">
        <p14:creationId xmlns:p14="http://schemas.microsoft.com/office/powerpoint/2010/main" val="426170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37. Which of the following associations is NOT</a:t>
            </a:r>
          </a:p>
          <a:p>
            <a:pPr marL="0" indent="0">
              <a:buNone/>
            </a:pPr>
            <a:r>
              <a:rPr lang="en-US" dirty="0"/>
              <a:t>CORRECT?</a:t>
            </a:r>
          </a:p>
          <a:p>
            <a:pPr marL="0" indent="0">
              <a:buNone/>
            </a:pPr>
            <a:r>
              <a:rPr lang="en-US" dirty="0"/>
              <a:t>A) mercury : acute renal failure in humans</a:t>
            </a:r>
          </a:p>
          <a:p>
            <a:pPr marL="0" indent="0">
              <a:buNone/>
            </a:pPr>
            <a:r>
              <a:rPr lang="en-US" dirty="0"/>
              <a:t>B) mercury : acute renal failure in rats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unleaded gasoline : alpha2u-globulin in </a:t>
            </a:r>
            <a:r>
              <a:rPr lang="en-US" dirty="0" smtClean="0">
                <a:solidFill>
                  <a:srgbClr val="FF0000"/>
                </a:solidFill>
              </a:rPr>
              <a:t>humans – humans don’t synthesize alpha 2u globulin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unleaded gasoline : alpha2u-globulin in rats</a:t>
            </a:r>
          </a:p>
          <a:p>
            <a:pPr marL="0" indent="0">
              <a:buNone/>
            </a:pPr>
            <a:r>
              <a:rPr lang="en-US" dirty="0"/>
              <a:t>E) cadmium : B2-microglobulin in </a:t>
            </a:r>
            <a:r>
              <a:rPr lang="en-US" dirty="0" smtClean="0"/>
              <a:t>humans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C&amp;D chp14 </a:t>
            </a:r>
            <a:r>
              <a:rPr lang="en-US" dirty="0" err="1" smtClean="0"/>
              <a:t>pg</a:t>
            </a:r>
            <a:r>
              <a:rPr lang="en-US" dirty="0" smtClean="0"/>
              <a:t> 681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6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38. Iron (Fe) is an essential mineral but </a:t>
            </a:r>
            <a:r>
              <a:rPr lang="en-US" dirty="0" smtClean="0"/>
              <a:t>overdoses result </a:t>
            </a:r>
            <a:r>
              <a:rPr lang="en-US" dirty="0"/>
              <a:t>in damage to </a:t>
            </a:r>
            <a:r>
              <a:rPr lang="en-US" dirty="0" err="1"/>
              <a:t>periportal</a:t>
            </a:r>
            <a:r>
              <a:rPr lang="en-US" dirty="0"/>
              <a:t> hepatocytes. Which of</a:t>
            </a:r>
          </a:p>
          <a:p>
            <a:pPr marL="0" indent="0">
              <a:buNone/>
            </a:pPr>
            <a:r>
              <a:rPr lang="en-US" dirty="0"/>
              <a:t>the following best describes the reason for </a:t>
            </a:r>
            <a:r>
              <a:rPr lang="en-US" dirty="0" smtClean="0"/>
              <a:t>this specificity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excess Fe from the portal vein precipitates </a:t>
            </a:r>
            <a:r>
              <a:rPr lang="en-US" dirty="0" smtClean="0"/>
              <a:t>in the </a:t>
            </a:r>
            <a:r>
              <a:rPr lang="en-US" dirty="0"/>
              <a:t>zone I hepatocytes causing </a:t>
            </a:r>
            <a:r>
              <a:rPr lang="en-US" dirty="0" smtClean="0"/>
              <a:t>mechanical disruption </a:t>
            </a:r>
            <a:r>
              <a:rPr lang="en-US" dirty="0"/>
              <a:t>of the cells, and the concentration </a:t>
            </a:r>
            <a:r>
              <a:rPr lang="en-US" dirty="0" smtClean="0"/>
              <a:t>of Fe </a:t>
            </a:r>
            <a:r>
              <a:rPr lang="en-US" dirty="0"/>
              <a:t>in the zone I</a:t>
            </a:r>
          </a:p>
          <a:p>
            <a:pPr marL="0" indent="0">
              <a:buNone/>
            </a:pPr>
            <a:r>
              <a:rPr lang="en-US" dirty="0"/>
              <a:t>B) Fe functions as an electron donor for </a:t>
            </a:r>
            <a:r>
              <a:rPr lang="en-US" dirty="0" smtClean="0"/>
              <a:t>the formation </a:t>
            </a:r>
            <a:r>
              <a:rPr lang="en-US" dirty="0"/>
              <a:t>of reactive oxygen species </a:t>
            </a:r>
            <a:r>
              <a:rPr lang="en-US" dirty="0" smtClean="0"/>
              <a:t>leading to </a:t>
            </a:r>
            <a:r>
              <a:rPr lang="en-US" dirty="0"/>
              <a:t>lipid peroxidation and the concentration </a:t>
            </a:r>
            <a:r>
              <a:rPr lang="en-US" dirty="0" smtClean="0"/>
              <a:t>of oxygen </a:t>
            </a:r>
            <a:r>
              <a:rPr lang="en-US" dirty="0"/>
              <a:t>available to participate in this </a:t>
            </a:r>
            <a:r>
              <a:rPr lang="en-US" dirty="0" smtClean="0"/>
              <a:t>reaction is </a:t>
            </a:r>
            <a:r>
              <a:rPr lang="en-US" dirty="0"/>
              <a:t>higher in the zone I region of the </a:t>
            </a:r>
            <a:r>
              <a:rPr lang="en-US" dirty="0" smtClean="0"/>
              <a:t>liver compared </a:t>
            </a:r>
            <a:r>
              <a:rPr lang="en-US" dirty="0"/>
              <a:t>to the zone III region</a:t>
            </a:r>
          </a:p>
          <a:p>
            <a:pPr marL="0" indent="0">
              <a:buNone/>
            </a:pPr>
            <a:r>
              <a:rPr lang="en-US" dirty="0"/>
              <a:t>C) Fe is preferentially taken up by the zone </a:t>
            </a:r>
            <a:r>
              <a:rPr lang="en-US" dirty="0" smtClean="0"/>
              <a:t>I hepatocytes </a:t>
            </a:r>
            <a:r>
              <a:rPr lang="en-US" dirty="0"/>
              <a:t>which overwhelms the ability </a:t>
            </a:r>
            <a:r>
              <a:rPr lang="en-US" dirty="0" smtClean="0"/>
              <a:t>of the </a:t>
            </a:r>
            <a:r>
              <a:rPr lang="en-US" dirty="0"/>
              <a:t>cells to regenerate ATP via </a:t>
            </a:r>
            <a:r>
              <a:rPr lang="en-US" dirty="0" smtClean="0"/>
              <a:t>normal respiratory </a:t>
            </a:r>
            <a:r>
              <a:rPr lang="en-US" dirty="0"/>
              <a:t>mechanisms</a:t>
            </a:r>
          </a:p>
          <a:p>
            <a:pPr marL="0" indent="0">
              <a:buNone/>
            </a:pPr>
            <a:r>
              <a:rPr lang="en-US" dirty="0"/>
              <a:t>D) excess Fe directly interferes in the formation </a:t>
            </a:r>
            <a:r>
              <a:rPr lang="en-US" dirty="0" smtClean="0"/>
              <a:t>of the </a:t>
            </a:r>
            <a:r>
              <a:rPr lang="en-US" dirty="0"/>
              <a:t>cytoskeletal structure leading to </a:t>
            </a:r>
            <a:r>
              <a:rPr lang="en-US" dirty="0" smtClean="0"/>
              <a:t>inhibition of </a:t>
            </a:r>
            <a:r>
              <a:rPr lang="en-US" dirty="0"/>
              <a:t>spindle formation and eventual loss </a:t>
            </a:r>
            <a:r>
              <a:rPr lang="en-US" dirty="0" smtClean="0"/>
              <a:t>of mitotic capability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Fe is preferentially taken up in type </a:t>
            </a:r>
            <a:r>
              <a:rPr lang="en-US" dirty="0" smtClean="0"/>
              <a:t>I hepatocytes </a:t>
            </a:r>
            <a:r>
              <a:rPr lang="en-US" dirty="0"/>
              <a:t>and inhibits </a:t>
            </a:r>
            <a:r>
              <a:rPr lang="en-US" dirty="0" smtClean="0"/>
              <a:t>ATP-dependent formation </a:t>
            </a:r>
            <a:r>
              <a:rPr lang="en-US" dirty="0"/>
              <a:t>of bile leading to cholestasis in </a:t>
            </a:r>
            <a:r>
              <a:rPr lang="en-US" dirty="0" smtClean="0"/>
              <a:t>the zone </a:t>
            </a:r>
            <a:r>
              <a:rPr lang="en-US" dirty="0"/>
              <a:t>I region</a:t>
            </a:r>
          </a:p>
        </p:txBody>
      </p:sp>
    </p:spTree>
    <p:extLst>
      <p:ext uri="{BB962C8B-B14F-4D97-AF65-F5344CB8AC3E}">
        <p14:creationId xmlns:p14="http://schemas.microsoft.com/office/powerpoint/2010/main" val="281822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38. Iron (Fe) is an essential mineral but </a:t>
            </a:r>
            <a:r>
              <a:rPr lang="en-US" dirty="0" smtClean="0"/>
              <a:t>overdoses result </a:t>
            </a:r>
            <a:r>
              <a:rPr lang="en-US" dirty="0"/>
              <a:t>in damage to </a:t>
            </a:r>
            <a:r>
              <a:rPr lang="en-US" dirty="0" err="1"/>
              <a:t>periportal</a:t>
            </a:r>
            <a:r>
              <a:rPr lang="en-US" dirty="0"/>
              <a:t> hepatocytes. Which </a:t>
            </a:r>
            <a:r>
              <a:rPr lang="en-US" dirty="0" smtClean="0"/>
              <a:t>of the </a:t>
            </a:r>
            <a:r>
              <a:rPr lang="en-US" dirty="0"/>
              <a:t>following best describes the reason for </a:t>
            </a:r>
            <a:r>
              <a:rPr lang="en-US" dirty="0" smtClean="0"/>
              <a:t>this specificity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excess Fe from the portal vein </a:t>
            </a:r>
            <a:r>
              <a:rPr lang="en-US" u="sng" dirty="0"/>
              <a:t>precipitates </a:t>
            </a:r>
            <a:r>
              <a:rPr lang="en-US" u="sng" dirty="0" smtClean="0"/>
              <a:t>in the </a:t>
            </a:r>
            <a:r>
              <a:rPr lang="en-US" u="sng" dirty="0"/>
              <a:t>zone I hepatocytes </a:t>
            </a:r>
            <a:r>
              <a:rPr lang="en-US" dirty="0"/>
              <a:t>causing </a:t>
            </a:r>
            <a:r>
              <a:rPr lang="en-US" dirty="0" smtClean="0"/>
              <a:t>mechanical disruption </a:t>
            </a:r>
            <a:r>
              <a:rPr lang="en-US" dirty="0"/>
              <a:t>of the cells, and the concentration </a:t>
            </a:r>
            <a:r>
              <a:rPr lang="en-US" dirty="0" smtClean="0"/>
              <a:t>of Fe </a:t>
            </a:r>
            <a:r>
              <a:rPr lang="en-US" dirty="0"/>
              <a:t>in the zone </a:t>
            </a:r>
            <a:r>
              <a:rPr lang="en-US" dirty="0" smtClean="0"/>
              <a:t>I – </a:t>
            </a:r>
            <a:r>
              <a:rPr lang="en-US" dirty="0" smtClean="0">
                <a:solidFill>
                  <a:srgbClr val="FF0000"/>
                </a:solidFill>
              </a:rPr>
              <a:t>zone I is preferential uptake of Fe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Fe functions as an electron donor for </a:t>
            </a:r>
            <a:r>
              <a:rPr lang="en-US" dirty="0" smtClean="0">
                <a:solidFill>
                  <a:srgbClr val="FF0000"/>
                </a:solidFill>
              </a:rPr>
              <a:t>the formation </a:t>
            </a:r>
            <a:r>
              <a:rPr lang="en-US" dirty="0">
                <a:solidFill>
                  <a:srgbClr val="FF0000"/>
                </a:solidFill>
              </a:rPr>
              <a:t>of reactive oxygen species </a:t>
            </a:r>
            <a:r>
              <a:rPr lang="en-US" dirty="0" smtClean="0">
                <a:solidFill>
                  <a:srgbClr val="FF0000"/>
                </a:solidFill>
              </a:rPr>
              <a:t>leading to </a:t>
            </a:r>
            <a:r>
              <a:rPr lang="en-US" dirty="0">
                <a:solidFill>
                  <a:srgbClr val="FF0000"/>
                </a:solidFill>
              </a:rPr>
              <a:t>lipid peroxidation and the concentration </a:t>
            </a:r>
            <a:r>
              <a:rPr lang="en-US" dirty="0" smtClean="0">
                <a:solidFill>
                  <a:srgbClr val="FF0000"/>
                </a:solidFill>
              </a:rPr>
              <a:t>of oxygen </a:t>
            </a:r>
            <a:r>
              <a:rPr lang="en-US" dirty="0">
                <a:solidFill>
                  <a:srgbClr val="FF0000"/>
                </a:solidFill>
              </a:rPr>
              <a:t>available to participate in this </a:t>
            </a:r>
            <a:r>
              <a:rPr lang="en-US" dirty="0" smtClean="0">
                <a:solidFill>
                  <a:srgbClr val="FF0000"/>
                </a:solidFill>
              </a:rPr>
              <a:t>reaction is </a:t>
            </a:r>
            <a:r>
              <a:rPr lang="en-US" dirty="0">
                <a:solidFill>
                  <a:srgbClr val="FF0000"/>
                </a:solidFill>
              </a:rPr>
              <a:t>higher in the zone I region of the </a:t>
            </a:r>
            <a:r>
              <a:rPr lang="en-US" dirty="0" smtClean="0">
                <a:solidFill>
                  <a:srgbClr val="FF0000"/>
                </a:solidFill>
              </a:rPr>
              <a:t>liver compared </a:t>
            </a:r>
            <a:r>
              <a:rPr lang="en-US" dirty="0">
                <a:solidFill>
                  <a:srgbClr val="FF0000"/>
                </a:solidFill>
              </a:rPr>
              <a:t>to the zone III region</a:t>
            </a:r>
          </a:p>
          <a:p>
            <a:pPr marL="0" indent="0">
              <a:buNone/>
            </a:pPr>
            <a:r>
              <a:rPr lang="en-US" dirty="0"/>
              <a:t>C) Fe is preferentially taken up by the zone </a:t>
            </a:r>
            <a:r>
              <a:rPr lang="en-US" dirty="0" smtClean="0"/>
              <a:t>I hepatocytes </a:t>
            </a:r>
            <a:r>
              <a:rPr lang="en-US" dirty="0"/>
              <a:t>which overwhelms the ability </a:t>
            </a:r>
            <a:r>
              <a:rPr lang="en-US" dirty="0" smtClean="0"/>
              <a:t>of the </a:t>
            </a:r>
            <a:r>
              <a:rPr lang="en-US" dirty="0"/>
              <a:t>cells to regenerate ATP via </a:t>
            </a:r>
            <a:r>
              <a:rPr lang="en-US" dirty="0" smtClean="0"/>
              <a:t>normal respiratory mechanisms – </a:t>
            </a:r>
            <a:r>
              <a:rPr lang="en-US" dirty="0" smtClean="0">
                <a:solidFill>
                  <a:srgbClr val="FF0000"/>
                </a:solidFill>
              </a:rPr>
              <a:t>wrong mechanism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excess Fe directly interferes in the formation </a:t>
            </a:r>
            <a:r>
              <a:rPr lang="en-US" dirty="0" smtClean="0"/>
              <a:t>of the </a:t>
            </a:r>
            <a:r>
              <a:rPr lang="en-US" dirty="0"/>
              <a:t>cytoskeletal structure leading to </a:t>
            </a:r>
            <a:r>
              <a:rPr lang="en-US" dirty="0" smtClean="0"/>
              <a:t>inhibition of </a:t>
            </a:r>
            <a:r>
              <a:rPr lang="en-US" dirty="0"/>
              <a:t>spindle formation and eventual loss </a:t>
            </a:r>
            <a:r>
              <a:rPr lang="en-US" dirty="0" smtClean="0"/>
              <a:t>of mitotic capability </a:t>
            </a:r>
            <a:r>
              <a:rPr lang="en-US" dirty="0" smtClean="0">
                <a:solidFill>
                  <a:srgbClr val="FF0000"/>
                </a:solidFill>
              </a:rPr>
              <a:t>–mechanism for cisplatin and anti cancer drugs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Fe is preferentially taken up in </a:t>
            </a:r>
            <a:r>
              <a:rPr lang="en-US" u="sng" dirty="0"/>
              <a:t>type </a:t>
            </a:r>
            <a:r>
              <a:rPr lang="en-US" u="sng" dirty="0" smtClean="0"/>
              <a:t>I hepatocytes </a:t>
            </a:r>
            <a:r>
              <a:rPr lang="en-US" dirty="0"/>
              <a:t>and inhibits </a:t>
            </a:r>
            <a:r>
              <a:rPr lang="en-US" dirty="0" smtClean="0"/>
              <a:t>ATP-dependent formation </a:t>
            </a:r>
            <a:r>
              <a:rPr lang="en-US" dirty="0"/>
              <a:t>of bile leading to cholestasis in </a:t>
            </a:r>
            <a:r>
              <a:rPr lang="en-US" dirty="0" smtClean="0"/>
              <a:t>the zone </a:t>
            </a:r>
            <a:r>
              <a:rPr lang="en-US" dirty="0"/>
              <a:t>I </a:t>
            </a:r>
            <a:r>
              <a:rPr lang="en-US" dirty="0" smtClean="0"/>
              <a:t>region </a:t>
            </a:r>
            <a:r>
              <a:rPr lang="en-US" dirty="0" smtClean="0">
                <a:solidFill>
                  <a:srgbClr val="FF0000"/>
                </a:solidFill>
              </a:rPr>
              <a:t>– no type I hepatocytes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C&amp;D </a:t>
            </a:r>
            <a:r>
              <a:rPr lang="en-US" dirty="0" err="1" smtClean="0"/>
              <a:t>chp</a:t>
            </a:r>
            <a:r>
              <a:rPr lang="en-US" dirty="0" smtClean="0"/>
              <a:t> 13 </a:t>
            </a:r>
            <a:r>
              <a:rPr lang="en-US" dirty="0" err="1" smtClean="0"/>
              <a:t>pg</a:t>
            </a:r>
            <a:r>
              <a:rPr lang="en-US" dirty="0" smtClean="0"/>
              <a:t> 650 essentials </a:t>
            </a:r>
            <a:r>
              <a:rPr lang="en-US" dirty="0" err="1" smtClean="0"/>
              <a:t>tox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8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39. Xenobiotics such as omeprazole or zidovudine</a:t>
            </a:r>
          </a:p>
          <a:p>
            <a:pPr marL="0" indent="0">
              <a:buNone/>
            </a:pPr>
            <a:r>
              <a:rPr lang="en-US" dirty="0"/>
              <a:t>can contribute to a deficiency of vitamin B12.</a:t>
            </a:r>
          </a:p>
          <a:p>
            <a:pPr marL="0" indent="0">
              <a:buNone/>
            </a:pPr>
            <a:r>
              <a:rPr lang="en-US" dirty="0"/>
              <a:t>Subsequently, this deficiency can result in changes </a:t>
            </a:r>
            <a:r>
              <a:rPr lang="en-US" dirty="0" smtClean="0"/>
              <a:t>in erythroid </a:t>
            </a:r>
            <a:r>
              <a:rPr lang="en-US" dirty="0"/>
              <a:t>and myeloid lineages in bone marrow.</a:t>
            </a:r>
          </a:p>
          <a:p>
            <a:pPr marL="0" indent="0">
              <a:buNone/>
            </a:pPr>
            <a:r>
              <a:rPr lang="en-US" dirty="0"/>
              <a:t>These events can result in what type of anemia or</a:t>
            </a:r>
          </a:p>
          <a:p>
            <a:pPr marL="0" indent="0">
              <a:buNone/>
            </a:pPr>
            <a:r>
              <a:rPr lang="en-US" dirty="0"/>
              <a:t>condition?</a:t>
            </a:r>
          </a:p>
          <a:p>
            <a:pPr marL="0" indent="0">
              <a:buNone/>
            </a:pPr>
            <a:r>
              <a:rPr lang="en-US" dirty="0"/>
              <a:t>A) aplastic anemia</a:t>
            </a: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/>
              <a:t>sideroblastic</a:t>
            </a:r>
            <a:r>
              <a:rPr lang="en-US" dirty="0"/>
              <a:t> anemia</a:t>
            </a:r>
          </a:p>
          <a:p>
            <a:pPr marL="0" indent="0">
              <a:buNone/>
            </a:pPr>
            <a:r>
              <a:rPr lang="en-US" dirty="0"/>
              <a:t>C) megaloblastic anemia</a:t>
            </a:r>
          </a:p>
          <a:p>
            <a:pPr marL="0" indent="0">
              <a:buNone/>
            </a:pPr>
            <a:r>
              <a:rPr lang="en-US" dirty="0"/>
              <a:t>D) iron-deficiency anemia</a:t>
            </a:r>
          </a:p>
          <a:p>
            <a:pPr marL="0" indent="0">
              <a:buNone/>
            </a:pPr>
            <a:r>
              <a:rPr lang="it-IT" dirty="0"/>
              <a:t>E) pure red cell aplasia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1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39. Xenobiotics such as omeprazole or zidovudine</a:t>
            </a:r>
          </a:p>
          <a:p>
            <a:pPr marL="0" indent="0">
              <a:buNone/>
            </a:pPr>
            <a:r>
              <a:rPr lang="en-US" dirty="0"/>
              <a:t>can contribute to a deficiency of vitamin B12.</a:t>
            </a:r>
          </a:p>
          <a:p>
            <a:pPr marL="0" indent="0">
              <a:buNone/>
            </a:pPr>
            <a:r>
              <a:rPr lang="en-US" dirty="0"/>
              <a:t>Subsequently, this deficiency can result in changes </a:t>
            </a:r>
            <a:r>
              <a:rPr lang="en-US" dirty="0" smtClean="0"/>
              <a:t>in erythroid </a:t>
            </a:r>
            <a:r>
              <a:rPr lang="en-US" dirty="0"/>
              <a:t>and myeloid lineages in bone marrow.</a:t>
            </a:r>
          </a:p>
          <a:p>
            <a:pPr marL="0" indent="0">
              <a:buNone/>
            </a:pPr>
            <a:r>
              <a:rPr lang="en-US" dirty="0"/>
              <a:t>These events can result in what type of anemia or</a:t>
            </a:r>
          </a:p>
          <a:p>
            <a:pPr marL="0" indent="0">
              <a:buNone/>
            </a:pPr>
            <a:r>
              <a:rPr lang="en-US" dirty="0"/>
              <a:t>condition?</a:t>
            </a:r>
          </a:p>
          <a:p>
            <a:pPr marL="0" indent="0">
              <a:buNone/>
            </a:pPr>
            <a:r>
              <a:rPr lang="en-US" dirty="0"/>
              <a:t>A) aplastic </a:t>
            </a:r>
            <a:r>
              <a:rPr lang="en-US" dirty="0" smtClean="0"/>
              <a:t>anemia – </a:t>
            </a:r>
            <a:r>
              <a:rPr lang="en-US" dirty="0" smtClean="0">
                <a:solidFill>
                  <a:srgbClr val="FF0000"/>
                </a:solidFill>
              </a:rPr>
              <a:t>pancytopenia and bone </a:t>
            </a:r>
            <a:r>
              <a:rPr lang="en-US" smtClean="0">
                <a:solidFill>
                  <a:srgbClr val="FF0000"/>
                </a:solidFill>
              </a:rPr>
              <a:t>marrow hypoplasia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/>
              <a:t>sideroblastic</a:t>
            </a:r>
            <a:r>
              <a:rPr lang="en-US" dirty="0"/>
              <a:t> </a:t>
            </a:r>
            <a:r>
              <a:rPr lang="en-US" dirty="0" smtClean="0"/>
              <a:t>anemia – </a:t>
            </a:r>
            <a:r>
              <a:rPr lang="en-US" dirty="0" smtClean="0">
                <a:solidFill>
                  <a:srgbClr val="FF0000"/>
                </a:solidFill>
              </a:rPr>
              <a:t>bone marrow produces </a:t>
            </a:r>
            <a:r>
              <a:rPr lang="en-US" dirty="0" err="1" smtClean="0">
                <a:solidFill>
                  <a:srgbClr val="FF0000"/>
                </a:solidFill>
              </a:rPr>
              <a:t>sideroblasts</a:t>
            </a:r>
            <a:r>
              <a:rPr lang="en-US" dirty="0" smtClean="0">
                <a:solidFill>
                  <a:srgbClr val="FF0000"/>
                </a:solidFill>
              </a:rPr>
              <a:t> rather than normal erythrocytes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megaloblastic anemia</a:t>
            </a:r>
          </a:p>
          <a:p>
            <a:pPr marL="0" indent="0">
              <a:buNone/>
            </a:pPr>
            <a:r>
              <a:rPr lang="en-US" dirty="0"/>
              <a:t>D) iron-deficiency </a:t>
            </a:r>
            <a:r>
              <a:rPr lang="en-US" dirty="0" smtClean="0"/>
              <a:t>anemia – </a:t>
            </a:r>
            <a:r>
              <a:rPr lang="en-US" dirty="0" smtClean="0">
                <a:solidFill>
                  <a:srgbClr val="FF0000"/>
                </a:solidFill>
              </a:rPr>
              <a:t>decrease red blood cells or hemoglobin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dirty="0"/>
              <a:t>E) pure red cell </a:t>
            </a:r>
            <a:r>
              <a:rPr lang="it-IT" dirty="0" smtClean="0"/>
              <a:t>aplasia – </a:t>
            </a:r>
            <a:r>
              <a:rPr lang="it-IT" dirty="0" smtClean="0">
                <a:solidFill>
                  <a:srgbClr val="FF0000"/>
                </a:solidFill>
              </a:rPr>
              <a:t>limited to erythroid line</a:t>
            </a:r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C&amp;D chp11 pg 531 table 11-3 essentials pg 166 table 11-2</a:t>
            </a:r>
          </a:p>
          <a:p>
            <a:pPr marL="0" indent="0">
              <a:buNone/>
            </a:pPr>
            <a:r>
              <a:rPr lang="it-IT" dirty="0" smtClean="0">
                <a:solidFill>
                  <a:srgbClr val="FF0000"/>
                </a:solidFill>
              </a:rPr>
              <a:t>Need both vitamin B12 and follate to make DNA deficency in one or the other results in megaloblastic anemia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83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40. Of the various circulating biomarkers </a:t>
            </a:r>
            <a:r>
              <a:rPr lang="en-US" dirty="0" smtClean="0"/>
              <a:t>available for </a:t>
            </a:r>
            <a:r>
              <a:rPr lang="en-US" dirty="0"/>
              <a:t>detecting myocardial injury, which one of </a:t>
            </a:r>
            <a:r>
              <a:rPr lang="en-US" dirty="0" smtClean="0"/>
              <a:t>the following </a:t>
            </a:r>
            <a:r>
              <a:rPr lang="en-US" dirty="0"/>
              <a:t>is considered to be </a:t>
            </a:r>
            <a:r>
              <a:rPr lang="en-US" dirty="0" smtClean="0"/>
              <a:t>predominately expressed </a:t>
            </a:r>
            <a:r>
              <a:rPr lang="en-US" dirty="0"/>
              <a:t>in cardiomyocytes?</a:t>
            </a:r>
          </a:p>
          <a:p>
            <a:pPr marL="0" indent="0">
              <a:buNone/>
            </a:pPr>
            <a:r>
              <a:rPr lang="en-US" dirty="0"/>
              <a:t>A) B-type natriuretic factor (BNP)</a:t>
            </a:r>
          </a:p>
          <a:p>
            <a:pPr marL="0" indent="0">
              <a:buNone/>
            </a:pPr>
            <a:r>
              <a:rPr lang="en-US" dirty="0"/>
              <a:t>B) cardiac troponins T and I (</a:t>
            </a:r>
            <a:r>
              <a:rPr lang="en-US" dirty="0" err="1"/>
              <a:t>cTnT</a:t>
            </a:r>
            <a:r>
              <a:rPr lang="en-US" dirty="0"/>
              <a:t> and </a:t>
            </a:r>
            <a:r>
              <a:rPr lang="en-US" dirty="0" err="1"/>
              <a:t>cTnI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C) C-reactive protein (CRP)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creatine</a:t>
            </a:r>
            <a:r>
              <a:rPr lang="en-US" dirty="0"/>
              <a:t> kinase-MM (CK-MM)</a:t>
            </a:r>
          </a:p>
          <a:p>
            <a:pPr marL="0" indent="0">
              <a:buNone/>
            </a:pPr>
            <a:r>
              <a:rPr lang="en-US" dirty="0"/>
              <a:t>E) myoglobin</a:t>
            </a:r>
          </a:p>
        </p:txBody>
      </p:sp>
    </p:spTree>
    <p:extLst>
      <p:ext uri="{BB962C8B-B14F-4D97-AF65-F5344CB8AC3E}">
        <p14:creationId xmlns:p14="http://schemas.microsoft.com/office/powerpoint/2010/main" val="354098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40. Of the various circulating biomarkers </a:t>
            </a:r>
            <a:r>
              <a:rPr lang="en-US" dirty="0" smtClean="0"/>
              <a:t>available for </a:t>
            </a:r>
            <a:r>
              <a:rPr lang="en-US" dirty="0"/>
              <a:t>detecting myocardial injury, which one of </a:t>
            </a:r>
            <a:r>
              <a:rPr lang="en-US" dirty="0" smtClean="0"/>
              <a:t>the following </a:t>
            </a:r>
            <a:r>
              <a:rPr lang="en-US" dirty="0"/>
              <a:t>is considered to be </a:t>
            </a:r>
            <a:r>
              <a:rPr lang="en-US" dirty="0" smtClean="0"/>
              <a:t>predominately expressed </a:t>
            </a:r>
            <a:r>
              <a:rPr lang="en-US" dirty="0"/>
              <a:t>in cardiomyocytes?</a:t>
            </a:r>
          </a:p>
          <a:p>
            <a:pPr marL="0" indent="0">
              <a:buNone/>
            </a:pPr>
            <a:r>
              <a:rPr lang="en-US" dirty="0"/>
              <a:t>A) B-type natriuretic factor (BNP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FF0000"/>
                </a:solidFill>
              </a:rPr>
              <a:t>– ventricular myocardium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cardiac troponins T and I (</a:t>
            </a:r>
            <a:r>
              <a:rPr lang="en-US" dirty="0" err="1">
                <a:solidFill>
                  <a:srgbClr val="FF0000"/>
                </a:solidFill>
              </a:rPr>
              <a:t>cTnT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cTnI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C) C-reactive protein (CRP</a:t>
            </a:r>
            <a:r>
              <a:rPr lang="en-US" dirty="0" smtClean="0"/>
              <a:t>) – </a:t>
            </a:r>
            <a:r>
              <a:rPr lang="en-US" dirty="0" smtClean="0">
                <a:solidFill>
                  <a:srgbClr val="FF0000"/>
                </a:solidFill>
              </a:rPr>
              <a:t>in liver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creatine</a:t>
            </a:r>
            <a:r>
              <a:rPr lang="en-US" dirty="0"/>
              <a:t> kinase-MM (CK-MM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FF0000"/>
                </a:solidFill>
              </a:rPr>
              <a:t>– skeletal muscle and myocardium, brain and kidney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Myoglobin – </a:t>
            </a:r>
            <a:r>
              <a:rPr lang="en-US" dirty="0" smtClean="0">
                <a:solidFill>
                  <a:srgbClr val="FF0000"/>
                </a:solidFill>
              </a:rPr>
              <a:t>all muscle types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C&amp;D chp18 pg818 essentials </a:t>
            </a:r>
            <a:r>
              <a:rPr lang="en-US" dirty="0" err="1" smtClean="0"/>
              <a:t>pg</a:t>
            </a:r>
            <a:r>
              <a:rPr lang="en-US" dirty="0" smtClean="0"/>
              <a:t> 279 table 18-1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0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E9D58537-A9E0-474B-8612-838DC59C298A}"/>
</file>

<file path=customXml/itemProps2.xml><?xml version="1.0" encoding="utf-8"?>
<ds:datastoreItem xmlns:ds="http://schemas.openxmlformats.org/officeDocument/2006/customXml" ds:itemID="{F58A1095-1585-44BB-8C31-0B1C75DB657D}"/>
</file>

<file path=customXml/itemProps3.xml><?xml version="1.0" encoding="utf-8"?>
<ds:datastoreItem xmlns:ds="http://schemas.openxmlformats.org/officeDocument/2006/customXml" ds:itemID="{620581AC-4BE5-4CF8-BAB4-24A9E6322D06}"/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2802</Words>
  <Application>Microsoft Office PowerPoint</Application>
  <PresentationFormat>On-screen Show (4:3)</PresentationFormat>
  <Paragraphs>290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Gilead Sciences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Mason</dc:creator>
  <cp:lastModifiedBy>April Lake</cp:lastModifiedBy>
  <cp:revision>18</cp:revision>
  <dcterms:created xsi:type="dcterms:W3CDTF">2017-08-20T16:10:23Z</dcterms:created>
  <dcterms:modified xsi:type="dcterms:W3CDTF">2018-02-12T23:49:52Z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