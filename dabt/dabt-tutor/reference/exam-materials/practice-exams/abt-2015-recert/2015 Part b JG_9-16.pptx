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73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-90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21666-5794-4BA7-AA1A-3C10B6AE3524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7117-345E-494C-AD63-1A9A987B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00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21666-5794-4BA7-AA1A-3C10B6AE3524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7117-345E-494C-AD63-1A9A987B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246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21666-5794-4BA7-AA1A-3C10B6AE3524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7117-345E-494C-AD63-1A9A987B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979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21666-5794-4BA7-AA1A-3C10B6AE3524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7117-345E-494C-AD63-1A9A987B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60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21666-5794-4BA7-AA1A-3C10B6AE3524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7117-345E-494C-AD63-1A9A987B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678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21666-5794-4BA7-AA1A-3C10B6AE3524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7117-345E-494C-AD63-1A9A987B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514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21666-5794-4BA7-AA1A-3C10B6AE3524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7117-345E-494C-AD63-1A9A987B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690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21666-5794-4BA7-AA1A-3C10B6AE3524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7117-345E-494C-AD63-1A9A987B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688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21666-5794-4BA7-AA1A-3C10B6AE3524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7117-345E-494C-AD63-1A9A987B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691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21666-5794-4BA7-AA1A-3C10B6AE3524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7117-345E-494C-AD63-1A9A987B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94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21666-5794-4BA7-AA1A-3C10B6AE3524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7117-345E-494C-AD63-1A9A987B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623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21666-5794-4BA7-AA1A-3C10B6AE3524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7117-345E-494C-AD63-1A9A987BD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155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DABT Study Group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Recert</a:t>
            </a:r>
            <a:r>
              <a:rPr lang="en-US" dirty="0" smtClean="0"/>
              <a:t> Exam 2015 Part B V1</a:t>
            </a:r>
          </a:p>
          <a:p>
            <a:r>
              <a:rPr lang="en-US" dirty="0" smtClean="0"/>
              <a:t>Questions 9-16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400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425" y="412750"/>
            <a:ext cx="539115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48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36951"/>
            <a:ext cx="10515600" cy="264001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A) Best answer (p. 137 Essentials, Genetic Tox Chapter)</a:t>
            </a:r>
          </a:p>
          <a:p>
            <a:r>
              <a:rPr lang="en-US" dirty="0" smtClean="0"/>
              <a:t>B) Aneuploidy = abnormal # of chromosomes (X-rays, colchicine, benzene, </a:t>
            </a:r>
            <a:r>
              <a:rPr lang="en-US" dirty="0" err="1" smtClean="0"/>
              <a:t>etc</a:t>
            </a:r>
            <a:r>
              <a:rPr lang="en-US" dirty="0" smtClean="0"/>
              <a:t>…) </a:t>
            </a:r>
          </a:p>
          <a:p>
            <a:r>
              <a:rPr lang="en-US" dirty="0" smtClean="0"/>
              <a:t>C) DNA adducts won’t lead to protein adducts</a:t>
            </a:r>
          </a:p>
          <a:p>
            <a:r>
              <a:rPr lang="en-US" dirty="0" smtClean="0"/>
              <a:t>D) DNA adducts can affect cells in vivo or in vitro studies</a:t>
            </a:r>
          </a:p>
          <a:p>
            <a:r>
              <a:rPr lang="en-US" dirty="0" smtClean="0"/>
              <a:t>E) Not associated with DNA adducts – Second messengers are released in a cell usually promoted by a hormone (Wiki)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425" y="412750"/>
            <a:ext cx="5391150" cy="3124200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>
            <a:off x="3556000" y="914400"/>
            <a:ext cx="406400" cy="393700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928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612" y="344487"/>
            <a:ext cx="5438775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468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612" y="344487"/>
            <a:ext cx="5438775" cy="3019425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3498850" y="889000"/>
            <a:ext cx="406400" cy="393700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03550"/>
            <a:ext cx="10515600" cy="317341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A) best answer: malignant mesenchymal tumor derived from fibrous connective tissue (Wiki; p 122 Essentials; Chemical </a:t>
            </a:r>
            <a:r>
              <a:rPr lang="en-US" dirty="0" err="1" smtClean="0"/>
              <a:t>Carcinogeneis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Eliminate B, C</a:t>
            </a:r>
          </a:p>
          <a:p>
            <a:r>
              <a:rPr lang="en-US" dirty="0" smtClean="0"/>
              <a:t>“numerous </a:t>
            </a:r>
            <a:r>
              <a:rPr lang="en-US" dirty="0" err="1" smtClean="0"/>
              <a:t>atyipical</a:t>
            </a:r>
            <a:r>
              <a:rPr lang="en-US" dirty="0" smtClean="0"/>
              <a:t> mitoses” (Wiki)</a:t>
            </a:r>
          </a:p>
          <a:p>
            <a:pPr lvl="1"/>
            <a:r>
              <a:rPr lang="en-US" dirty="0" smtClean="0"/>
              <a:t>Eliminate E</a:t>
            </a:r>
          </a:p>
          <a:p>
            <a:r>
              <a:rPr lang="en-US" dirty="0" smtClean="0"/>
              <a:t>C) Would it be hepatocellular adenoma? Could not find much info. </a:t>
            </a:r>
          </a:p>
          <a:p>
            <a:r>
              <a:rPr lang="en-US" dirty="0" smtClean="0"/>
              <a:t>D) Eliminate: benign vs. malignant = other differences</a:t>
            </a:r>
          </a:p>
          <a:p>
            <a:pPr lvl="1"/>
            <a:r>
              <a:rPr lang="en-US" dirty="0" smtClean="0"/>
              <a:t>Malignant tumors capable of metastasis, invasion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8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25" y="698499"/>
            <a:ext cx="5543550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086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9100" y="842961"/>
            <a:ext cx="4375150" cy="5227639"/>
          </a:xfrm>
        </p:spPr>
        <p:txBody>
          <a:bodyPr/>
          <a:lstStyle/>
          <a:p>
            <a:r>
              <a:rPr lang="en-US" dirty="0" smtClean="0"/>
              <a:t>A,B, E are true Ch. 21 C&amp;D</a:t>
            </a:r>
          </a:p>
          <a:p>
            <a:r>
              <a:rPr lang="en-US" dirty="0" smtClean="0"/>
              <a:t>C is False</a:t>
            </a:r>
          </a:p>
          <a:p>
            <a:pPr lvl="1"/>
            <a:r>
              <a:rPr lang="en-US" dirty="0" smtClean="0"/>
              <a:t>Rats are more sensitive to thyroid hormone de-regulation than humans; rodent chronic hypersecretion of TSH results in focal hyperplasia and neoplastic lesions</a:t>
            </a:r>
          </a:p>
          <a:p>
            <a:r>
              <a:rPr lang="en-US" dirty="0" smtClean="0"/>
              <a:t>D is true (see article below)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25" y="698499"/>
            <a:ext cx="5543550" cy="421005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06450" y="3016250"/>
            <a:ext cx="406400" cy="393700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25" y="5533910"/>
            <a:ext cx="6659562" cy="89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84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987" y="379412"/>
            <a:ext cx="5534025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784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216399"/>
            <a:ext cx="10515600" cy="1960563"/>
          </a:xfrm>
        </p:spPr>
        <p:txBody>
          <a:bodyPr/>
          <a:lstStyle/>
          <a:p>
            <a:r>
              <a:rPr lang="en-US" dirty="0" smtClean="0"/>
              <a:t>See C&amp;D Chapter 15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987" y="379412"/>
            <a:ext cx="5534025" cy="2200275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3549650" y="1644650"/>
            <a:ext cx="406400" cy="393700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126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5" y="250825"/>
            <a:ext cx="5429250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309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216399"/>
            <a:ext cx="10515600" cy="2355851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A) luteal phase is mating induced in rats</a:t>
            </a:r>
          </a:p>
          <a:p>
            <a:r>
              <a:rPr lang="en-US" dirty="0" smtClean="0"/>
              <a:t>B) Correct</a:t>
            </a:r>
          </a:p>
          <a:p>
            <a:r>
              <a:rPr lang="en-US" dirty="0" smtClean="0"/>
              <a:t>C) Rats only</a:t>
            </a:r>
          </a:p>
          <a:p>
            <a:r>
              <a:rPr lang="en-US" dirty="0" smtClean="0"/>
              <a:t>D)Aromatase not expressed in rat placental tissue</a:t>
            </a:r>
          </a:p>
          <a:p>
            <a:r>
              <a:rPr lang="en-US" dirty="0" smtClean="0"/>
              <a:t>E) </a:t>
            </a:r>
            <a:r>
              <a:rPr lang="en-US" dirty="0" err="1" smtClean="0"/>
              <a:t>Spermatogenic</a:t>
            </a:r>
            <a:r>
              <a:rPr lang="en-US" dirty="0" smtClean="0"/>
              <a:t> cycle is ~53 days in rats</a:t>
            </a:r>
          </a:p>
          <a:p>
            <a:r>
              <a:rPr lang="en-US" dirty="0" smtClean="0"/>
              <a:t>See C&amp;D </a:t>
            </a:r>
            <a:r>
              <a:rPr lang="en-US" dirty="0" err="1" smtClean="0"/>
              <a:t>Ch</a:t>
            </a:r>
            <a:r>
              <a:rPr lang="en-US" dirty="0" smtClean="0"/>
              <a:t> 20 (Table 20-2 in 8</a:t>
            </a:r>
            <a:r>
              <a:rPr lang="en-US" baseline="30000" dirty="0" smtClean="0"/>
              <a:t>th</a:t>
            </a:r>
            <a:r>
              <a:rPr lang="en-US" dirty="0" smtClean="0"/>
              <a:t> Ed.)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5" y="250825"/>
            <a:ext cx="5429250" cy="321945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638550" y="1555750"/>
            <a:ext cx="406400" cy="393700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372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37" y="727075"/>
            <a:ext cx="5534025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067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4300" y="727075"/>
            <a:ext cx="5353050" cy="581342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A) True: C&amp;D 8</a:t>
            </a:r>
            <a:r>
              <a:rPr lang="en-US" baseline="30000" dirty="0" smtClean="0"/>
              <a:t>th</a:t>
            </a:r>
            <a:r>
              <a:rPr lang="en-US" dirty="0" smtClean="0"/>
              <a:t> Ed. </a:t>
            </a:r>
            <a:r>
              <a:rPr lang="en-US" dirty="0" err="1" smtClean="0"/>
              <a:t>Ch</a:t>
            </a:r>
            <a:r>
              <a:rPr lang="en-US" dirty="0" smtClean="0"/>
              <a:t> 10 p. 503</a:t>
            </a:r>
          </a:p>
          <a:p>
            <a:r>
              <a:rPr lang="en-US" dirty="0" smtClean="0"/>
              <a:t>B) false – Androgens cause masculinization of female fish (C&amp;D 7</a:t>
            </a:r>
            <a:r>
              <a:rPr lang="en-US" baseline="30000" dirty="0" smtClean="0"/>
              <a:t>th</a:t>
            </a:r>
            <a:r>
              <a:rPr lang="en-US" dirty="0" smtClean="0"/>
              <a:t> ed. Ch. 20 p. 789)</a:t>
            </a:r>
          </a:p>
          <a:p>
            <a:pPr lvl="1"/>
            <a:r>
              <a:rPr lang="en-US" dirty="0" smtClean="0"/>
              <a:t>Androgens stimulate/control male characteristics (testosterone)</a:t>
            </a:r>
          </a:p>
          <a:p>
            <a:pPr lvl="1"/>
            <a:r>
              <a:rPr lang="en-US" dirty="0" smtClean="0"/>
              <a:t>Antiandrogen effects most likely in males: hypospadias, retained nipples, </a:t>
            </a:r>
            <a:r>
              <a:rPr lang="en-US" dirty="0" err="1" smtClean="0"/>
              <a:t>etc</a:t>
            </a:r>
            <a:r>
              <a:rPr lang="en-US" dirty="0" smtClean="0"/>
              <a:t>… (ex. </a:t>
            </a:r>
            <a:r>
              <a:rPr lang="en-US" dirty="0" err="1" smtClean="0"/>
              <a:t>Dibutylphthalate</a:t>
            </a:r>
            <a:r>
              <a:rPr lang="en-US" dirty="0" smtClean="0"/>
              <a:t>)</a:t>
            </a:r>
          </a:p>
          <a:p>
            <a:r>
              <a:rPr lang="en-US" dirty="0" smtClean="0"/>
              <a:t>C) True: </a:t>
            </a:r>
            <a:r>
              <a:rPr lang="en-US" dirty="0" err="1" smtClean="0"/>
              <a:t>Ch</a:t>
            </a:r>
            <a:r>
              <a:rPr lang="en-US" dirty="0" smtClean="0"/>
              <a:t> 20</a:t>
            </a:r>
          </a:p>
          <a:p>
            <a:r>
              <a:rPr lang="en-US" dirty="0" smtClean="0"/>
              <a:t>D) may not be absolutely correct: not direct interaction, C&amp;D 8</a:t>
            </a:r>
            <a:r>
              <a:rPr lang="en-US" baseline="30000" dirty="0" smtClean="0"/>
              <a:t>th</a:t>
            </a:r>
            <a:r>
              <a:rPr lang="en-US" dirty="0" smtClean="0"/>
              <a:t> Ed. </a:t>
            </a:r>
            <a:r>
              <a:rPr lang="en-US" dirty="0" err="1" smtClean="0"/>
              <a:t>Ch</a:t>
            </a:r>
            <a:r>
              <a:rPr lang="en-US" dirty="0" smtClean="0"/>
              <a:t> 10 p. 502)</a:t>
            </a:r>
          </a:p>
          <a:p>
            <a:r>
              <a:rPr lang="en-US" dirty="0" smtClean="0"/>
              <a:t>E) True: </a:t>
            </a:r>
            <a:r>
              <a:rPr lang="en-US" dirty="0" err="1" smtClean="0"/>
              <a:t>Ch</a:t>
            </a:r>
            <a:r>
              <a:rPr lang="en-US" dirty="0" smtClean="0"/>
              <a:t> 10</a:t>
            </a:r>
          </a:p>
          <a:p>
            <a:pPr lvl="1"/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37" y="727075"/>
            <a:ext cx="5534025" cy="493395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047750" y="2235200"/>
            <a:ext cx="406400" cy="393700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20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650" y="300037"/>
            <a:ext cx="5257800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812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3321050"/>
            <a:ext cx="10985500" cy="2457450"/>
          </a:xfrm>
        </p:spPr>
        <p:txBody>
          <a:bodyPr/>
          <a:lstStyle/>
          <a:p>
            <a:r>
              <a:rPr lang="en-US" dirty="0" smtClean="0"/>
              <a:t>C is correct answer</a:t>
            </a:r>
          </a:p>
          <a:p>
            <a:pPr lvl="1"/>
            <a:r>
              <a:rPr lang="en-US" dirty="0" smtClean="0"/>
              <a:t>Essentials p. 150, Chapter 10 Developmental Toxicology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650" y="300037"/>
            <a:ext cx="5257800" cy="233362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492500" y="1600200"/>
            <a:ext cx="406400" cy="393700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688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362" y="414337"/>
            <a:ext cx="5476875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36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3321050"/>
            <a:ext cx="10985500" cy="311785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A) Adults: 80-100 µg/</a:t>
            </a:r>
            <a:r>
              <a:rPr lang="en-US" dirty="0" err="1" smtClean="0"/>
              <a:t>dL</a:t>
            </a:r>
            <a:r>
              <a:rPr lang="en-US" dirty="0" smtClean="0"/>
              <a:t>; Children: 100-120 µg/</a:t>
            </a:r>
            <a:r>
              <a:rPr lang="en-US" dirty="0" err="1" smtClean="0"/>
              <a:t>dL</a:t>
            </a:r>
            <a:endParaRPr lang="en-US" dirty="0" smtClean="0"/>
          </a:p>
          <a:p>
            <a:r>
              <a:rPr lang="en-US" dirty="0" smtClean="0"/>
              <a:t>B) Adults: 40 µg/</a:t>
            </a:r>
            <a:r>
              <a:rPr lang="en-US" dirty="0" err="1" smtClean="0"/>
              <a:t>dL</a:t>
            </a:r>
            <a:r>
              <a:rPr lang="en-US" dirty="0" smtClean="0"/>
              <a:t>; Children: 40-60 µg/</a:t>
            </a:r>
            <a:r>
              <a:rPr lang="en-US" dirty="0" err="1" smtClean="0"/>
              <a:t>dL</a:t>
            </a:r>
            <a:endParaRPr lang="en-US" dirty="0" smtClean="0"/>
          </a:p>
          <a:p>
            <a:r>
              <a:rPr lang="en-US" dirty="0" smtClean="0"/>
              <a:t>C) Adults/Children: 80-100 µg/</a:t>
            </a:r>
            <a:r>
              <a:rPr lang="en-US" dirty="0" err="1" smtClean="0"/>
              <a:t>dL</a:t>
            </a:r>
            <a:endParaRPr lang="en-US" dirty="0" smtClean="0"/>
          </a:p>
          <a:p>
            <a:r>
              <a:rPr lang="en-US" dirty="0" smtClean="0"/>
              <a:t>D is correct; 5-35 µg/</a:t>
            </a:r>
            <a:r>
              <a:rPr lang="en-US" dirty="0" err="1" smtClean="0"/>
              <a:t>dL</a:t>
            </a:r>
            <a:r>
              <a:rPr lang="en-US" dirty="0" smtClean="0"/>
              <a:t> </a:t>
            </a:r>
            <a:r>
              <a:rPr lang="en-US" dirty="0" smtClean="0">
                <a:sym typeface="Wingdings" panose="05000000000000000000" pitchFamily="2" charset="2"/>
              </a:rPr>
              <a:t> 2-4 point IQ deficit for each </a:t>
            </a:r>
            <a:r>
              <a:rPr lang="en-US" dirty="0" smtClean="0"/>
              <a:t>µg/</a:t>
            </a:r>
            <a:r>
              <a:rPr lang="en-US" dirty="0" err="1" smtClean="0"/>
              <a:t>dL</a:t>
            </a:r>
            <a:r>
              <a:rPr lang="en-US" dirty="0" smtClean="0"/>
              <a:t> increase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endParaRPr lang="en-US" dirty="0" smtClean="0"/>
          </a:p>
          <a:p>
            <a:pPr lvl="1"/>
            <a:r>
              <a:rPr lang="en-US" dirty="0" smtClean="0"/>
              <a:t>Essentials p. 352; </a:t>
            </a:r>
            <a:r>
              <a:rPr lang="en-US" dirty="0" err="1" smtClean="0"/>
              <a:t>Ch</a:t>
            </a:r>
            <a:r>
              <a:rPr lang="en-US" dirty="0" smtClean="0"/>
              <a:t> 23 Toxic Effects of Metals</a:t>
            </a:r>
          </a:p>
          <a:p>
            <a:r>
              <a:rPr lang="en-US" dirty="0" smtClean="0"/>
              <a:t>E) Inhibition of </a:t>
            </a:r>
            <a:r>
              <a:rPr lang="el-GR" dirty="0" smtClean="0"/>
              <a:t>δ</a:t>
            </a:r>
            <a:r>
              <a:rPr lang="en-US" dirty="0" smtClean="0"/>
              <a:t>-</a:t>
            </a:r>
            <a:r>
              <a:rPr lang="en-US" dirty="0" err="1" smtClean="0"/>
              <a:t>aminolevulinic</a:t>
            </a:r>
            <a:r>
              <a:rPr lang="en-US" dirty="0" smtClean="0"/>
              <a:t> acid dehydratase (ALAD) and </a:t>
            </a:r>
            <a:r>
              <a:rPr lang="en-US" dirty="0" err="1" smtClean="0"/>
              <a:t>ferrochelase</a:t>
            </a:r>
            <a:endParaRPr lang="en-US" dirty="0" smtClean="0"/>
          </a:p>
          <a:p>
            <a:pPr lvl="1"/>
            <a:r>
              <a:rPr lang="en-US" dirty="0" smtClean="0"/>
              <a:t>Adults/Children: 10 µg/</a:t>
            </a:r>
            <a:r>
              <a:rPr lang="en-US" dirty="0" err="1" smtClean="0"/>
              <a:t>dL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362" y="414337"/>
            <a:ext cx="5476875" cy="2524125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3708400" y="1968500"/>
            <a:ext cx="406400" cy="393700"/>
          </a:xfrm>
          <a:prstGeom prst="ellipse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29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9B7F2886B3614BAD1C6143B699D609" ma:contentTypeVersion="12" ma:contentTypeDescription="Create a new document." ma:contentTypeScope="" ma:versionID="8d6f94fb22da2931efc8eabeca6510bb">
  <xsd:schema xmlns:xsd="http://www.w3.org/2001/XMLSchema" xmlns:xs="http://www.w3.org/2001/XMLSchema" xmlns:p="http://schemas.microsoft.com/office/2006/metadata/properties" xmlns:ns2="5d6ef54a-aa24-4e91-bc8b-44812b1eded1" xmlns:ns3="a7046a94-50c7-43c0-b98b-a3969f4076e7" targetNamespace="http://schemas.microsoft.com/office/2006/metadata/properties" ma:root="true" ma:fieldsID="cc0728bd40b4971c3e26cb78e9cfffca" ns2:_="" ns3:_="">
    <xsd:import namespace="5d6ef54a-aa24-4e91-bc8b-44812b1eded1"/>
    <xsd:import namespace="a7046a94-50c7-43c0-b98b-a3969f4076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6ef54a-aa24-4e91-bc8b-44812b1ede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a933771c-307d-4a60-b7ad-eff2f0afcd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046a94-50c7-43c0-b98b-a3969f4076e7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e83d8983-1580-40b6-b87d-1f94fe43acac}" ma:internalName="TaxCatchAll" ma:showField="CatchAllData" ma:web="a7046a94-50c7-43c0-b98b-a3969f4076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6ef54a-aa24-4e91-bc8b-44812b1eded1">
      <Terms xmlns="http://schemas.microsoft.com/office/infopath/2007/PartnerControls"/>
    </lcf76f155ced4ddcb4097134ff3c332f>
    <TaxCatchAll xmlns="a7046a94-50c7-43c0-b98b-a3969f4076e7" xsi:nil="true"/>
  </documentManagement>
</p:properties>
</file>

<file path=customXml/itemProps1.xml><?xml version="1.0" encoding="utf-8"?>
<ds:datastoreItem xmlns:ds="http://schemas.openxmlformats.org/officeDocument/2006/customXml" ds:itemID="{4AB18BDD-7670-4961-A731-92B4C09F2601}"/>
</file>

<file path=customXml/itemProps2.xml><?xml version="1.0" encoding="utf-8"?>
<ds:datastoreItem xmlns:ds="http://schemas.openxmlformats.org/officeDocument/2006/customXml" ds:itemID="{FDAE3AFB-7C80-45E1-81F5-4FB17B9FC448}"/>
</file>

<file path=customXml/itemProps3.xml><?xml version="1.0" encoding="utf-8"?>
<ds:datastoreItem xmlns:ds="http://schemas.openxmlformats.org/officeDocument/2006/customXml" ds:itemID="{F69C4D5D-1505-4317-B838-74A7EF42114F}"/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426</Words>
  <Application>Microsoft Office PowerPoint</Application>
  <PresentationFormat>Custom</PresentationFormat>
  <Paragraphs>42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DABT Study Group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RJRT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Guynn, Jenna M</dc:creator>
  <cp:lastModifiedBy>April Lake</cp:lastModifiedBy>
  <cp:revision>16</cp:revision>
  <dcterms:created xsi:type="dcterms:W3CDTF">2017-08-22T13:04:19Z</dcterms:created>
  <dcterms:modified xsi:type="dcterms:W3CDTF">2018-02-12T23:50:42Z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0x010100FC9B7F2886B3614BAD1C6143B699D609</vt:lpwstr>
  </property>
</Properties>
</file>