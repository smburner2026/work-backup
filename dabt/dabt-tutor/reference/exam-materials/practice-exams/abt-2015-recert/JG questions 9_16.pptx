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-108" y="-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348B-9199-4186-A8AD-B2C314BCDDB7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6E13-6B55-47A6-80F1-E367B293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28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348B-9199-4186-A8AD-B2C314BCDDB7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6E13-6B55-47A6-80F1-E367B293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84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348B-9199-4186-A8AD-B2C314BCDDB7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6E13-6B55-47A6-80F1-E367B293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1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348B-9199-4186-A8AD-B2C314BCDDB7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6E13-6B55-47A6-80F1-E367B293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34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348B-9199-4186-A8AD-B2C314BCDDB7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6E13-6B55-47A6-80F1-E367B293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29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348B-9199-4186-A8AD-B2C314BCDDB7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6E13-6B55-47A6-80F1-E367B293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184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348B-9199-4186-A8AD-B2C314BCDDB7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6E13-6B55-47A6-80F1-E367B293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431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348B-9199-4186-A8AD-B2C314BCDDB7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6E13-6B55-47A6-80F1-E367B293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8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348B-9199-4186-A8AD-B2C314BCDDB7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6E13-6B55-47A6-80F1-E367B293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51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348B-9199-4186-A8AD-B2C314BCDDB7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6E13-6B55-47A6-80F1-E367B293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1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6348B-9199-4186-A8AD-B2C314BCDDB7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6E13-6B55-47A6-80F1-E367B293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3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6348B-9199-4186-A8AD-B2C314BCDDB7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26E13-6B55-47A6-80F1-E367B2939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19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Recert</a:t>
            </a:r>
            <a:r>
              <a:rPr lang="en-US" dirty="0" smtClean="0"/>
              <a:t> Exam 2015 Part A v.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Questions 9-16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82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7" y="333375"/>
            <a:ext cx="823912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532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27449"/>
            <a:ext cx="10750550" cy="244951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A) Eliminate – asbestos is associated with lung disease and lung cancer</a:t>
            </a:r>
          </a:p>
          <a:p>
            <a:r>
              <a:rPr lang="en-US" dirty="0" smtClean="0"/>
              <a:t>B) Eliminate – Lead is associated with cancer, but not leukemia</a:t>
            </a:r>
          </a:p>
          <a:p>
            <a:pPr lvl="1"/>
            <a:r>
              <a:rPr lang="en-US" dirty="0" smtClean="0"/>
              <a:t>lung/brain, kidney in rodents</a:t>
            </a:r>
          </a:p>
          <a:p>
            <a:r>
              <a:rPr lang="en-US" dirty="0" smtClean="0"/>
              <a:t>C) Correct – Epi studies support association of benzene exposure with acute myelogenous leukemia (C&amp;D 7</a:t>
            </a:r>
            <a:r>
              <a:rPr lang="en-US" baseline="30000" dirty="0" smtClean="0"/>
              <a:t>th</a:t>
            </a:r>
            <a:r>
              <a:rPr lang="en-US" dirty="0" smtClean="0"/>
              <a:t> Ed. P. 1007).</a:t>
            </a:r>
          </a:p>
          <a:p>
            <a:r>
              <a:rPr lang="en-US" dirty="0" smtClean="0"/>
              <a:t>D) Eliminate – Lung and kidney effects.</a:t>
            </a:r>
          </a:p>
          <a:p>
            <a:r>
              <a:rPr lang="en-US" dirty="0" smtClean="0"/>
              <a:t>E) Eliminate – low acute toxicity, effects similar to other solvents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7" y="333375"/>
            <a:ext cx="8239125" cy="344805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387600" y="2451100"/>
            <a:ext cx="647700" cy="469900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78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7" y="215900"/>
            <a:ext cx="823912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705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051299"/>
            <a:ext cx="10515600" cy="2425701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A) not relevant</a:t>
            </a:r>
          </a:p>
          <a:p>
            <a:r>
              <a:rPr lang="en-US" dirty="0" smtClean="0"/>
              <a:t>B) Relevant in general, but not best choice</a:t>
            </a:r>
          </a:p>
          <a:p>
            <a:r>
              <a:rPr lang="en-US" dirty="0" smtClean="0"/>
              <a:t>C) Relevant to lung/inhalation studies, but not best choice</a:t>
            </a:r>
          </a:p>
          <a:p>
            <a:r>
              <a:rPr lang="en-US" dirty="0" smtClean="0"/>
              <a:t>D) Mentioned in book without the length of time – not best choice</a:t>
            </a:r>
          </a:p>
          <a:p>
            <a:r>
              <a:rPr lang="en-US" dirty="0" smtClean="0"/>
              <a:t>E) Best choice – these aspects are of “utmost importance”. (C&amp;D Essentials p. 420)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37" y="267903"/>
            <a:ext cx="5681663" cy="378339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38200" y="3340100"/>
            <a:ext cx="647700" cy="469900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97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495300"/>
            <a:ext cx="802005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81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6450" y="1111250"/>
            <a:ext cx="5467350" cy="5065713"/>
          </a:xfrm>
        </p:spPr>
        <p:txBody>
          <a:bodyPr/>
          <a:lstStyle/>
          <a:p>
            <a:r>
              <a:rPr lang="en-US" dirty="0" smtClean="0"/>
              <a:t>MOA requires crystal </a:t>
            </a:r>
            <a:r>
              <a:rPr lang="en-US" dirty="0" err="1" smtClean="0"/>
              <a:t>Bt</a:t>
            </a:r>
            <a:r>
              <a:rPr lang="en-US" dirty="0" smtClean="0"/>
              <a:t> proteins, so eliminate C and E</a:t>
            </a:r>
          </a:p>
          <a:p>
            <a:r>
              <a:rPr lang="en-US" dirty="0" smtClean="0"/>
              <a:t>A) Correct – C&amp;D 7</a:t>
            </a:r>
            <a:r>
              <a:rPr lang="en-US" baseline="30000" dirty="0" smtClean="0"/>
              <a:t>th</a:t>
            </a:r>
            <a:r>
              <a:rPr lang="en-US" dirty="0" smtClean="0"/>
              <a:t> Ed p. 910 </a:t>
            </a:r>
          </a:p>
          <a:p>
            <a:r>
              <a:rPr lang="en-US" dirty="0" smtClean="0"/>
              <a:t>B) Eliminate - </a:t>
            </a:r>
            <a:r>
              <a:rPr lang="en-US" dirty="0" err="1" smtClean="0"/>
              <a:t>Avermectins</a:t>
            </a:r>
            <a:r>
              <a:rPr lang="en-US" dirty="0" smtClean="0"/>
              <a:t> bind to/activate glutamate-dependent chloride channels</a:t>
            </a:r>
          </a:p>
          <a:p>
            <a:r>
              <a:rPr lang="en-US" dirty="0" smtClean="0"/>
              <a:t>D) Eliminate – OPs bind to NTE</a:t>
            </a:r>
          </a:p>
          <a:p>
            <a:r>
              <a:rPr lang="en-US" dirty="0" smtClean="0"/>
              <a:t>E) Eliminate – Type I/II </a:t>
            </a:r>
            <a:r>
              <a:rPr lang="en-US" dirty="0" err="1" smtClean="0"/>
              <a:t>Pyrethroids</a:t>
            </a:r>
            <a:r>
              <a:rPr lang="en-US" dirty="0" smtClean="0"/>
              <a:t>, DDT, and </a:t>
            </a:r>
            <a:r>
              <a:rPr lang="en-US" dirty="0" err="1" smtClean="0"/>
              <a:t>Dihydropyralozes</a:t>
            </a:r>
            <a:r>
              <a:rPr lang="en-US" dirty="0" smtClean="0"/>
              <a:t> modify kinetics of sodium channels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59" y="1111250"/>
            <a:ext cx="4912715" cy="35941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16559" y="1784350"/>
            <a:ext cx="647700" cy="469900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43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341312"/>
            <a:ext cx="83439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97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7599"/>
            <a:ext cx="10731500" cy="2813051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A) Eliminate – Of note, cholinesterase can refer to </a:t>
            </a:r>
            <a:r>
              <a:rPr lang="en-US" dirty="0" err="1" smtClean="0"/>
              <a:t>AChE</a:t>
            </a:r>
            <a:r>
              <a:rPr lang="en-US" dirty="0" smtClean="0"/>
              <a:t> and </a:t>
            </a:r>
            <a:r>
              <a:rPr lang="en-US" dirty="0" err="1" smtClean="0"/>
              <a:t>Butyrylcholinesterase</a:t>
            </a:r>
            <a:endParaRPr lang="en-US" dirty="0" smtClean="0"/>
          </a:p>
          <a:p>
            <a:pPr lvl="1"/>
            <a:r>
              <a:rPr lang="en-US" dirty="0" smtClean="0"/>
              <a:t>OPs and Carbamates </a:t>
            </a:r>
            <a:r>
              <a:rPr lang="en-US" dirty="0" err="1" smtClean="0"/>
              <a:t>inhibite</a:t>
            </a:r>
            <a:r>
              <a:rPr lang="en-US" dirty="0" smtClean="0"/>
              <a:t> </a:t>
            </a:r>
            <a:r>
              <a:rPr lang="en-US" dirty="0" err="1" smtClean="0"/>
              <a:t>AChE</a:t>
            </a:r>
            <a:endParaRPr lang="en-US" dirty="0" smtClean="0"/>
          </a:p>
          <a:p>
            <a:r>
              <a:rPr lang="en-US" dirty="0" smtClean="0"/>
              <a:t>B) Correct – </a:t>
            </a:r>
            <a:r>
              <a:rPr lang="en-US" dirty="0" err="1" smtClean="0"/>
              <a:t>Pyrethroids</a:t>
            </a:r>
            <a:r>
              <a:rPr lang="en-US" dirty="0" smtClean="0"/>
              <a:t> (Type I/II) slow inactivation of Na+ channels leading to a stable, </a:t>
            </a:r>
            <a:r>
              <a:rPr lang="en-US" dirty="0" err="1" smtClean="0"/>
              <a:t>hyperexcitable</a:t>
            </a:r>
            <a:r>
              <a:rPr lang="en-US" dirty="0" smtClean="0"/>
              <a:t> state (C&amp;D Essentials p.339). </a:t>
            </a:r>
          </a:p>
          <a:p>
            <a:pPr lvl="1"/>
            <a:r>
              <a:rPr lang="en-US" dirty="0" smtClean="0"/>
              <a:t>Type II </a:t>
            </a:r>
            <a:r>
              <a:rPr lang="en-US" dirty="0" err="1" smtClean="0"/>
              <a:t>Pyrethroids</a:t>
            </a:r>
            <a:r>
              <a:rPr lang="en-US" dirty="0" smtClean="0"/>
              <a:t> bind and inhibit GABA-gated chloride channels</a:t>
            </a:r>
          </a:p>
          <a:p>
            <a:r>
              <a:rPr lang="en-US" dirty="0" smtClean="0"/>
              <a:t>C) Not relevant to insecticides?</a:t>
            </a:r>
          </a:p>
          <a:p>
            <a:r>
              <a:rPr lang="en-US" dirty="0" smtClean="0"/>
              <a:t>D) Eliminate – </a:t>
            </a:r>
            <a:r>
              <a:rPr lang="en-US" dirty="0" err="1" smtClean="0"/>
              <a:t>Chlordecone</a:t>
            </a:r>
            <a:r>
              <a:rPr lang="en-US" dirty="0" smtClean="0"/>
              <a:t> (an organochlorine) likely exerts toxic effects through inhibition of </a:t>
            </a:r>
            <a:r>
              <a:rPr lang="en-US" dirty="0" err="1" smtClean="0"/>
              <a:t>ATPases</a:t>
            </a:r>
            <a:r>
              <a:rPr lang="en-US" dirty="0" smtClean="0"/>
              <a:t> (C&amp;D 7</a:t>
            </a:r>
            <a:r>
              <a:rPr lang="en-US" baseline="30000" dirty="0" smtClean="0"/>
              <a:t>th</a:t>
            </a:r>
            <a:r>
              <a:rPr lang="en-US" dirty="0" smtClean="0"/>
              <a:t> p. 904-5) </a:t>
            </a:r>
          </a:p>
          <a:p>
            <a:r>
              <a:rPr lang="en-US" dirty="0" smtClean="0"/>
              <a:t>E) Eliminate – Nicotine and Neonicotinoids activate nicotinic acetylcholine receptors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7663"/>
            <a:ext cx="6103579" cy="317023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97559" y="1697832"/>
            <a:ext cx="647700" cy="469900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09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549275"/>
            <a:ext cx="8362950" cy="3638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346075"/>
            <a:ext cx="83629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21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549275"/>
            <a:ext cx="8362950" cy="3638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339725"/>
            <a:ext cx="8362950" cy="363855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469159" y="1598613"/>
            <a:ext cx="647700" cy="469900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188218" y="1815832"/>
            <a:ext cx="324165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Examples of carbamate: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Carbaryl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Aldicarb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21100"/>
            <a:ext cx="10515600" cy="295275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A) Correct: Carbamates inhibit </a:t>
            </a:r>
            <a:r>
              <a:rPr lang="en-US" dirty="0" err="1" smtClean="0"/>
              <a:t>AChE</a:t>
            </a:r>
            <a:r>
              <a:rPr lang="en-US" dirty="0" smtClean="0"/>
              <a:t> = accumulation of acetylcholine at cholinergic synapses = overstimulation of muscarinic and nicotinic receptors.</a:t>
            </a:r>
          </a:p>
          <a:p>
            <a:r>
              <a:rPr lang="en-US" dirty="0" smtClean="0"/>
              <a:t>B) AMPA and NDMA receptors</a:t>
            </a:r>
          </a:p>
          <a:p>
            <a:r>
              <a:rPr lang="en-US" dirty="0" smtClean="0"/>
              <a:t>C) Glycine and NMDA receptors</a:t>
            </a:r>
          </a:p>
          <a:p>
            <a:r>
              <a:rPr lang="en-US" dirty="0" smtClean="0"/>
              <a:t>D) Serotonergic refers to neurons. Serotonin binds to numerous 5-HT receptors.</a:t>
            </a:r>
          </a:p>
          <a:p>
            <a:r>
              <a:rPr lang="en-US" dirty="0" smtClean="0"/>
              <a:t>E)  Dopamine receptors, TAARs</a:t>
            </a:r>
          </a:p>
        </p:txBody>
      </p:sp>
    </p:spTree>
    <p:extLst>
      <p:ext uri="{BB962C8B-B14F-4D97-AF65-F5344CB8AC3E}">
        <p14:creationId xmlns:p14="http://schemas.microsoft.com/office/powerpoint/2010/main" val="1871824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460375"/>
            <a:ext cx="79629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79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36925"/>
            <a:ext cx="10515600" cy="284003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A) Correct – </a:t>
            </a:r>
            <a:r>
              <a:rPr lang="en-US" dirty="0" err="1" smtClean="0"/>
              <a:t>Carbaryl</a:t>
            </a:r>
            <a:r>
              <a:rPr lang="en-US" dirty="0" smtClean="0"/>
              <a:t> (a carbamate) rapidly and reversibly binds </a:t>
            </a:r>
            <a:r>
              <a:rPr lang="en-US" dirty="0" err="1" smtClean="0"/>
              <a:t>AChE</a:t>
            </a:r>
            <a:r>
              <a:rPr lang="en-US" dirty="0" smtClean="0"/>
              <a:t> </a:t>
            </a:r>
          </a:p>
          <a:p>
            <a:r>
              <a:rPr lang="en-US" dirty="0" smtClean="0"/>
              <a:t>B) Malathion is an OP (hydrolyzed slowly, irreversible binding to </a:t>
            </a:r>
            <a:r>
              <a:rPr lang="en-US" dirty="0" err="1" smtClean="0"/>
              <a:t>AChE</a:t>
            </a:r>
            <a:r>
              <a:rPr lang="en-US" dirty="0" smtClean="0"/>
              <a:t> when “aged”)</a:t>
            </a:r>
          </a:p>
          <a:p>
            <a:r>
              <a:rPr lang="en-US" dirty="0" smtClean="0"/>
              <a:t>C) </a:t>
            </a:r>
            <a:r>
              <a:rPr lang="en-US" dirty="0" err="1" smtClean="0"/>
              <a:t>Chlorpyrifos</a:t>
            </a:r>
            <a:r>
              <a:rPr lang="en-US" dirty="0" smtClean="0"/>
              <a:t> is an OP</a:t>
            </a:r>
          </a:p>
          <a:p>
            <a:r>
              <a:rPr lang="en-US" dirty="0" smtClean="0"/>
              <a:t>D) </a:t>
            </a:r>
            <a:r>
              <a:rPr lang="en-US" dirty="0" err="1" smtClean="0"/>
              <a:t>Diazinon</a:t>
            </a:r>
            <a:r>
              <a:rPr lang="en-US" dirty="0" smtClean="0"/>
              <a:t> is an OP</a:t>
            </a:r>
          </a:p>
          <a:p>
            <a:r>
              <a:rPr lang="en-US" dirty="0" smtClean="0"/>
              <a:t>E) Sarin is an OP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460375"/>
            <a:ext cx="7962900" cy="287655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297709" y="1293813"/>
            <a:ext cx="647700" cy="469900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89750" y="1670050"/>
            <a:ext cx="26756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Other carbamates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Aldicarb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Carbofuran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Propoxur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187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187" y="342900"/>
            <a:ext cx="766762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406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16350"/>
            <a:ext cx="10515600" cy="2666999"/>
          </a:xfrm>
        </p:spPr>
        <p:txBody>
          <a:bodyPr>
            <a:normAutofit/>
          </a:bodyPr>
          <a:lstStyle/>
          <a:p>
            <a:r>
              <a:rPr lang="en-US" dirty="0" smtClean="0"/>
              <a:t>A) </a:t>
            </a:r>
            <a:r>
              <a:rPr lang="en-US" dirty="0" err="1" smtClean="0"/>
              <a:t>Coumarin</a:t>
            </a:r>
            <a:r>
              <a:rPr lang="en-US" dirty="0" smtClean="0"/>
              <a:t> derivatives, Warfarin</a:t>
            </a:r>
          </a:p>
          <a:p>
            <a:r>
              <a:rPr lang="en-US" dirty="0" smtClean="0"/>
              <a:t>B) </a:t>
            </a:r>
            <a:r>
              <a:rPr lang="en-US" dirty="0" err="1" smtClean="0"/>
              <a:t>Pyrethroids</a:t>
            </a:r>
            <a:r>
              <a:rPr lang="en-US" dirty="0" smtClean="0"/>
              <a:t>, DDT, </a:t>
            </a:r>
            <a:r>
              <a:rPr lang="en-US" dirty="0" err="1" smtClean="0"/>
              <a:t>Dihydropyrazoles</a:t>
            </a:r>
            <a:endParaRPr lang="en-US" dirty="0" smtClean="0"/>
          </a:p>
          <a:p>
            <a:r>
              <a:rPr lang="en-US" dirty="0" smtClean="0"/>
              <a:t>C) Correct </a:t>
            </a:r>
          </a:p>
          <a:p>
            <a:r>
              <a:rPr lang="en-US" dirty="0" smtClean="0"/>
              <a:t>D) </a:t>
            </a:r>
            <a:r>
              <a:rPr lang="en-US" dirty="0" err="1" smtClean="0"/>
              <a:t>Rotenoids</a:t>
            </a:r>
            <a:r>
              <a:rPr lang="en-US" dirty="0" smtClean="0"/>
              <a:t> (Rotenone)</a:t>
            </a:r>
          </a:p>
          <a:p>
            <a:r>
              <a:rPr lang="en-US" dirty="0" smtClean="0"/>
              <a:t>E) </a:t>
            </a:r>
            <a:r>
              <a:rPr lang="en-US" dirty="0" err="1" smtClean="0"/>
              <a:t>Formamidines</a:t>
            </a:r>
            <a:r>
              <a:rPr lang="en-US" dirty="0" smtClean="0"/>
              <a:t> (</a:t>
            </a:r>
            <a:r>
              <a:rPr lang="en-US" dirty="0" err="1" smtClean="0"/>
              <a:t>Chlordimeform</a:t>
            </a:r>
            <a:r>
              <a:rPr lang="en-US" dirty="0" smtClean="0"/>
              <a:t>, </a:t>
            </a:r>
            <a:r>
              <a:rPr lang="en-US" dirty="0" err="1" smtClean="0"/>
              <a:t>Amitraz</a:t>
            </a:r>
            <a:r>
              <a:rPr lang="en-US" dirty="0"/>
              <a:t>)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88" y="317500"/>
            <a:ext cx="5971248" cy="33528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38200" y="1993900"/>
            <a:ext cx="647700" cy="469900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01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62" y="304800"/>
            <a:ext cx="860107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98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38891"/>
            <a:ext cx="10515600" cy="2038071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A) </a:t>
            </a:r>
            <a:r>
              <a:rPr lang="en-US" dirty="0" err="1" smtClean="0"/>
              <a:t>Pulmomary</a:t>
            </a:r>
            <a:r>
              <a:rPr lang="en-US" dirty="0" smtClean="0"/>
              <a:t> edema</a:t>
            </a:r>
          </a:p>
          <a:p>
            <a:r>
              <a:rPr lang="en-US" dirty="0" smtClean="0"/>
              <a:t>B</a:t>
            </a:r>
            <a:r>
              <a:rPr lang="en-US" smtClean="0"/>
              <a:t>) Palladium </a:t>
            </a:r>
            <a:r>
              <a:rPr lang="en-US" dirty="0" smtClean="0"/>
              <a:t>is poorly absorbed</a:t>
            </a:r>
          </a:p>
          <a:p>
            <a:r>
              <a:rPr lang="en-US" dirty="0" smtClean="0"/>
              <a:t>C) Platinum metal affects skin and lung (hypersensitivity)</a:t>
            </a:r>
          </a:p>
          <a:p>
            <a:r>
              <a:rPr lang="en-US" dirty="0" smtClean="0"/>
              <a:t>D) Effects may persist for years (C&amp;D 7</a:t>
            </a:r>
            <a:r>
              <a:rPr lang="en-US" baseline="30000" dirty="0" smtClean="0"/>
              <a:t>th</a:t>
            </a:r>
            <a:r>
              <a:rPr lang="en-US" dirty="0" smtClean="0"/>
              <a:t> Ed. P. 963)</a:t>
            </a:r>
          </a:p>
          <a:p>
            <a:r>
              <a:rPr lang="en-US" dirty="0" smtClean="0"/>
              <a:t>E) Correct (C&amp;D Essentials p. 358)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9017"/>
            <a:ext cx="6084887" cy="371966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27100" y="3244850"/>
            <a:ext cx="647700" cy="469900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091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9B7F2886B3614BAD1C6143B699D609" ma:contentTypeVersion="12" ma:contentTypeDescription="Create a new document." ma:contentTypeScope="" ma:versionID="8d6f94fb22da2931efc8eabeca6510bb">
  <xsd:schema xmlns:xsd="http://www.w3.org/2001/XMLSchema" xmlns:xs="http://www.w3.org/2001/XMLSchema" xmlns:p="http://schemas.microsoft.com/office/2006/metadata/properties" xmlns:ns2="5d6ef54a-aa24-4e91-bc8b-44812b1eded1" xmlns:ns3="a7046a94-50c7-43c0-b98b-a3969f4076e7" targetNamespace="http://schemas.microsoft.com/office/2006/metadata/properties" ma:root="true" ma:fieldsID="cc0728bd40b4971c3e26cb78e9cfffca" ns2:_="" ns3:_="">
    <xsd:import namespace="5d6ef54a-aa24-4e91-bc8b-44812b1eded1"/>
    <xsd:import namespace="a7046a94-50c7-43c0-b98b-a3969f4076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ef54a-aa24-4e91-bc8b-44812b1ede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933771c-307d-4a60-b7ad-eff2f0afcd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46a94-50c7-43c0-b98b-a3969f4076e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83d8983-1580-40b6-b87d-1f94fe43acac}" ma:internalName="TaxCatchAll" ma:showField="CatchAllData" ma:web="a7046a94-50c7-43c0-b98b-a3969f4076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6ef54a-aa24-4e91-bc8b-44812b1eded1">
      <Terms xmlns="http://schemas.microsoft.com/office/infopath/2007/PartnerControls"/>
    </lcf76f155ced4ddcb4097134ff3c332f>
    <TaxCatchAll xmlns="a7046a94-50c7-43c0-b98b-a3969f4076e7" xsi:nil="true"/>
  </documentManagement>
</p:properties>
</file>

<file path=customXml/itemProps1.xml><?xml version="1.0" encoding="utf-8"?>
<ds:datastoreItem xmlns:ds="http://schemas.openxmlformats.org/officeDocument/2006/customXml" ds:itemID="{4F778E54-BBEC-4A52-89B7-577C03131733}"/>
</file>

<file path=customXml/itemProps2.xml><?xml version="1.0" encoding="utf-8"?>
<ds:datastoreItem xmlns:ds="http://schemas.openxmlformats.org/officeDocument/2006/customXml" ds:itemID="{A6FF5E10-D9F8-455B-84B5-6B8E05B43F4A}"/>
</file>

<file path=customXml/itemProps3.xml><?xml version="1.0" encoding="utf-8"?>
<ds:datastoreItem xmlns:ds="http://schemas.openxmlformats.org/officeDocument/2006/customXml" ds:itemID="{0B44F552-F962-4BB9-9A09-527AB227A603}"/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497</Words>
  <Application>Microsoft Office PowerPoint</Application>
  <PresentationFormat>Custom</PresentationFormat>
  <Paragraphs>56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Recert Exam 2015 Part A v. 1</vt:lpstr>
      <vt:lpstr> </vt:lpstr>
      <vt:lpstr> </vt:lpstr>
      <vt:lpstr>PowerPoint Presentation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RJRT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Guynn, Jenna M</dc:creator>
  <cp:lastModifiedBy>April Lake</cp:lastModifiedBy>
  <cp:revision>14</cp:revision>
  <dcterms:created xsi:type="dcterms:W3CDTF">2017-08-13T17:57:13Z</dcterms:created>
  <dcterms:modified xsi:type="dcterms:W3CDTF">2018-02-12T23:47:54Z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0x010100FC9B7F2886B3614BAD1C6143B699D609</vt:lpwstr>
  </property>
</Properties>
</file>