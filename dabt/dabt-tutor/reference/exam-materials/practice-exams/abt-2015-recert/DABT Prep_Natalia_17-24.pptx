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319" r:id="rId3"/>
    <p:sldId id="320" r:id="rId4"/>
    <p:sldId id="311" r:id="rId5"/>
    <p:sldId id="321" r:id="rId6"/>
    <p:sldId id="322" r:id="rId7"/>
    <p:sldId id="323" r:id="rId8"/>
    <p:sldId id="312" r:id="rId9"/>
    <p:sldId id="324" r:id="rId10"/>
    <p:sldId id="325" r:id="rId11"/>
    <p:sldId id="314" r:id="rId12"/>
    <p:sldId id="331" r:id="rId13"/>
    <p:sldId id="332" r:id="rId14"/>
    <p:sldId id="315" r:id="rId15"/>
    <p:sldId id="326" r:id="rId16"/>
    <p:sldId id="330" r:id="rId17"/>
    <p:sldId id="316" r:id="rId18"/>
    <p:sldId id="327" r:id="rId19"/>
    <p:sldId id="329" r:id="rId20"/>
    <p:sldId id="317" r:id="rId21"/>
    <p:sldId id="335" r:id="rId22"/>
    <p:sldId id="318" r:id="rId23"/>
    <p:sldId id="333" r:id="rId24"/>
    <p:sldId id="33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644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8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5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8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6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1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3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3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7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6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0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7C651-CA70-4553-9F8C-71861FE9D48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FCFC8-03EC-4AEB-9C07-8EB778CCF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1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86275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0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837"/>
            <a:ext cx="8229600" cy="3687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Manganese – childhood developmental disorders, neurodegeneration in adults</a:t>
            </a:r>
          </a:p>
          <a:p>
            <a:r>
              <a:rPr lang="en-US" sz="1800" dirty="0" smtClean="0"/>
              <a:t>Nicotine – nausea, dizziness, other CNS effects</a:t>
            </a:r>
          </a:p>
          <a:p>
            <a:r>
              <a:rPr lang="en-US" sz="1800" dirty="0" smtClean="0"/>
              <a:t>Rotenone – acute </a:t>
            </a:r>
            <a:r>
              <a:rPr lang="en-US" sz="1800" dirty="0" err="1" smtClean="0"/>
              <a:t>tox</a:t>
            </a:r>
            <a:r>
              <a:rPr lang="en-US" sz="1800" dirty="0" smtClean="0"/>
              <a:t> is rare because causes vomiting, dopamine neuron loss</a:t>
            </a:r>
          </a:p>
          <a:p>
            <a:r>
              <a:rPr lang="en-US" sz="1800" dirty="0" smtClean="0"/>
              <a:t>Thallium – known rodenticide, extensive alopecia (hair loss)</a:t>
            </a:r>
          </a:p>
          <a:p>
            <a:r>
              <a:rPr lang="en-US" sz="1800" dirty="0" err="1" smtClean="0"/>
              <a:t>Fluoroacetic</a:t>
            </a:r>
            <a:r>
              <a:rPr lang="en-US" sz="1800" dirty="0" smtClean="0"/>
              <a:t> acid – known rodenticide, use restricted to trained personnel, GI effects, followed by severe cardiovascular and CNS effects (agitation, convulsions, coma)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86275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88668"/>
            <a:ext cx="2685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22  p. 969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08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837"/>
            <a:ext cx="8229600" cy="3687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Manganese – childhood developmental disorders, neurodegeneration in adults</a:t>
            </a:r>
          </a:p>
          <a:p>
            <a:r>
              <a:rPr lang="en-US" sz="1800" dirty="0" smtClean="0"/>
              <a:t>Nicotine – nausea, dizziness, other CNS effects</a:t>
            </a:r>
          </a:p>
          <a:p>
            <a:r>
              <a:rPr lang="en-US" sz="1800" dirty="0" smtClean="0"/>
              <a:t>Rotenone – acute </a:t>
            </a:r>
            <a:r>
              <a:rPr lang="en-US" sz="1800" dirty="0" err="1" smtClean="0"/>
              <a:t>tox</a:t>
            </a:r>
            <a:r>
              <a:rPr lang="en-US" sz="1800" dirty="0" smtClean="0"/>
              <a:t> is rare because causes vomiting, dopamine neuron loss</a:t>
            </a:r>
          </a:p>
          <a:p>
            <a:r>
              <a:rPr lang="en-US" sz="1800" dirty="0" smtClean="0"/>
              <a:t>Thallium – known rodenticide, extensive alopecia (hair loss)</a:t>
            </a:r>
          </a:p>
          <a:p>
            <a:r>
              <a:rPr lang="en-US" sz="1800" dirty="0" err="1" smtClean="0"/>
              <a:t>Fluoroacetic</a:t>
            </a:r>
            <a:r>
              <a:rPr lang="en-US" sz="1800" dirty="0" smtClean="0"/>
              <a:t> acid – known rodenticide, use restricted to trained personnel, GI effects, followed by severe cardiovascular and CNS effects (agitation, convulsions, coma)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0000FF"/>
                </a:solidFill>
              </a:rPr>
              <a:t>ANSWER:  </a:t>
            </a:r>
            <a:r>
              <a:rPr lang="en-US" sz="2000" b="1" dirty="0" smtClean="0">
                <a:solidFill>
                  <a:srgbClr val="0000FF"/>
                </a:solidFill>
              </a:rPr>
              <a:t>thallium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0000FF"/>
                </a:solidFill>
              </a:rPr>
              <a:t>Hair loss is the key</a:t>
            </a:r>
            <a:endParaRPr lang="en-US" sz="2000" dirty="0">
              <a:solidFill>
                <a:srgbClr val="0000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86275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6488668"/>
            <a:ext cx="2685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22  p. 969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100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038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600200"/>
            <a:ext cx="4953000" cy="45259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Organophosphate insecticides are probably the pesticides of most concern for acute human toxicity</a:t>
            </a:r>
          </a:p>
          <a:p>
            <a:r>
              <a:rPr lang="en-US" sz="1800" dirty="0" smtClean="0"/>
              <a:t>OPs = cholinesterase inhibitors</a:t>
            </a:r>
          </a:p>
          <a:p>
            <a:r>
              <a:rPr lang="en-US" sz="1800" dirty="0" smtClean="0"/>
              <a:t>Atropine = anticholinergic/</a:t>
            </a:r>
            <a:r>
              <a:rPr lang="en-US" sz="1800" dirty="0" err="1" smtClean="0"/>
              <a:t>antimuscarinic</a:t>
            </a:r>
            <a:endParaRPr lang="en-US" sz="1800" dirty="0" smtClean="0"/>
          </a:p>
          <a:p>
            <a:r>
              <a:rPr lang="en-US" sz="1800" dirty="0" smtClean="0"/>
              <a:t>2-PAM (</a:t>
            </a:r>
            <a:r>
              <a:rPr lang="en-US" sz="1800" dirty="0" err="1" smtClean="0"/>
              <a:t>pralidoxime</a:t>
            </a:r>
            <a:r>
              <a:rPr lang="en-US" sz="1800" dirty="0" smtClean="0"/>
              <a:t>) = reverses the binding of cholinesterase inhibitors with acetylcholinesterase</a:t>
            </a:r>
          </a:p>
          <a:p>
            <a:endParaRPr lang="en-US" sz="1800" dirty="0" smtClean="0"/>
          </a:p>
          <a:p>
            <a:r>
              <a:rPr lang="en-US" sz="1800" dirty="0" smtClean="0"/>
              <a:t>Aging </a:t>
            </a:r>
            <a:r>
              <a:rPr lang="en-US" sz="1800" dirty="0"/>
              <a:t>= net loss of a ligand from the phosphorus of the OP-enzyme conjugate, leaving a negatively charged phosphoryl moiety attached to the active site</a:t>
            </a:r>
          </a:p>
          <a:p>
            <a:pPr marL="0" indent="0">
              <a:buNone/>
            </a:pPr>
            <a:endParaRPr lang="en-US" sz="1800" dirty="0" smtClean="0"/>
          </a:p>
          <a:p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100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6488668"/>
            <a:ext cx="385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16, Figure 16-5, p. 746</a:t>
            </a:r>
            <a:endParaRPr lang="en-US" dirty="0"/>
          </a:p>
        </p:txBody>
      </p:sp>
      <p:pic>
        <p:nvPicPr>
          <p:cNvPr id="2052" name="Picture 4" descr="Image not availabl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524000"/>
            <a:ext cx="3382545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6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600200"/>
            <a:ext cx="4953000" cy="52578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Organophosphate insecticides are probably the pesticides of most concern for acute human toxicity</a:t>
            </a:r>
          </a:p>
          <a:p>
            <a:r>
              <a:rPr lang="en-US" sz="1800" dirty="0" smtClean="0"/>
              <a:t>OPs = cholinesterase inhibitors</a:t>
            </a:r>
          </a:p>
          <a:p>
            <a:r>
              <a:rPr lang="en-US" sz="1800" dirty="0" smtClean="0"/>
              <a:t>Atropine = anticholinergic/</a:t>
            </a:r>
            <a:r>
              <a:rPr lang="en-US" sz="1800" dirty="0" err="1" smtClean="0"/>
              <a:t>antimuscarinic</a:t>
            </a:r>
            <a:endParaRPr lang="en-US" sz="1800" dirty="0" smtClean="0"/>
          </a:p>
          <a:p>
            <a:r>
              <a:rPr lang="en-US" sz="1800" dirty="0" smtClean="0"/>
              <a:t>2-PAM (</a:t>
            </a:r>
            <a:r>
              <a:rPr lang="en-US" sz="1800" dirty="0" err="1" smtClean="0"/>
              <a:t>pralidoxime</a:t>
            </a:r>
            <a:r>
              <a:rPr lang="en-US" sz="1800" dirty="0" smtClean="0"/>
              <a:t>) = reverses the binding of cholinesterase inhibitors with acetylcholinesterase</a:t>
            </a:r>
          </a:p>
          <a:p>
            <a:endParaRPr lang="en-US" sz="1800" dirty="0" smtClean="0"/>
          </a:p>
          <a:p>
            <a:r>
              <a:rPr lang="en-US" sz="1800" dirty="0" smtClean="0"/>
              <a:t>Aging </a:t>
            </a:r>
            <a:r>
              <a:rPr lang="en-US" sz="1800" dirty="0"/>
              <a:t>= net loss of a ligand from the phosphorus of the OP-enzyme conjugate, leaving a negatively charged phosphoryl moiety attached to the active site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     ANSWER:  atropine</a:t>
            </a:r>
          </a:p>
          <a:p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100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6488668"/>
            <a:ext cx="3799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16, Figure 16-5 p. 746</a:t>
            </a:r>
            <a:endParaRPr lang="en-US" dirty="0"/>
          </a:p>
        </p:txBody>
      </p:sp>
      <p:pic>
        <p:nvPicPr>
          <p:cNvPr id="2052" name="Picture 4" descr="Image not availabl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524000"/>
            <a:ext cx="3382545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90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0"/>
            <a:ext cx="44100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FYI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methylene blue – treats </a:t>
            </a:r>
            <a:r>
              <a:rPr lang="en-US" sz="2000" dirty="0" err="1" smtClean="0"/>
              <a:t>methemoglobinemia</a:t>
            </a:r>
            <a:r>
              <a:rPr lang="en-US" sz="2000" dirty="0" smtClean="0"/>
              <a:t> (requires NADPH) [p. 533]</a:t>
            </a:r>
          </a:p>
          <a:p>
            <a:endParaRPr lang="en-US" sz="2000" dirty="0" smtClean="0"/>
          </a:p>
          <a:p>
            <a:r>
              <a:rPr lang="en-US" sz="2000" dirty="0" smtClean="0"/>
              <a:t>vitamin K1 – treats anticoagulation poisoning (ex. rat poison) [p. 968]</a:t>
            </a:r>
          </a:p>
          <a:p>
            <a:endParaRPr lang="en-US" sz="2000" dirty="0" smtClean="0"/>
          </a:p>
          <a:p>
            <a:r>
              <a:rPr lang="en-US" sz="2000" dirty="0" smtClean="0"/>
              <a:t>ethanol – treats ethylene glycol poisoning (competes for alcohol </a:t>
            </a:r>
            <a:r>
              <a:rPr lang="en-US" sz="2000" dirty="0" err="1" smtClean="0"/>
              <a:t>dehyrdogenase</a:t>
            </a:r>
            <a:r>
              <a:rPr lang="en-US" sz="2000" dirty="0" smtClean="0"/>
              <a:t>) or methanol poisoning (but </a:t>
            </a:r>
            <a:r>
              <a:rPr lang="en-US" sz="2000" dirty="0" err="1" smtClean="0"/>
              <a:t>fomepizole</a:t>
            </a:r>
            <a:r>
              <a:rPr lang="en-US" sz="2000" dirty="0" smtClean="0"/>
              <a:t> preferred over ethanol)</a:t>
            </a:r>
          </a:p>
          <a:p>
            <a:endParaRPr lang="en-US" sz="2000" dirty="0" smtClean="0"/>
          </a:p>
          <a:p>
            <a:r>
              <a:rPr lang="en-US" sz="2000" dirty="0" smtClean="0"/>
              <a:t>chelation therapy – often used for metals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488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44386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5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/>
          <a:p>
            <a:endParaRPr lang="en-US" sz="1800" dirty="0" smtClean="0"/>
          </a:p>
          <a:p>
            <a:r>
              <a:rPr lang="en-US" sz="1800" dirty="0" smtClean="0"/>
              <a:t>Nitrites interact directly with </a:t>
            </a:r>
            <a:r>
              <a:rPr lang="en-US" sz="1800" dirty="0" err="1" smtClean="0"/>
              <a:t>heme</a:t>
            </a:r>
            <a:r>
              <a:rPr lang="en-US" sz="1800" dirty="0" smtClean="0"/>
              <a:t> to oxidize </a:t>
            </a:r>
            <a:r>
              <a:rPr lang="en-US" sz="1800" dirty="0" err="1" smtClean="0"/>
              <a:t>heme</a:t>
            </a:r>
            <a:r>
              <a:rPr lang="en-US" sz="1800" dirty="0" smtClean="0"/>
              <a:t> iron -&gt; forms methemoglobin</a:t>
            </a:r>
          </a:p>
          <a:p>
            <a:r>
              <a:rPr lang="en-US" sz="1800" dirty="0" smtClean="0"/>
              <a:t>Methemoglobin binds free cyanide, sparing other critical enzymes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44386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88668"/>
            <a:ext cx="268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11, p. 534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3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/>
          <a:p>
            <a:endParaRPr lang="en-US" sz="1800" dirty="0" smtClean="0"/>
          </a:p>
          <a:p>
            <a:r>
              <a:rPr lang="en-US" sz="1800" dirty="0" smtClean="0"/>
              <a:t>Nitrites interact directly with </a:t>
            </a:r>
            <a:r>
              <a:rPr lang="en-US" sz="1800" dirty="0" err="1" smtClean="0"/>
              <a:t>heme</a:t>
            </a:r>
            <a:r>
              <a:rPr lang="en-US" sz="1800" dirty="0" smtClean="0"/>
              <a:t> to oxidize </a:t>
            </a:r>
            <a:r>
              <a:rPr lang="en-US" sz="1800" dirty="0" err="1" smtClean="0"/>
              <a:t>heme</a:t>
            </a:r>
            <a:r>
              <a:rPr lang="en-US" sz="1800" dirty="0" smtClean="0"/>
              <a:t> iron -&gt; forms methemoglobin</a:t>
            </a:r>
          </a:p>
          <a:p>
            <a:r>
              <a:rPr lang="en-US" sz="1800" dirty="0" smtClean="0"/>
              <a:t>Methemoglobin binds free cyanide, sparing other critical enzymes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0000FF"/>
                </a:solidFill>
              </a:rPr>
              <a:t>ANSWER:  the formation of methemoglobin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44386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88668"/>
            <a:ext cx="268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11, p. 534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3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443865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26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443865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3124200"/>
            <a:ext cx="56292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600700"/>
            <a:ext cx="54768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4953000" y="6002975"/>
            <a:ext cx="2209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4342" y="6206704"/>
            <a:ext cx="26738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889182" y="4343400"/>
            <a:ext cx="26738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163409" y="4724400"/>
            <a:ext cx="43062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57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443865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3124200"/>
            <a:ext cx="56292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600700"/>
            <a:ext cx="54768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4953000" y="6002975"/>
            <a:ext cx="2209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74342" y="6206704"/>
            <a:ext cx="26738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889182" y="4343400"/>
            <a:ext cx="26738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163409" y="4724400"/>
            <a:ext cx="43062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34200" y="1295400"/>
            <a:ext cx="2209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FF"/>
                </a:solidFill>
              </a:rPr>
              <a:t>ANSWER:  C</a:t>
            </a:r>
          </a:p>
          <a:p>
            <a:endParaRPr lang="en-US" sz="1600" dirty="0" smtClean="0">
              <a:solidFill>
                <a:srgbClr val="0000FF"/>
              </a:solidFill>
            </a:endParaRPr>
          </a:p>
          <a:p>
            <a:r>
              <a:rPr lang="en-US" sz="1600" dirty="0" smtClean="0">
                <a:solidFill>
                  <a:srgbClr val="0000FF"/>
                </a:solidFill>
              </a:rPr>
              <a:t>Aggregation and agglomeration DO affect </a:t>
            </a:r>
            <a:r>
              <a:rPr lang="en-US" sz="1600" dirty="0" err="1" smtClean="0">
                <a:solidFill>
                  <a:srgbClr val="0000FF"/>
                </a:solidFill>
              </a:rPr>
              <a:t>biokinetics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29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0"/>
            <a:ext cx="43719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02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0"/>
            <a:ext cx="43719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88668"/>
            <a:ext cx="268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11, p. 533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670996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35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ANSWER - hemoglobin</a:t>
            </a:r>
            <a:endParaRPr lang="en-US" sz="2800" dirty="0">
              <a:solidFill>
                <a:srgbClr val="0000FF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0"/>
            <a:ext cx="43719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88668"/>
            <a:ext cx="268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11, p. 533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670996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850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0"/>
            <a:ext cx="42957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744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0"/>
            <a:ext cx="42957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8400"/>
            <a:ext cx="6675178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6488668"/>
            <a:ext cx="9161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15, General principles in the pathogenesis of lung damage caused by chemicals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8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sz="2400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ANSWER -  carried by mucus to the glottis then swallowed</a:t>
            </a:r>
            <a:endParaRPr lang="en-US" sz="2400" dirty="0">
              <a:solidFill>
                <a:srgbClr val="0000FF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0"/>
            <a:ext cx="42957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8400"/>
            <a:ext cx="6675178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6488668"/>
            <a:ext cx="9161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C&amp;D 8</a:t>
            </a:r>
            <a:r>
              <a:rPr lang="en-US" baseline="30000" dirty="0" smtClean="0"/>
              <a:t>th</a:t>
            </a:r>
            <a:r>
              <a:rPr lang="en-US" dirty="0" smtClean="0"/>
              <a:t> Chapter 15, General principles in the pathogenesis of lung damage caused by chemicals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5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0"/>
            <a:ext cx="42195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0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ANSWER -   0-100 nm</a:t>
            </a:r>
            <a:endParaRPr lang="en-US" sz="2800" dirty="0">
              <a:solidFill>
                <a:srgbClr val="0000FF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0"/>
            <a:ext cx="42195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925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0"/>
            <a:ext cx="44577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71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0"/>
            <a:ext cx="44577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124200"/>
            <a:ext cx="55721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829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 smtClean="0">
                <a:solidFill>
                  <a:srgbClr val="0000FF"/>
                </a:solidFill>
              </a:rPr>
              <a:t>ANSWER:  B   different physical and chemical properties than microscale products</a:t>
            </a:r>
            <a:endParaRPr lang="en-US" sz="1800" dirty="0">
              <a:solidFill>
                <a:srgbClr val="0000FF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0"/>
            <a:ext cx="44577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124200"/>
            <a:ext cx="55721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94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22859535-5919-43F1-A841-EE63EFDBFF36}"/>
</file>

<file path=customXml/itemProps2.xml><?xml version="1.0" encoding="utf-8"?>
<ds:datastoreItem xmlns:ds="http://schemas.openxmlformats.org/officeDocument/2006/customXml" ds:itemID="{A3D0D2B9-8238-4117-8CC1-FDB7DC20A0FF}"/>
</file>

<file path=customXml/itemProps3.xml><?xml version="1.0" encoding="utf-8"?>
<ds:datastoreItem xmlns:ds="http://schemas.openxmlformats.org/officeDocument/2006/customXml" ds:itemID="{7A5D221D-B1CD-4652-A6B2-5B8BD6553543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517</Words>
  <Application>Microsoft Office PowerPoint</Application>
  <PresentationFormat>On-screen Show (4:3)</PresentationFormat>
  <Paragraphs>83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Natalia Ryan</dc:creator>
  <cp:lastModifiedBy>April Lake</cp:lastModifiedBy>
  <cp:revision>59</cp:revision>
  <dcterms:created xsi:type="dcterms:W3CDTF">2017-05-16T17:52:21Z</dcterms:created>
  <dcterms:modified xsi:type="dcterms:W3CDTF">2018-02-12T23:45:36Z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