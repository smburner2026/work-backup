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3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2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05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0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25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6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09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1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9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79CFF-B5EE-4974-A0B2-B1BB1E7E91F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10CB8-60B6-42C7-BF78-24E397CF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0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tigonadotropin" TargetMode="External"/><Relationship Id="rId2" Type="http://schemas.openxmlformats.org/officeDocument/2006/relationships/hyperlink" Target="https://en.wikipedia.org/wiki/Phytoestrogen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habdomyolysi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Zearalenone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mpr.com/tetracycline/drug/3344/" TargetMode="External"/><Relationship Id="rId2" Type="http://schemas.openxmlformats.org/officeDocument/2006/relationships/hyperlink" Target="https://en.wikipedia.org/wiki/Tetracycline_antibiotic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ugs.com/sfx/tetracycline-side-effec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25. For which agent listed below is the </a:t>
            </a:r>
            <a:r>
              <a:rPr lang="en-US" dirty="0" smtClean="0"/>
              <a:t>neurotoxicity associated </a:t>
            </a:r>
            <a:r>
              <a:rPr lang="en-US" dirty="0"/>
              <a:t>with its use mediated by a disruption </a:t>
            </a:r>
            <a:r>
              <a:rPr lang="en-US" dirty="0" smtClean="0"/>
              <a:t>of microtubule </a:t>
            </a:r>
            <a:r>
              <a:rPr lang="en-US" dirty="0"/>
              <a:t>dissociation into tubulin subunits?</a:t>
            </a:r>
          </a:p>
          <a:p>
            <a:pPr marL="0" indent="0">
              <a:buNone/>
            </a:pPr>
            <a:r>
              <a:rPr lang="en-US" dirty="0"/>
              <a:t>A) atropine</a:t>
            </a:r>
          </a:p>
          <a:p>
            <a:pPr marL="0" indent="0">
              <a:buNone/>
            </a:pPr>
            <a:r>
              <a:rPr lang="en-US" dirty="0"/>
              <a:t>B) d-</a:t>
            </a:r>
            <a:r>
              <a:rPr lang="en-US" dirty="0" err="1"/>
              <a:t>tubocurarine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C) lysergic acid diethylamide</a:t>
            </a:r>
          </a:p>
          <a:p>
            <a:pPr marL="0" indent="0">
              <a:buNone/>
            </a:pPr>
            <a:r>
              <a:rPr lang="en-US" dirty="0"/>
              <a:t>D) paclitaxel</a:t>
            </a:r>
          </a:p>
          <a:p>
            <a:pPr marL="0" indent="0">
              <a:buNone/>
            </a:pPr>
            <a:r>
              <a:rPr lang="en-US" dirty="0"/>
              <a:t>E) procainamide</a:t>
            </a:r>
          </a:p>
        </p:txBody>
      </p:sp>
    </p:spTree>
    <p:extLst>
      <p:ext uri="{BB962C8B-B14F-4D97-AF65-F5344CB8AC3E}">
        <p14:creationId xmlns:p14="http://schemas.microsoft.com/office/powerpoint/2010/main" val="102032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25. For which agent listed below is the </a:t>
            </a:r>
            <a:r>
              <a:rPr lang="en-US" dirty="0" smtClean="0"/>
              <a:t>neurotoxicity associated </a:t>
            </a:r>
            <a:r>
              <a:rPr lang="en-US" dirty="0"/>
              <a:t>with its use mediated by a disruption </a:t>
            </a:r>
            <a:r>
              <a:rPr lang="en-US" dirty="0" smtClean="0"/>
              <a:t>of microtubule </a:t>
            </a:r>
            <a:r>
              <a:rPr lang="en-US" dirty="0"/>
              <a:t>dissociation into tubulin subunits?</a:t>
            </a:r>
          </a:p>
          <a:p>
            <a:pPr marL="0" indent="0">
              <a:buNone/>
            </a:pPr>
            <a:r>
              <a:rPr lang="en-US" dirty="0"/>
              <a:t>A) atropine</a:t>
            </a:r>
          </a:p>
          <a:p>
            <a:pPr marL="0" indent="0">
              <a:buNone/>
            </a:pPr>
            <a:r>
              <a:rPr lang="en-US" dirty="0"/>
              <a:t>B) d-</a:t>
            </a:r>
            <a:r>
              <a:rPr lang="en-US" dirty="0" err="1"/>
              <a:t>tubocurarine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C) lysergic acid diethylamide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D) </a:t>
            </a:r>
            <a:r>
              <a:rPr lang="en-US" dirty="0" smtClean="0">
                <a:solidFill>
                  <a:srgbClr val="FF0000"/>
                </a:solidFill>
              </a:rPr>
              <a:t>Paclitaxel – bind to </a:t>
            </a:r>
            <a:r>
              <a:rPr lang="en-US" dirty="0" err="1" smtClean="0">
                <a:solidFill>
                  <a:srgbClr val="FF0000"/>
                </a:solidFill>
              </a:rPr>
              <a:t>tublin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smtClean="0"/>
              <a:t>Procainamide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pf 247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748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Colchicine (treatment of gout) and </a:t>
            </a:r>
            <a:r>
              <a:rPr lang="en-US" dirty="0" err="1" smtClean="0">
                <a:solidFill>
                  <a:srgbClr val="FF0000"/>
                </a:solidFill>
              </a:rPr>
              <a:t>vinca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alkaloinds</a:t>
            </a:r>
            <a:r>
              <a:rPr lang="en-US" dirty="0" smtClean="0">
                <a:solidFill>
                  <a:srgbClr val="FF0000"/>
                </a:solidFill>
              </a:rPr>
              <a:t> also do this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649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26. Ionization frequently disrupts chemical bonding</a:t>
            </a:r>
          </a:p>
          <a:p>
            <a:pPr marL="0" indent="0">
              <a:buNone/>
            </a:pPr>
            <a:r>
              <a:rPr lang="en-US" dirty="0"/>
              <a:t>in cellular molecules such as DNA. Which of the</a:t>
            </a:r>
          </a:p>
          <a:p>
            <a:pPr marL="0" indent="0">
              <a:buNone/>
            </a:pPr>
            <a:r>
              <a:rPr lang="en-US" dirty="0"/>
              <a:t>following is the most common type of DNA damage</a:t>
            </a:r>
          </a:p>
          <a:p>
            <a:pPr marL="0" indent="0">
              <a:buNone/>
            </a:pPr>
            <a:r>
              <a:rPr lang="en-US" dirty="0"/>
              <a:t>caused by gamma (low-linear energy transfer)</a:t>
            </a:r>
          </a:p>
          <a:p>
            <a:pPr marL="0" indent="0">
              <a:buNone/>
            </a:pPr>
            <a:r>
              <a:rPr lang="en-US" dirty="0"/>
              <a:t>radiation exposure in mammalian cells?</a:t>
            </a:r>
          </a:p>
          <a:p>
            <a:pPr marL="0" indent="0">
              <a:buNone/>
            </a:pPr>
            <a:r>
              <a:rPr lang="en-US" dirty="0"/>
              <a:t>A) double-strand breaks</a:t>
            </a:r>
          </a:p>
          <a:p>
            <a:pPr marL="0" indent="0">
              <a:buNone/>
            </a:pPr>
            <a:r>
              <a:rPr lang="en-US" dirty="0"/>
              <a:t>B) base damage</a:t>
            </a:r>
          </a:p>
          <a:p>
            <a:pPr marL="0" indent="0">
              <a:buNone/>
            </a:pPr>
            <a:r>
              <a:rPr lang="en-US" dirty="0"/>
              <a:t>C) single-strand breaks</a:t>
            </a:r>
          </a:p>
          <a:p>
            <a:pPr marL="0" indent="0">
              <a:buNone/>
            </a:pPr>
            <a:r>
              <a:rPr lang="en-US" dirty="0"/>
              <a:t>D) DNA protein cross-links</a:t>
            </a:r>
          </a:p>
          <a:p>
            <a:pPr marL="0" indent="0">
              <a:buNone/>
            </a:pPr>
            <a:r>
              <a:rPr lang="en-US" dirty="0"/>
              <a:t>E) pyrimidine dimers</a:t>
            </a:r>
          </a:p>
        </p:txBody>
      </p:sp>
    </p:spTree>
    <p:extLst>
      <p:ext uri="{BB962C8B-B14F-4D97-AF65-F5344CB8AC3E}">
        <p14:creationId xmlns:p14="http://schemas.microsoft.com/office/powerpoint/2010/main" val="3526888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26. Ionization frequently disrupts chemical bonding</a:t>
            </a:r>
          </a:p>
          <a:p>
            <a:pPr marL="0" indent="0">
              <a:buNone/>
            </a:pPr>
            <a:r>
              <a:rPr lang="en-US" dirty="0"/>
              <a:t>in cellular molecules such as DNA. Which of the</a:t>
            </a:r>
          </a:p>
          <a:p>
            <a:pPr marL="0" indent="0">
              <a:buNone/>
            </a:pPr>
            <a:r>
              <a:rPr lang="en-US" dirty="0"/>
              <a:t>following is the most common type of DNA damage</a:t>
            </a:r>
          </a:p>
          <a:p>
            <a:pPr marL="0" indent="0">
              <a:buNone/>
            </a:pPr>
            <a:r>
              <a:rPr lang="en-US" dirty="0"/>
              <a:t>caused by gamma (low-linear energy transfer)</a:t>
            </a:r>
          </a:p>
          <a:p>
            <a:pPr marL="0" indent="0">
              <a:buNone/>
            </a:pPr>
            <a:r>
              <a:rPr lang="en-US" dirty="0"/>
              <a:t>radiation exposure in mammalian cells?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double-strand breaks</a:t>
            </a:r>
          </a:p>
          <a:p>
            <a:pPr marL="0" indent="0">
              <a:buNone/>
            </a:pPr>
            <a:r>
              <a:rPr lang="en-US" dirty="0"/>
              <a:t>B) base </a:t>
            </a:r>
            <a:r>
              <a:rPr lang="en-US" dirty="0" smtClean="0"/>
              <a:t>damage – </a:t>
            </a:r>
            <a:r>
              <a:rPr lang="en-US" dirty="0" smtClean="0">
                <a:solidFill>
                  <a:srgbClr val="FF0000"/>
                </a:solidFill>
              </a:rPr>
              <a:t>x-rays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C) single-strand </a:t>
            </a:r>
            <a:r>
              <a:rPr lang="en-US" dirty="0" smtClean="0"/>
              <a:t>breaks – </a:t>
            </a:r>
            <a:r>
              <a:rPr lang="en-US" dirty="0" smtClean="0">
                <a:solidFill>
                  <a:srgbClr val="FF0000"/>
                </a:solidFill>
              </a:rPr>
              <a:t>x-ray/UV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DNA protein </a:t>
            </a:r>
            <a:r>
              <a:rPr lang="en-US" dirty="0" smtClean="0"/>
              <a:t>cross-links – </a:t>
            </a:r>
            <a:r>
              <a:rPr lang="en-US" dirty="0" smtClean="0">
                <a:solidFill>
                  <a:srgbClr val="FF0000"/>
                </a:solidFill>
              </a:rPr>
              <a:t>x-rays and </a:t>
            </a:r>
            <a:r>
              <a:rPr lang="en-US" dirty="0" err="1" smtClean="0">
                <a:solidFill>
                  <a:srgbClr val="FF0000"/>
                </a:solidFill>
              </a:rPr>
              <a:t>polufunctional</a:t>
            </a:r>
            <a:r>
              <a:rPr lang="en-US" dirty="0" smtClean="0">
                <a:solidFill>
                  <a:srgbClr val="FF0000"/>
                </a:solidFill>
              </a:rPr>
              <a:t> alkylating agents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pyrimidine </a:t>
            </a:r>
            <a:r>
              <a:rPr lang="en-US" dirty="0" smtClean="0"/>
              <a:t>dimers – </a:t>
            </a:r>
            <a:r>
              <a:rPr lang="en-US" dirty="0" smtClean="0">
                <a:solidFill>
                  <a:srgbClr val="FF0000"/>
                </a:solidFill>
              </a:rPr>
              <a:t>UV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138 fig 9-2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404, 451 fig 9-2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01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27. Soft tissue calcification in cattle has been</a:t>
            </a:r>
          </a:p>
          <a:p>
            <a:pPr marL="0" indent="0">
              <a:buNone/>
            </a:pPr>
            <a:r>
              <a:rPr lang="en-US" dirty="0"/>
              <a:t>attributed to which of the following?</a:t>
            </a:r>
          </a:p>
          <a:p>
            <a:pPr marL="0" indent="0">
              <a:buNone/>
            </a:pPr>
            <a:r>
              <a:rPr lang="en-US" dirty="0"/>
              <a:t>A) eating plants contaminated by</a:t>
            </a:r>
          </a:p>
          <a:p>
            <a:pPr marL="0" indent="0">
              <a:buNone/>
            </a:pPr>
            <a:r>
              <a:rPr lang="en-US" dirty="0" err="1"/>
              <a:t>polychlorobiphenyls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eating plants containing Vitamin D-like</a:t>
            </a:r>
          </a:p>
          <a:p>
            <a:pPr marL="0" indent="0">
              <a:buNone/>
            </a:pPr>
            <a:r>
              <a:rPr lang="en-US" dirty="0"/>
              <a:t>glycosides</a:t>
            </a:r>
          </a:p>
          <a:p>
            <a:pPr marL="0" indent="0">
              <a:buNone/>
            </a:pPr>
            <a:r>
              <a:rPr lang="en-US" dirty="0"/>
              <a:t>C) eating feed </a:t>
            </a:r>
            <a:r>
              <a:rPr lang="en-US" dirty="0" err="1"/>
              <a:t>supplimented</a:t>
            </a:r>
            <a:r>
              <a:rPr lang="en-US" dirty="0"/>
              <a:t> with high levels of</a:t>
            </a:r>
          </a:p>
          <a:p>
            <a:pPr marL="0" indent="0">
              <a:buNone/>
            </a:pPr>
            <a:r>
              <a:rPr lang="en-US" dirty="0"/>
              <a:t>calcium</a:t>
            </a:r>
          </a:p>
          <a:p>
            <a:pPr marL="0" indent="0">
              <a:buNone/>
            </a:pPr>
            <a:r>
              <a:rPr lang="en-US" dirty="0"/>
              <a:t>D) eating feed contaminated by aflatoxin</a:t>
            </a:r>
          </a:p>
          <a:p>
            <a:pPr marL="0" indent="0">
              <a:buNone/>
            </a:pPr>
            <a:r>
              <a:rPr lang="en-US" dirty="0"/>
              <a:t>E) drinking water contaminated by glyphosate</a:t>
            </a:r>
          </a:p>
        </p:txBody>
      </p:sp>
    </p:spTree>
    <p:extLst>
      <p:ext uri="{BB962C8B-B14F-4D97-AF65-F5344CB8AC3E}">
        <p14:creationId xmlns:p14="http://schemas.microsoft.com/office/powerpoint/2010/main" val="198916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27. Soft tissue calcification in cattle has been</a:t>
            </a:r>
          </a:p>
          <a:p>
            <a:pPr marL="0" indent="0">
              <a:buNone/>
            </a:pPr>
            <a:r>
              <a:rPr lang="en-US" dirty="0"/>
              <a:t>attributed to which of the following?</a:t>
            </a:r>
          </a:p>
          <a:p>
            <a:pPr marL="0" indent="0">
              <a:buNone/>
            </a:pPr>
            <a:r>
              <a:rPr lang="en-US" dirty="0"/>
              <a:t>A) eating plants contaminated by</a:t>
            </a:r>
          </a:p>
          <a:p>
            <a:pPr marL="0" indent="0">
              <a:buNone/>
            </a:pPr>
            <a:r>
              <a:rPr lang="en-US" dirty="0" err="1"/>
              <a:t>polychlorobiphenyls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eating plants containing Vitamin D-like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glycosides</a:t>
            </a:r>
          </a:p>
          <a:p>
            <a:pPr marL="0" indent="0">
              <a:buNone/>
            </a:pPr>
            <a:r>
              <a:rPr lang="en-US" dirty="0"/>
              <a:t>C) eating feed </a:t>
            </a:r>
            <a:r>
              <a:rPr lang="en-US" dirty="0" err="1"/>
              <a:t>supplimented</a:t>
            </a:r>
            <a:r>
              <a:rPr lang="en-US" dirty="0"/>
              <a:t> with high levels of</a:t>
            </a:r>
          </a:p>
          <a:p>
            <a:pPr marL="0" indent="0">
              <a:buNone/>
            </a:pPr>
            <a:r>
              <a:rPr lang="en-US" dirty="0"/>
              <a:t>calcium</a:t>
            </a:r>
          </a:p>
          <a:p>
            <a:pPr marL="0" indent="0">
              <a:buNone/>
            </a:pPr>
            <a:r>
              <a:rPr lang="en-US" dirty="0"/>
              <a:t>D) eating feed contaminated by aflatoxin</a:t>
            </a:r>
          </a:p>
          <a:p>
            <a:pPr marL="0" indent="0">
              <a:buNone/>
            </a:pPr>
            <a:r>
              <a:rPr lang="en-US" dirty="0"/>
              <a:t>E) drinking water contaminated by </a:t>
            </a:r>
            <a:r>
              <a:rPr lang="en-US" dirty="0" smtClean="0"/>
              <a:t>glyphosate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389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1143 due to day blooming jasmine and </a:t>
            </a:r>
            <a:r>
              <a:rPr lang="en-US" dirty="0" err="1" smtClean="0">
                <a:solidFill>
                  <a:srgbClr val="FF0000"/>
                </a:solidFill>
              </a:rPr>
              <a:t>solanaceae</a:t>
            </a:r>
            <a:r>
              <a:rPr lang="en-US" dirty="0" smtClean="0">
                <a:solidFill>
                  <a:srgbClr val="FF0000"/>
                </a:solidFill>
              </a:rPr>
              <a:t>.  Decreases bone calcium then also causes </a:t>
            </a:r>
            <a:r>
              <a:rPr lang="en-US" dirty="0" err="1" smtClean="0">
                <a:solidFill>
                  <a:srgbClr val="FF0000"/>
                </a:solidFill>
              </a:rPr>
              <a:t>hypercalcification</a:t>
            </a:r>
            <a:r>
              <a:rPr lang="en-US" dirty="0" smtClean="0">
                <a:solidFill>
                  <a:srgbClr val="FF0000"/>
                </a:solidFill>
              </a:rPr>
              <a:t> of soft tissues.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50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28. Which of the following properties best </a:t>
            </a:r>
            <a:r>
              <a:rPr lang="en-US" dirty="0" smtClean="0"/>
              <a:t>describes the </a:t>
            </a:r>
            <a:r>
              <a:rPr lang="en-US" dirty="0"/>
              <a:t>estrogenic activity of phytoestrogens?</a:t>
            </a:r>
          </a:p>
          <a:p>
            <a:pPr marL="0" indent="0">
              <a:buNone/>
            </a:pPr>
            <a:r>
              <a:rPr lang="en-US" dirty="0"/>
              <a:t>A) </a:t>
            </a:r>
            <a:r>
              <a:rPr lang="en-US" dirty="0" err="1"/>
              <a:t>antigonadotropic</a:t>
            </a:r>
            <a:r>
              <a:rPr lang="en-US" dirty="0"/>
              <a:t> effects at high doses</a:t>
            </a:r>
          </a:p>
          <a:p>
            <a:pPr marL="0" indent="0">
              <a:buNone/>
            </a:pPr>
            <a:r>
              <a:rPr lang="en-US" dirty="0"/>
              <a:t>B) binding to intracellular receptors at the same</a:t>
            </a:r>
          </a:p>
          <a:p>
            <a:pPr marL="0" indent="0">
              <a:buNone/>
            </a:pPr>
            <a:r>
              <a:rPr lang="en-US" dirty="0"/>
              <a:t>affinity as estradiol</a:t>
            </a:r>
          </a:p>
          <a:p>
            <a:pPr marL="0" indent="0">
              <a:buNone/>
            </a:pPr>
            <a:r>
              <a:rPr lang="en-US" dirty="0"/>
              <a:t>C) causing long-term reproductive effects in</a:t>
            </a:r>
          </a:p>
          <a:p>
            <a:pPr marL="0" indent="0">
              <a:buNone/>
            </a:pPr>
            <a:r>
              <a:rPr lang="en-US" dirty="0"/>
              <a:t>humans</a:t>
            </a:r>
          </a:p>
          <a:p>
            <a:pPr marL="0" indent="0">
              <a:buNone/>
            </a:pPr>
            <a:r>
              <a:rPr lang="en-US" dirty="0"/>
              <a:t>D) becoming more potent than estradiol due to</a:t>
            </a:r>
          </a:p>
          <a:p>
            <a:pPr marL="0" indent="0">
              <a:buNone/>
            </a:pPr>
            <a:r>
              <a:rPr lang="en-US" dirty="0"/>
              <a:t>activation by P-450 enzymes</a:t>
            </a:r>
          </a:p>
          <a:p>
            <a:pPr marL="0" indent="0">
              <a:buNone/>
            </a:pPr>
            <a:r>
              <a:rPr lang="en-US" dirty="0"/>
              <a:t>E) affecting only female gonadal tissue in animals</a:t>
            </a:r>
          </a:p>
        </p:txBody>
      </p:sp>
    </p:spTree>
    <p:extLst>
      <p:ext uri="{BB962C8B-B14F-4D97-AF65-F5344CB8AC3E}">
        <p14:creationId xmlns:p14="http://schemas.microsoft.com/office/powerpoint/2010/main" val="420443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28. Which of the following properties best </a:t>
            </a:r>
            <a:r>
              <a:rPr lang="en-US" dirty="0" smtClean="0"/>
              <a:t>describes the </a:t>
            </a:r>
            <a:r>
              <a:rPr lang="en-US" dirty="0"/>
              <a:t>estrogenic activity of phytoestrogens?</a:t>
            </a:r>
          </a:p>
          <a:p>
            <a:pPr marL="0" indent="0">
              <a:buNone/>
            </a:pPr>
            <a:r>
              <a:rPr lang="en-US" dirty="0"/>
              <a:t>A) </a:t>
            </a:r>
            <a:r>
              <a:rPr lang="en-US" dirty="0" err="1"/>
              <a:t>antigonadotropic</a:t>
            </a:r>
            <a:r>
              <a:rPr lang="en-US" dirty="0"/>
              <a:t> effects at high </a:t>
            </a:r>
            <a:r>
              <a:rPr lang="en-US" dirty="0" smtClean="0"/>
              <a:t>doses </a:t>
            </a:r>
            <a:r>
              <a:rPr lang="en-US" dirty="0" smtClean="0">
                <a:solidFill>
                  <a:srgbClr val="FF0000"/>
                </a:solidFill>
              </a:rPr>
              <a:t>– possibly??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binding to intracellular receptors at the same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affinity as estradiol</a:t>
            </a:r>
          </a:p>
          <a:p>
            <a:pPr marL="0" indent="0">
              <a:buNone/>
            </a:pPr>
            <a:r>
              <a:rPr lang="en-US" dirty="0"/>
              <a:t>C) causing long-term reproductive effects in</a:t>
            </a:r>
          </a:p>
          <a:p>
            <a:pPr marL="0" indent="0">
              <a:buNone/>
            </a:pPr>
            <a:r>
              <a:rPr lang="en-US" dirty="0" smtClean="0"/>
              <a:t>Humans – </a:t>
            </a:r>
            <a:r>
              <a:rPr lang="en-US" dirty="0" smtClean="0">
                <a:solidFill>
                  <a:srgbClr val="FF0000"/>
                </a:solidFill>
              </a:rPr>
              <a:t>only lists animals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becoming more potent than estradiol due to</a:t>
            </a:r>
          </a:p>
          <a:p>
            <a:pPr marL="0" indent="0">
              <a:buNone/>
            </a:pPr>
            <a:r>
              <a:rPr lang="en-US" dirty="0"/>
              <a:t>activation by P-450 </a:t>
            </a:r>
            <a:r>
              <a:rPr lang="en-US" dirty="0" smtClean="0"/>
              <a:t>enzymes – </a:t>
            </a:r>
            <a:r>
              <a:rPr lang="en-US" dirty="0" smtClean="0">
                <a:solidFill>
                  <a:srgbClr val="FF0000"/>
                </a:solidFill>
              </a:rPr>
              <a:t>couldn’t find anything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affecting only female gonadal tissue in </a:t>
            </a:r>
            <a:r>
              <a:rPr lang="en-US" dirty="0" smtClean="0"/>
              <a:t>animals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313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885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linkClick r:id="rId2"/>
              </a:rPr>
              <a:t>https://</a:t>
            </a:r>
            <a:r>
              <a:rPr lang="en-US" dirty="0" smtClean="0">
                <a:solidFill>
                  <a:srgbClr val="FF0000"/>
                </a:solidFill>
                <a:hlinkClick r:id="rId2"/>
              </a:rPr>
              <a:t>en.wikipedia.org/wiki/Phytoestrogens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linkClick r:id="rId3"/>
              </a:rPr>
              <a:t>https://</a:t>
            </a:r>
            <a:r>
              <a:rPr lang="en-US" dirty="0" smtClean="0">
                <a:solidFill>
                  <a:srgbClr val="FF0000"/>
                </a:solidFill>
                <a:hlinkClick r:id="rId3"/>
              </a:rPr>
              <a:t>en.wikipedia.org/wiki/Antigonadotropin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160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29. The particle size of an aerosol is a </a:t>
            </a:r>
            <a:r>
              <a:rPr lang="en-US" dirty="0" smtClean="0"/>
              <a:t>major determinant </a:t>
            </a:r>
            <a:r>
              <a:rPr lang="en-US" dirty="0"/>
              <a:t>of where in the respiratory tract </a:t>
            </a:r>
            <a:r>
              <a:rPr lang="en-US" dirty="0" smtClean="0"/>
              <a:t>the aerosol </a:t>
            </a:r>
            <a:r>
              <a:rPr lang="en-US" dirty="0"/>
              <a:t>is likely to deposit and cause a possible toxic</a:t>
            </a:r>
          </a:p>
          <a:p>
            <a:pPr marL="0" indent="0">
              <a:buNone/>
            </a:pPr>
            <a:r>
              <a:rPr lang="en-US" dirty="0"/>
              <a:t>response to the lung. The particle size of an aerosol </a:t>
            </a:r>
            <a:r>
              <a:rPr lang="en-US" dirty="0" smtClean="0"/>
              <a:t>is usually </a:t>
            </a:r>
            <a:r>
              <a:rPr lang="en-US" dirty="0"/>
              <a:t>measured by determining the CMD </a:t>
            </a:r>
            <a:r>
              <a:rPr lang="en-US" dirty="0" smtClean="0"/>
              <a:t>and MMAD</a:t>
            </a:r>
            <a:r>
              <a:rPr lang="en-US" dirty="0"/>
              <a:t>. In addition, the </a:t>
            </a:r>
            <a:r>
              <a:rPr lang="en-US" dirty="0" err="1"/>
              <a:t>sigmag</a:t>
            </a:r>
            <a:r>
              <a:rPr lang="en-US" dirty="0"/>
              <a:t> is determined as a</a:t>
            </a:r>
          </a:p>
          <a:p>
            <a:pPr marL="0" indent="0">
              <a:buNone/>
            </a:pPr>
            <a:r>
              <a:rPr lang="en-US" dirty="0"/>
              <a:t>measure of the range of distribution of particles</a:t>
            </a:r>
            <a:r>
              <a:rPr lang="en-US" dirty="0" smtClean="0"/>
              <a:t>. Which </a:t>
            </a:r>
            <a:r>
              <a:rPr lang="en-US" dirty="0"/>
              <a:t>of the following is NOT CORRECT </a:t>
            </a:r>
            <a:r>
              <a:rPr lang="en-US" dirty="0" smtClean="0"/>
              <a:t>regarding aerosol </a:t>
            </a:r>
            <a:r>
              <a:rPr lang="en-US" dirty="0"/>
              <a:t>measurements and characteristics?</a:t>
            </a:r>
          </a:p>
          <a:p>
            <a:pPr marL="0" indent="0">
              <a:buNone/>
            </a:pPr>
            <a:r>
              <a:rPr lang="en-US" dirty="0"/>
              <a:t>A) the effect of mass and airflow is reflected in </a:t>
            </a:r>
            <a:r>
              <a:rPr lang="en-US" dirty="0" smtClean="0"/>
              <a:t>the MMAD </a:t>
            </a:r>
            <a:r>
              <a:rPr lang="en-US" dirty="0"/>
              <a:t>measurement</a:t>
            </a:r>
          </a:p>
          <a:p>
            <a:pPr marL="0" indent="0">
              <a:buNone/>
            </a:pPr>
            <a:r>
              <a:rPr lang="en-US" dirty="0"/>
              <a:t>B) particles in the MMAD of 5 um or </a:t>
            </a:r>
            <a:r>
              <a:rPr lang="en-US" dirty="0" smtClean="0"/>
              <a:t>greater usually </a:t>
            </a:r>
            <a:r>
              <a:rPr lang="en-US" dirty="0"/>
              <a:t>deposit in the nasopharyngeal region</a:t>
            </a:r>
          </a:p>
          <a:p>
            <a:pPr marL="0" indent="0">
              <a:buNone/>
            </a:pPr>
            <a:r>
              <a:rPr lang="en-US" dirty="0"/>
              <a:t>C) an aerosol with a </a:t>
            </a:r>
            <a:r>
              <a:rPr lang="en-US" dirty="0" err="1"/>
              <a:t>sigmag</a:t>
            </a:r>
            <a:r>
              <a:rPr lang="en-US" dirty="0"/>
              <a:t> less than or equal </a:t>
            </a:r>
            <a:r>
              <a:rPr lang="en-US" dirty="0" smtClean="0"/>
              <a:t>to 1.2 </a:t>
            </a:r>
            <a:r>
              <a:rPr lang="en-US" dirty="0"/>
              <a:t>is considered to be monodisperse</a:t>
            </a:r>
          </a:p>
          <a:p>
            <a:pPr marL="0" indent="0">
              <a:buNone/>
            </a:pPr>
            <a:r>
              <a:rPr lang="en-US" dirty="0"/>
              <a:t>D) from a log-</a:t>
            </a:r>
            <a:r>
              <a:rPr lang="en-US" dirty="0" err="1"/>
              <a:t>probit</a:t>
            </a:r>
            <a:r>
              <a:rPr lang="en-US" dirty="0"/>
              <a:t> plot, </a:t>
            </a:r>
            <a:r>
              <a:rPr lang="en-US" dirty="0" err="1"/>
              <a:t>sigmag</a:t>
            </a:r>
            <a:r>
              <a:rPr lang="en-US" dirty="0"/>
              <a:t> = 84.1</a:t>
            </a:r>
            <a:r>
              <a:rPr lang="en-US" dirty="0" smtClean="0"/>
              <a:t>% size/50%size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an aerosol with a </a:t>
            </a:r>
            <a:r>
              <a:rPr lang="en-US" dirty="0" err="1"/>
              <a:t>sigmag</a:t>
            </a:r>
            <a:r>
              <a:rPr lang="en-US" dirty="0"/>
              <a:t> = 2.0 is considered </a:t>
            </a:r>
            <a:r>
              <a:rPr lang="en-US" dirty="0" smtClean="0"/>
              <a:t>to be </a:t>
            </a:r>
            <a:r>
              <a:rPr lang="en-US" dirty="0"/>
              <a:t>monodisperse</a:t>
            </a:r>
          </a:p>
        </p:txBody>
      </p:sp>
    </p:spTree>
    <p:extLst>
      <p:ext uri="{BB962C8B-B14F-4D97-AF65-F5344CB8AC3E}">
        <p14:creationId xmlns:p14="http://schemas.microsoft.com/office/powerpoint/2010/main" val="4246819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29. The particle size of an aerosol is a </a:t>
            </a:r>
            <a:r>
              <a:rPr lang="en-US" dirty="0" smtClean="0"/>
              <a:t>major determinant </a:t>
            </a:r>
            <a:r>
              <a:rPr lang="en-US" dirty="0"/>
              <a:t>of where in the respiratory tract </a:t>
            </a:r>
            <a:r>
              <a:rPr lang="en-US" dirty="0" smtClean="0"/>
              <a:t>the aerosol </a:t>
            </a:r>
            <a:r>
              <a:rPr lang="en-US" dirty="0"/>
              <a:t>is likely to deposit and cause a possible </a:t>
            </a:r>
            <a:r>
              <a:rPr lang="en-US" dirty="0" smtClean="0"/>
              <a:t>toxic response </a:t>
            </a:r>
            <a:r>
              <a:rPr lang="en-US" dirty="0"/>
              <a:t>to the lung. The particle size of an aerosol </a:t>
            </a:r>
            <a:r>
              <a:rPr lang="en-US" dirty="0" smtClean="0"/>
              <a:t>is usually </a:t>
            </a:r>
            <a:r>
              <a:rPr lang="en-US" dirty="0"/>
              <a:t>measured by determining the CMD </a:t>
            </a:r>
            <a:r>
              <a:rPr lang="en-US" dirty="0" smtClean="0"/>
              <a:t>and MMAD</a:t>
            </a:r>
            <a:r>
              <a:rPr lang="en-US" dirty="0"/>
              <a:t>. In addition, the </a:t>
            </a:r>
            <a:r>
              <a:rPr lang="en-US" dirty="0" err="1"/>
              <a:t>sigmag</a:t>
            </a:r>
            <a:r>
              <a:rPr lang="en-US" dirty="0"/>
              <a:t> is determined as a</a:t>
            </a:r>
          </a:p>
          <a:p>
            <a:pPr marL="0" indent="0">
              <a:buNone/>
            </a:pPr>
            <a:r>
              <a:rPr lang="en-US" dirty="0"/>
              <a:t>measure of the range of distribution of particles</a:t>
            </a:r>
            <a:r>
              <a:rPr lang="en-US" dirty="0" smtClean="0"/>
              <a:t>. Which </a:t>
            </a:r>
            <a:r>
              <a:rPr lang="en-US" dirty="0"/>
              <a:t>of the following is NOT CORRECT </a:t>
            </a:r>
            <a:r>
              <a:rPr lang="en-US" dirty="0" smtClean="0"/>
              <a:t>regarding aerosol </a:t>
            </a:r>
            <a:r>
              <a:rPr lang="en-US" dirty="0"/>
              <a:t>measurements and characteristics?</a:t>
            </a:r>
          </a:p>
          <a:p>
            <a:pPr marL="0" indent="0">
              <a:buNone/>
            </a:pPr>
            <a:r>
              <a:rPr lang="en-US" dirty="0"/>
              <a:t>A) the effect of mass and airflow is reflected in </a:t>
            </a:r>
            <a:r>
              <a:rPr lang="en-US" dirty="0" smtClean="0"/>
              <a:t>the MMAD </a:t>
            </a:r>
            <a:r>
              <a:rPr lang="en-US" dirty="0"/>
              <a:t>measurement</a:t>
            </a:r>
          </a:p>
          <a:p>
            <a:pPr marL="0" indent="0">
              <a:buNone/>
            </a:pPr>
            <a:r>
              <a:rPr lang="en-US" dirty="0"/>
              <a:t>B) particles in the MMAD of 5 um or </a:t>
            </a:r>
            <a:r>
              <a:rPr lang="en-US" dirty="0" smtClean="0"/>
              <a:t>greater usually </a:t>
            </a:r>
            <a:r>
              <a:rPr lang="en-US" dirty="0"/>
              <a:t>deposit in the nasopharyngeal region</a:t>
            </a:r>
          </a:p>
          <a:p>
            <a:pPr marL="0" indent="0">
              <a:buNone/>
            </a:pPr>
            <a:r>
              <a:rPr lang="en-US" dirty="0"/>
              <a:t>C) an aerosol with a </a:t>
            </a:r>
            <a:r>
              <a:rPr lang="en-US" dirty="0" err="1"/>
              <a:t>sigmag</a:t>
            </a:r>
            <a:r>
              <a:rPr lang="en-US" dirty="0"/>
              <a:t> less than or equal </a:t>
            </a:r>
            <a:r>
              <a:rPr lang="en-US" dirty="0" smtClean="0"/>
              <a:t>to 1.2 </a:t>
            </a:r>
            <a:r>
              <a:rPr lang="en-US" dirty="0"/>
              <a:t>is considered to be monodisperse</a:t>
            </a:r>
          </a:p>
          <a:p>
            <a:pPr marL="0" indent="0">
              <a:buNone/>
            </a:pPr>
            <a:r>
              <a:rPr lang="en-US" dirty="0"/>
              <a:t>D) from a log-</a:t>
            </a:r>
            <a:r>
              <a:rPr lang="en-US" dirty="0" err="1"/>
              <a:t>probit</a:t>
            </a:r>
            <a:r>
              <a:rPr lang="en-US" dirty="0"/>
              <a:t> plot, </a:t>
            </a:r>
            <a:r>
              <a:rPr lang="en-US" dirty="0" err="1"/>
              <a:t>sigmag</a:t>
            </a:r>
            <a:r>
              <a:rPr lang="en-US" dirty="0"/>
              <a:t> = 84.1</a:t>
            </a:r>
            <a:r>
              <a:rPr lang="en-US" dirty="0" smtClean="0"/>
              <a:t>% size/50%size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E) an aerosol with a </a:t>
            </a:r>
            <a:r>
              <a:rPr lang="en-US" dirty="0" err="1">
                <a:solidFill>
                  <a:srgbClr val="FF0000"/>
                </a:solidFill>
              </a:rPr>
              <a:t>sigmag</a:t>
            </a:r>
            <a:r>
              <a:rPr lang="en-US" dirty="0">
                <a:solidFill>
                  <a:srgbClr val="FF0000"/>
                </a:solidFill>
              </a:rPr>
              <a:t> = 2.0 is considered </a:t>
            </a:r>
            <a:r>
              <a:rPr lang="en-US" dirty="0" smtClean="0">
                <a:solidFill>
                  <a:srgbClr val="FF0000"/>
                </a:solidFill>
              </a:rPr>
              <a:t>to be monodisperse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-has come up on app questions with E being the “not correct answer”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smtClean="0">
                <a:solidFill>
                  <a:srgbClr val="FF0000"/>
                </a:solidFill>
              </a:rPr>
              <a:t>p. 701 C&amp;D under “Regional Particle Deposition” monodisperse is &lt; 1.2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-OECD </a:t>
            </a:r>
            <a:r>
              <a:rPr lang="en-US" dirty="0">
                <a:solidFill>
                  <a:srgbClr val="FF0000"/>
                </a:solidFill>
              </a:rPr>
              <a:t>Environment, Health and Safety Publications Series on Testing and Assessment No. 39B </a:t>
            </a:r>
            <a:r>
              <a:rPr lang="en-US" dirty="0" smtClean="0">
                <a:solidFill>
                  <a:srgbClr val="FF0000"/>
                </a:solidFill>
              </a:rPr>
              <a:t>draft guidance document on acute inhalation toxicity testing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455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30. Snake venoms are complex mixtures, however</a:t>
            </a:r>
            <a:r>
              <a:rPr lang="en-US" dirty="0" smtClean="0"/>
              <a:t>, their </a:t>
            </a:r>
            <a:r>
              <a:rPr lang="en-US" dirty="0"/>
              <a:t>poisonous effects are most commonly due </a:t>
            </a:r>
            <a:r>
              <a:rPr lang="en-US" dirty="0" smtClean="0"/>
              <a:t>to which </a:t>
            </a:r>
            <a:r>
              <a:rPr lang="en-US" dirty="0"/>
              <a:t>of the following substances?</a:t>
            </a:r>
          </a:p>
          <a:p>
            <a:pPr marL="0" indent="0">
              <a:buNone/>
            </a:pPr>
            <a:r>
              <a:rPr lang="en-US" dirty="0"/>
              <a:t>A) enzymes and polypeptides</a:t>
            </a:r>
          </a:p>
          <a:p>
            <a:pPr marL="0" indent="0">
              <a:buNone/>
            </a:pPr>
            <a:r>
              <a:rPr lang="en-US" dirty="0"/>
              <a:t>B) formic acid</a:t>
            </a: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/>
              <a:t>tetrodotoxin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toxic alkaloids</a:t>
            </a:r>
          </a:p>
          <a:p>
            <a:pPr marL="0" indent="0">
              <a:buNone/>
            </a:pPr>
            <a:r>
              <a:rPr lang="en-US" dirty="0"/>
              <a:t>E) vasoactive amines</a:t>
            </a:r>
          </a:p>
        </p:txBody>
      </p:sp>
    </p:spTree>
    <p:extLst>
      <p:ext uri="{BB962C8B-B14F-4D97-AF65-F5344CB8AC3E}">
        <p14:creationId xmlns:p14="http://schemas.microsoft.com/office/powerpoint/2010/main" val="2187288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30. Snake venoms are complex mixtures, however</a:t>
            </a:r>
            <a:r>
              <a:rPr lang="en-US" dirty="0" smtClean="0"/>
              <a:t>, their </a:t>
            </a:r>
            <a:r>
              <a:rPr lang="en-US" dirty="0"/>
              <a:t>poisonous effects are </a:t>
            </a:r>
            <a:r>
              <a:rPr lang="en-US" dirty="0">
                <a:solidFill>
                  <a:srgbClr val="FF0000"/>
                </a:solidFill>
              </a:rPr>
              <a:t>most commonly</a:t>
            </a:r>
            <a:r>
              <a:rPr lang="en-US" dirty="0"/>
              <a:t> due </a:t>
            </a:r>
            <a:r>
              <a:rPr lang="en-US" dirty="0" smtClean="0"/>
              <a:t>to which </a:t>
            </a:r>
            <a:r>
              <a:rPr lang="en-US" dirty="0"/>
              <a:t>of the following substances?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enzymes and polypeptides</a:t>
            </a:r>
          </a:p>
          <a:p>
            <a:pPr marL="0" indent="0">
              <a:buNone/>
            </a:pPr>
            <a:r>
              <a:rPr lang="en-US" dirty="0"/>
              <a:t>B) formic </a:t>
            </a:r>
            <a:r>
              <a:rPr lang="en-US" dirty="0" smtClean="0"/>
              <a:t>acid – </a:t>
            </a:r>
            <a:r>
              <a:rPr lang="en-US" dirty="0" smtClean="0">
                <a:solidFill>
                  <a:srgbClr val="FF0000"/>
                </a:solidFill>
              </a:rPr>
              <a:t>formed by methanol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 smtClean="0"/>
              <a:t>Tetrodotoxin</a:t>
            </a:r>
            <a:r>
              <a:rPr lang="en-US" dirty="0" smtClean="0"/>
              <a:t> – </a:t>
            </a:r>
            <a:r>
              <a:rPr lang="en-US" dirty="0" smtClean="0">
                <a:solidFill>
                  <a:srgbClr val="FF0000"/>
                </a:solidFill>
              </a:rPr>
              <a:t>puffer fish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toxic </a:t>
            </a:r>
            <a:r>
              <a:rPr lang="en-US" dirty="0" smtClean="0"/>
              <a:t>alkaloids - </a:t>
            </a:r>
            <a:r>
              <a:rPr lang="en-US" dirty="0" smtClean="0">
                <a:solidFill>
                  <a:srgbClr val="FF0000"/>
                </a:solidFill>
              </a:rPr>
              <a:t>plants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vasoactive </a:t>
            </a:r>
            <a:r>
              <a:rPr lang="en-US" dirty="0" smtClean="0"/>
              <a:t>amines – </a:t>
            </a:r>
            <a:r>
              <a:rPr lang="en-US" dirty="0" smtClean="0">
                <a:solidFill>
                  <a:srgbClr val="FF0000"/>
                </a:solidFill>
              </a:rPr>
              <a:t>examples </a:t>
            </a:r>
            <a:r>
              <a:rPr lang="en-US" dirty="0" err="1" smtClean="0">
                <a:solidFill>
                  <a:srgbClr val="FF0000"/>
                </a:solidFill>
              </a:rPr>
              <a:t>histomine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dirty="0" err="1" smtClean="0">
                <a:solidFill>
                  <a:srgbClr val="FF0000"/>
                </a:solidFill>
              </a:rPr>
              <a:t>seratonin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- Essentials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397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1159 and on app</a:t>
            </a:r>
          </a:p>
        </p:txBody>
      </p:sp>
    </p:spTree>
    <p:extLst>
      <p:ext uri="{BB962C8B-B14F-4D97-AF65-F5344CB8AC3E}">
        <p14:creationId xmlns:p14="http://schemas.microsoft.com/office/powerpoint/2010/main" val="1216525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31. Food idiosyncrasy is characterized by which of</a:t>
            </a:r>
          </a:p>
          <a:p>
            <a:pPr marL="0" indent="0">
              <a:buNone/>
            </a:pPr>
            <a:r>
              <a:rPr lang="en-US" dirty="0"/>
              <a:t>the following?</a:t>
            </a:r>
          </a:p>
          <a:p>
            <a:pPr marL="0" indent="0">
              <a:buNone/>
            </a:pPr>
            <a:r>
              <a:rPr lang="en-US" dirty="0"/>
              <a:t>A) quantitatively normal response to a food</a:t>
            </a:r>
          </a:p>
          <a:p>
            <a:pPr marL="0" indent="0">
              <a:buNone/>
            </a:pPr>
            <a:r>
              <a:rPr lang="en-US" dirty="0"/>
              <a:t>substance or contaminant</a:t>
            </a:r>
          </a:p>
          <a:p>
            <a:pPr marL="0" indent="0">
              <a:buNone/>
            </a:pPr>
            <a:r>
              <a:rPr lang="en-US" dirty="0"/>
              <a:t>B) an immunologic mechanism</a:t>
            </a:r>
          </a:p>
          <a:p>
            <a:pPr marL="0" indent="0">
              <a:buNone/>
            </a:pPr>
            <a:r>
              <a:rPr lang="en-US" dirty="0"/>
              <a:t>C) more likely to occur in genetically predisposed</a:t>
            </a:r>
          </a:p>
          <a:p>
            <a:pPr marL="0" indent="0">
              <a:buNone/>
            </a:pPr>
            <a:r>
              <a:rPr lang="en-US" dirty="0"/>
              <a:t>individuals</a:t>
            </a:r>
          </a:p>
          <a:p>
            <a:pPr marL="0" indent="0">
              <a:buNone/>
            </a:pPr>
            <a:r>
              <a:rPr lang="en-US" dirty="0"/>
              <a:t>D) a reaction qualitatively similar to the normal</a:t>
            </a:r>
          </a:p>
          <a:p>
            <a:pPr marL="0" indent="0">
              <a:buNone/>
            </a:pPr>
            <a:r>
              <a:rPr lang="en-US" dirty="0"/>
              <a:t>physiologic response to a substance</a:t>
            </a:r>
          </a:p>
          <a:p>
            <a:pPr marL="0" indent="0">
              <a:buNone/>
            </a:pPr>
            <a:r>
              <a:rPr lang="en-US" dirty="0"/>
              <a:t>E) a humoral immune response involving </a:t>
            </a:r>
            <a:r>
              <a:rPr lang="en-US" dirty="0" err="1"/>
              <a:t>IgE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05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31. Food idiosyncrasy is characterized by which of</a:t>
            </a:r>
          </a:p>
          <a:p>
            <a:pPr marL="0" indent="0">
              <a:buNone/>
            </a:pPr>
            <a:r>
              <a:rPr lang="en-US" dirty="0"/>
              <a:t>the following?</a:t>
            </a:r>
          </a:p>
          <a:p>
            <a:pPr marL="0" indent="0">
              <a:buNone/>
            </a:pPr>
            <a:r>
              <a:rPr lang="en-US" dirty="0"/>
              <a:t>A) quantitatively normal response to a food</a:t>
            </a:r>
          </a:p>
          <a:p>
            <a:pPr marL="0" indent="0">
              <a:buNone/>
            </a:pPr>
            <a:r>
              <a:rPr lang="en-US" dirty="0"/>
              <a:t>substance or </a:t>
            </a:r>
            <a:r>
              <a:rPr lang="en-US" dirty="0" smtClean="0"/>
              <a:t>contaminant – </a:t>
            </a:r>
            <a:r>
              <a:rPr lang="en-US" dirty="0" smtClean="0">
                <a:solidFill>
                  <a:srgbClr val="FF0000"/>
                </a:solidFill>
              </a:rPr>
              <a:t>should say abnormal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an immunologic </a:t>
            </a:r>
            <a:r>
              <a:rPr lang="en-US" dirty="0" smtClean="0"/>
              <a:t>mechanism – </a:t>
            </a:r>
            <a:r>
              <a:rPr lang="en-US" dirty="0" smtClean="0">
                <a:solidFill>
                  <a:srgbClr val="FF0000"/>
                </a:solidFill>
              </a:rPr>
              <a:t>non immune related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more likely to occur in genetically predisposed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individuals</a:t>
            </a:r>
          </a:p>
          <a:p>
            <a:pPr marL="0" indent="0">
              <a:buNone/>
            </a:pPr>
            <a:r>
              <a:rPr lang="en-US" dirty="0"/>
              <a:t>D) a reaction qualitatively similar to the normal</a:t>
            </a:r>
          </a:p>
          <a:p>
            <a:pPr marL="0" indent="0">
              <a:buNone/>
            </a:pPr>
            <a:r>
              <a:rPr lang="en-US" dirty="0"/>
              <a:t>physiologic response to a </a:t>
            </a:r>
            <a:r>
              <a:rPr lang="en-US" dirty="0" smtClean="0"/>
              <a:t>substance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a humoral immune response involving </a:t>
            </a:r>
            <a:r>
              <a:rPr lang="en-US" dirty="0" err="1" smtClean="0"/>
              <a:t>IgE</a:t>
            </a:r>
            <a:r>
              <a:rPr lang="en-US" dirty="0" smtClean="0"/>
              <a:t> – </a:t>
            </a:r>
            <a:r>
              <a:rPr lang="en-US" dirty="0" smtClean="0">
                <a:solidFill>
                  <a:srgbClr val="FF0000"/>
                </a:solidFill>
              </a:rPr>
              <a:t>non immune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457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1327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123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32. Bisphenol A is considered a chemical of concern</a:t>
            </a:r>
          </a:p>
          <a:p>
            <a:pPr marL="0" indent="0">
              <a:buNone/>
            </a:pPr>
            <a:r>
              <a:rPr lang="en-US" dirty="0"/>
              <a:t>due to which of the following?</a:t>
            </a:r>
          </a:p>
          <a:p>
            <a:pPr marL="0" indent="0">
              <a:buNone/>
            </a:pPr>
            <a:r>
              <a:rPr lang="en-US" dirty="0"/>
              <a:t>A) use in plastics and strong binding to the aryl</a:t>
            </a:r>
          </a:p>
          <a:p>
            <a:pPr marL="0" indent="0">
              <a:buNone/>
            </a:pPr>
            <a:r>
              <a:rPr lang="en-US" dirty="0"/>
              <a:t>hydrocarbon receptor</a:t>
            </a:r>
          </a:p>
          <a:p>
            <a:pPr marL="0" indent="0">
              <a:buNone/>
            </a:pPr>
            <a:r>
              <a:rPr lang="en-US" dirty="0"/>
              <a:t>B) strong binding to the estrogen receptor and</a:t>
            </a:r>
          </a:p>
          <a:p>
            <a:pPr marL="0" indent="0">
              <a:buNone/>
            </a:pPr>
            <a:r>
              <a:rPr lang="en-US" dirty="0"/>
              <a:t>induction of biotransformation enzymes</a:t>
            </a:r>
          </a:p>
          <a:p>
            <a:pPr marL="0" indent="0">
              <a:buNone/>
            </a:pPr>
            <a:r>
              <a:rPr lang="en-US" dirty="0"/>
              <a:t>C) extensive use in plastic manufacturing and</a:t>
            </a:r>
          </a:p>
          <a:p>
            <a:pPr marL="0" indent="0">
              <a:buNone/>
            </a:pPr>
            <a:r>
              <a:rPr lang="en-US" dirty="0"/>
              <a:t>weak binding to the estrogen receptor</a:t>
            </a:r>
          </a:p>
          <a:p>
            <a:pPr marL="0" indent="0">
              <a:buNone/>
            </a:pPr>
            <a:r>
              <a:rPr lang="en-US" dirty="0"/>
              <a:t>D) surfactant properties and potential for</a:t>
            </a:r>
          </a:p>
          <a:p>
            <a:pPr marL="0" indent="0">
              <a:buNone/>
            </a:pPr>
            <a:r>
              <a:rPr lang="en-US" dirty="0"/>
              <a:t>endocrine disruption</a:t>
            </a:r>
          </a:p>
          <a:p>
            <a:pPr marL="0" indent="0">
              <a:buNone/>
            </a:pPr>
            <a:r>
              <a:rPr lang="en-US" dirty="0"/>
              <a:t>E) bioaccumulation in the environment and</a:t>
            </a:r>
          </a:p>
          <a:p>
            <a:pPr marL="0" indent="0">
              <a:buNone/>
            </a:pPr>
            <a:r>
              <a:rPr lang="en-US" dirty="0"/>
              <a:t>potential as a chemical carcinogen</a:t>
            </a:r>
          </a:p>
        </p:txBody>
      </p:sp>
    </p:spTree>
    <p:extLst>
      <p:ext uri="{BB962C8B-B14F-4D97-AF65-F5344CB8AC3E}">
        <p14:creationId xmlns:p14="http://schemas.microsoft.com/office/powerpoint/2010/main" val="2279806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32. Bisphenol A is considered a chemical of concern</a:t>
            </a:r>
          </a:p>
          <a:p>
            <a:pPr marL="0" indent="0">
              <a:buNone/>
            </a:pPr>
            <a:r>
              <a:rPr lang="en-US" dirty="0"/>
              <a:t>due to which of the following?</a:t>
            </a:r>
          </a:p>
          <a:p>
            <a:pPr marL="0" indent="0">
              <a:buNone/>
            </a:pPr>
            <a:r>
              <a:rPr lang="en-US" dirty="0"/>
              <a:t>A) use in plastics and strong binding to the aryl</a:t>
            </a:r>
          </a:p>
          <a:p>
            <a:pPr marL="0" indent="0">
              <a:buNone/>
            </a:pPr>
            <a:r>
              <a:rPr lang="en-US" dirty="0"/>
              <a:t>hydrocarbon </a:t>
            </a:r>
            <a:r>
              <a:rPr lang="en-US" dirty="0" smtClean="0"/>
              <a:t>receptor </a:t>
            </a:r>
            <a:r>
              <a:rPr lang="en-US" dirty="0" smtClean="0">
                <a:solidFill>
                  <a:srgbClr val="FF0000"/>
                </a:solidFill>
              </a:rPr>
              <a:t>– used in plastics binds to AR (androgen receptor) not </a:t>
            </a:r>
            <a:r>
              <a:rPr lang="en-US" dirty="0" err="1" smtClean="0">
                <a:solidFill>
                  <a:srgbClr val="FF0000"/>
                </a:solidFill>
              </a:rPr>
              <a:t>Ahr</a:t>
            </a:r>
            <a:r>
              <a:rPr lang="en-US" dirty="0" smtClean="0">
                <a:solidFill>
                  <a:srgbClr val="FF0000"/>
                </a:solidFill>
              </a:rPr>
              <a:t> (aryl hydrocarbon receptor)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strong binding to the estrogen receptor and</a:t>
            </a:r>
          </a:p>
          <a:p>
            <a:pPr marL="0" indent="0">
              <a:buNone/>
            </a:pPr>
            <a:r>
              <a:rPr lang="en-US" dirty="0"/>
              <a:t>induction of biotransformation </a:t>
            </a:r>
            <a:r>
              <a:rPr lang="en-US" dirty="0" smtClean="0"/>
              <a:t>enzymes – </a:t>
            </a:r>
            <a:r>
              <a:rPr lang="en-US" dirty="0" smtClean="0">
                <a:solidFill>
                  <a:srgbClr val="FF0000"/>
                </a:solidFill>
              </a:rPr>
              <a:t>not sure about enzymes but does bind to estrogen receptor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extensive use in plastic manufacturing and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weak binding to the estrogen </a:t>
            </a:r>
            <a:r>
              <a:rPr lang="en-US" dirty="0" smtClean="0">
                <a:solidFill>
                  <a:srgbClr val="FF0000"/>
                </a:solidFill>
              </a:rPr>
              <a:t>receptor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surfactant properties and potential for</a:t>
            </a:r>
          </a:p>
          <a:p>
            <a:pPr marL="0" indent="0">
              <a:buNone/>
            </a:pPr>
            <a:r>
              <a:rPr lang="en-US" dirty="0"/>
              <a:t>endocrine </a:t>
            </a:r>
            <a:r>
              <a:rPr lang="en-US" dirty="0" smtClean="0"/>
              <a:t>disruption </a:t>
            </a:r>
            <a:r>
              <a:rPr lang="en-US" dirty="0" smtClean="0">
                <a:solidFill>
                  <a:srgbClr val="FF0000"/>
                </a:solidFill>
              </a:rPr>
              <a:t>– not surfactant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bioaccumulation in the environment </a:t>
            </a:r>
            <a:r>
              <a:rPr lang="en-US" dirty="0" smtClean="0"/>
              <a:t>and potential </a:t>
            </a:r>
            <a:r>
              <a:rPr lang="en-US" dirty="0"/>
              <a:t>as a chemical </a:t>
            </a:r>
            <a:r>
              <a:rPr lang="en-US" dirty="0" smtClean="0"/>
              <a:t>carcinogen – </a:t>
            </a:r>
            <a:r>
              <a:rPr lang="en-US" dirty="0" smtClean="0">
                <a:solidFill>
                  <a:srgbClr val="FF0000"/>
                </a:solidFill>
              </a:rPr>
              <a:t>not a carcinogen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-C&amp;D p. 922 (BPA and Thyroid hormone disruption, development of neurological system and antagonism of T3 binding to receptor.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-C&amp;D p. 7 (BPA and estrogenic compounds from E.C. </a:t>
            </a:r>
            <a:r>
              <a:rPr lang="en-US" dirty="0" err="1" smtClean="0">
                <a:solidFill>
                  <a:srgbClr val="FF0000"/>
                </a:solidFill>
              </a:rPr>
              <a:t>Dodds</a:t>
            </a:r>
            <a:r>
              <a:rPr lang="en-US" dirty="0" smtClean="0">
                <a:solidFill>
                  <a:srgbClr val="FF0000"/>
                </a:solidFill>
              </a:rPr>
              <a:t> work)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929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33. Which of the following statements </a:t>
            </a:r>
            <a:r>
              <a:rPr lang="en-US" dirty="0" smtClean="0"/>
              <a:t>about selenium </a:t>
            </a:r>
            <a:r>
              <a:rPr lang="en-US" dirty="0"/>
              <a:t>and selenium compounds is </a:t>
            </a:r>
            <a:r>
              <a:rPr lang="en-US" dirty="0" smtClean="0"/>
              <a:t>NOT CORRECT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selenium's actions in antioxidant systems make</a:t>
            </a:r>
          </a:p>
          <a:p>
            <a:pPr marL="0" indent="0">
              <a:buNone/>
            </a:pPr>
            <a:r>
              <a:rPr lang="en-US" dirty="0"/>
              <a:t>it an essential trace element</a:t>
            </a:r>
          </a:p>
          <a:p>
            <a:pPr marL="0" indent="0">
              <a:buNone/>
            </a:pPr>
            <a:r>
              <a:rPr lang="en-US" dirty="0"/>
              <a:t>B) acute exposure to selenium causes blind</a:t>
            </a:r>
          </a:p>
          <a:p>
            <a:pPr marL="0" indent="0">
              <a:buNone/>
            </a:pPr>
            <a:r>
              <a:rPr lang="en-US" dirty="0"/>
              <a:t>staggers in cattle</a:t>
            </a:r>
          </a:p>
          <a:p>
            <a:pPr marL="0" indent="0">
              <a:buNone/>
            </a:pPr>
            <a:r>
              <a:rPr lang="en-US" dirty="0"/>
              <a:t>C) selenium enhances the toxic effects of</a:t>
            </a:r>
          </a:p>
          <a:p>
            <a:pPr marL="0" indent="0">
              <a:buNone/>
            </a:pPr>
            <a:r>
              <a:rPr lang="en-US" dirty="0"/>
              <a:t>methylmercury</a:t>
            </a:r>
          </a:p>
          <a:p>
            <a:pPr marL="0" indent="0">
              <a:buNone/>
            </a:pPr>
            <a:r>
              <a:rPr lang="en-US" dirty="0"/>
              <a:t>D) chronic exposure to excess selenium can lead</a:t>
            </a:r>
          </a:p>
          <a:p>
            <a:pPr marL="0" indent="0">
              <a:buNone/>
            </a:pPr>
            <a:r>
              <a:rPr lang="en-US" dirty="0"/>
              <a:t>to teeth, hair, and nail loss</a:t>
            </a:r>
          </a:p>
          <a:p>
            <a:pPr marL="0" indent="0">
              <a:buNone/>
            </a:pPr>
            <a:r>
              <a:rPr lang="en-US" dirty="0"/>
              <a:t>E) accumulated evidence indicates that selenium</a:t>
            </a:r>
          </a:p>
          <a:p>
            <a:pPr marL="0" indent="0">
              <a:buNone/>
            </a:pPr>
            <a:r>
              <a:rPr lang="en-US" dirty="0"/>
              <a:t>compounds possess anticancer properties</a:t>
            </a:r>
          </a:p>
        </p:txBody>
      </p:sp>
    </p:spTree>
    <p:extLst>
      <p:ext uri="{BB962C8B-B14F-4D97-AF65-F5344CB8AC3E}">
        <p14:creationId xmlns:p14="http://schemas.microsoft.com/office/powerpoint/2010/main" val="2876473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33. Which of the following statements </a:t>
            </a:r>
            <a:r>
              <a:rPr lang="en-US" dirty="0" smtClean="0"/>
              <a:t>about selenium </a:t>
            </a:r>
            <a:r>
              <a:rPr lang="en-US" dirty="0"/>
              <a:t>and selenium compounds is </a:t>
            </a:r>
            <a:r>
              <a:rPr lang="en-US" dirty="0" smtClean="0"/>
              <a:t>NOT CORRECT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selenium's actions in antioxidant systems make</a:t>
            </a:r>
          </a:p>
          <a:p>
            <a:pPr marL="0" indent="0">
              <a:buNone/>
            </a:pPr>
            <a:r>
              <a:rPr lang="en-US" dirty="0"/>
              <a:t>it an essential trace </a:t>
            </a:r>
            <a:r>
              <a:rPr lang="en-US" dirty="0" smtClean="0"/>
              <a:t>element </a:t>
            </a:r>
            <a:r>
              <a:rPr lang="en-US" dirty="0" smtClean="0">
                <a:solidFill>
                  <a:srgbClr val="FF0000"/>
                </a:solidFill>
              </a:rPr>
              <a:t>– true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acute exposure to selenium causes blind</a:t>
            </a:r>
          </a:p>
          <a:p>
            <a:pPr marL="0" indent="0">
              <a:buNone/>
            </a:pPr>
            <a:r>
              <a:rPr lang="en-US" dirty="0"/>
              <a:t>staggers in </a:t>
            </a:r>
            <a:r>
              <a:rPr lang="en-US" dirty="0" smtClean="0"/>
              <a:t>cattle </a:t>
            </a:r>
            <a:r>
              <a:rPr lang="en-US" dirty="0" smtClean="0">
                <a:solidFill>
                  <a:srgbClr val="FF0000"/>
                </a:solidFill>
              </a:rPr>
              <a:t>- true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selenium enhances the toxic effects of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methylmercury</a:t>
            </a:r>
          </a:p>
          <a:p>
            <a:pPr marL="0" indent="0">
              <a:buNone/>
            </a:pPr>
            <a:r>
              <a:rPr lang="en-US" dirty="0"/>
              <a:t>D) chronic exposure to excess selenium can lead</a:t>
            </a:r>
          </a:p>
          <a:p>
            <a:pPr marL="0" indent="0">
              <a:buNone/>
            </a:pPr>
            <a:r>
              <a:rPr lang="en-US" dirty="0"/>
              <a:t>to teeth, hair, and nail </a:t>
            </a:r>
            <a:r>
              <a:rPr lang="en-US" dirty="0" smtClean="0"/>
              <a:t>loss – </a:t>
            </a:r>
            <a:r>
              <a:rPr lang="en-US" dirty="0" smtClean="0">
                <a:solidFill>
                  <a:srgbClr val="FF0000"/>
                </a:solidFill>
              </a:rPr>
              <a:t>true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1008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accumulated evidence indicates that selenium</a:t>
            </a:r>
          </a:p>
          <a:p>
            <a:pPr marL="0" indent="0">
              <a:buNone/>
            </a:pPr>
            <a:r>
              <a:rPr lang="en-US" dirty="0"/>
              <a:t>compounds possess anticancer </a:t>
            </a:r>
            <a:r>
              <a:rPr lang="en-US" dirty="0" smtClean="0"/>
              <a:t>properties – </a:t>
            </a:r>
            <a:r>
              <a:rPr lang="en-US" dirty="0" smtClean="0">
                <a:solidFill>
                  <a:srgbClr val="FF0000"/>
                </a:solidFill>
              </a:rPr>
              <a:t>true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1008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not listed C/D pg1006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627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34. Which of the following is an important class </a:t>
            </a:r>
            <a:r>
              <a:rPr lang="en-US" dirty="0" smtClean="0"/>
              <a:t>of chemicals </a:t>
            </a:r>
            <a:r>
              <a:rPr lang="en-US" dirty="0"/>
              <a:t>that are formed during grilling or </a:t>
            </a:r>
            <a:r>
              <a:rPr lang="en-US" dirty="0" smtClean="0"/>
              <a:t>broiling of </a:t>
            </a:r>
            <a:r>
              <a:rPr lang="en-US" dirty="0"/>
              <a:t>meat and is associated with cancer in humans?</a:t>
            </a:r>
          </a:p>
          <a:p>
            <a:pPr marL="0" indent="0">
              <a:buNone/>
            </a:pPr>
            <a:r>
              <a:rPr lang="en-US" dirty="0"/>
              <a:t>A) acrylamide</a:t>
            </a:r>
          </a:p>
          <a:p>
            <a:pPr marL="0" indent="0">
              <a:buNone/>
            </a:pPr>
            <a:r>
              <a:rPr lang="en-US" dirty="0"/>
              <a:t>B) heterocyclic amines</a:t>
            </a:r>
          </a:p>
          <a:p>
            <a:pPr marL="0" indent="0">
              <a:buNone/>
            </a:pPr>
            <a:r>
              <a:rPr lang="en-US" dirty="0"/>
              <a:t>C) aliphatic amines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ethyleneimine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err="1"/>
              <a:t>hydrazines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420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34. Which of the following is an important class </a:t>
            </a:r>
            <a:r>
              <a:rPr lang="en-US" dirty="0" smtClean="0"/>
              <a:t>of chemicals </a:t>
            </a:r>
            <a:r>
              <a:rPr lang="en-US" dirty="0"/>
              <a:t>that are formed during grilling or </a:t>
            </a:r>
            <a:r>
              <a:rPr lang="en-US" dirty="0" smtClean="0"/>
              <a:t>broiling of </a:t>
            </a:r>
            <a:r>
              <a:rPr lang="en-US" dirty="0"/>
              <a:t>meat and is associated with cancer in humans?</a:t>
            </a:r>
          </a:p>
          <a:p>
            <a:pPr marL="0" indent="0">
              <a:buNone/>
            </a:pPr>
            <a:r>
              <a:rPr lang="en-US" dirty="0"/>
              <a:t>A) acrylamide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heterocyclic amines</a:t>
            </a:r>
          </a:p>
          <a:p>
            <a:pPr marL="0" indent="0">
              <a:buNone/>
            </a:pPr>
            <a:r>
              <a:rPr lang="en-US" dirty="0"/>
              <a:t>C) aliphatic amines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ethyleneimine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err="1" smtClean="0"/>
              <a:t>Hydrazines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1346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141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35. Which aflatoxin is the most toxicologically </a:t>
            </a:r>
            <a:r>
              <a:rPr lang="en-US" dirty="0" smtClean="0"/>
              <a:t>potent and </a:t>
            </a:r>
            <a:r>
              <a:rPr lang="en-US" dirty="0"/>
              <a:t>commonly occurs in produce?</a:t>
            </a:r>
          </a:p>
          <a:p>
            <a:pPr marL="0" indent="0">
              <a:buNone/>
            </a:pPr>
            <a:r>
              <a:rPr lang="en-US" dirty="0"/>
              <a:t>A) Aflatoxin B1</a:t>
            </a:r>
          </a:p>
          <a:p>
            <a:pPr marL="0" indent="0">
              <a:buNone/>
            </a:pPr>
            <a:r>
              <a:rPr lang="en-US" dirty="0"/>
              <a:t>B) Aflatoxin B2</a:t>
            </a:r>
          </a:p>
          <a:p>
            <a:pPr marL="0" indent="0">
              <a:buNone/>
            </a:pPr>
            <a:r>
              <a:rPr lang="en-US" dirty="0"/>
              <a:t>C) Aflatoxin C1</a:t>
            </a:r>
          </a:p>
          <a:p>
            <a:pPr marL="0" indent="0">
              <a:buNone/>
            </a:pPr>
            <a:r>
              <a:rPr lang="en-US" dirty="0"/>
              <a:t>D) Aflatoxin G1</a:t>
            </a:r>
          </a:p>
          <a:p>
            <a:pPr marL="0" indent="0">
              <a:buNone/>
            </a:pPr>
            <a:r>
              <a:rPr lang="en-US" dirty="0"/>
              <a:t>E) Aflatoxin G2</a:t>
            </a:r>
          </a:p>
        </p:txBody>
      </p:sp>
    </p:spTree>
    <p:extLst>
      <p:ext uri="{BB962C8B-B14F-4D97-AF65-F5344CB8AC3E}">
        <p14:creationId xmlns:p14="http://schemas.microsoft.com/office/powerpoint/2010/main" val="341977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35. Which aflatoxin is the </a:t>
            </a:r>
            <a:r>
              <a:rPr lang="en-US" dirty="0">
                <a:solidFill>
                  <a:srgbClr val="FF0000"/>
                </a:solidFill>
              </a:rPr>
              <a:t>most toxicologically </a:t>
            </a:r>
            <a:r>
              <a:rPr lang="en-US" dirty="0" smtClean="0">
                <a:solidFill>
                  <a:srgbClr val="FF0000"/>
                </a:solidFill>
              </a:rPr>
              <a:t>potent</a:t>
            </a:r>
            <a:r>
              <a:rPr lang="en-US" dirty="0" smtClean="0"/>
              <a:t> and </a:t>
            </a:r>
            <a:r>
              <a:rPr lang="en-US" dirty="0"/>
              <a:t>commonly occurs in produce?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Aflatoxin B1</a:t>
            </a:r>
          </a:p>
          <a:p>
            <a:pPr marL="0" indent="0">
              <a:buNone/>
            </a:pPr>
            <a:r>
              <a:rPr lang="en-US" dirty="0"/>
              <a:t>B) Aflatoxin B2</a:t>
            </a:r>
          </a:p>
          <a:p>
            <a:pPr marL="0" indent="0">
              <a:buNone/>
            </a:pPr>
            <a:r>
              <a:rPr lang="en-US" dirty="0"/>
              <a:t>C) Aflatoxin C1</a:t>
            </a:r>
          </a:p>
          <a:p>
            <a:pPr marL="0" indent="0">
              <a:buNone/>
            </a:pPr>
            <a:r>
              <a:rPr lang="en-US" dirty="0"/>
              <a:t>D) Aflatoxin G1</a:t>
            </a:r>
          </a:p>
          <a:p>
            <a:pPr marL="0" indent="0">
              <a:buNone/>
            </a:pPr>
            <a:r>
              <a:rPr lang="en-US" dirty="0"/>
              <a:t>E) Aflatoxin </a:t>
            </a:r>
            <a:r>
              <a:rPr lang="en-US" dirty="0" smtClean="0"/>
              <a:t>G2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460 fig 31-11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1339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In corn peanuts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277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36. Rhabdomyolysis can be the direct result of </a:t>
            </a:r>
            <a:r>
              <a:rPr lang="en-US" dirty="0" smtClean="0"/>
              <a:t>a toxicant </a:t>
            </a:r>
            <a:r>
              <a:rPr lang="en-US" dirty="0"/>
              <a:t>or the indirect result of a </a:t>
            </a:r>
            <a:r>
              <a:rPr lang="en-US" dirty="0" smtClean="0"/>
              <a:t>drug overdose-induced </a:t>
            </a:r>
            <a:r>
              <a:rPr lang="en-US" dirty="0"/>
              <a:t>muscular ischemia. Please </a:t>
            </a:r>
            <a:r>
              <a:rPr lang="en-US" dirty="0" smtClean="0"/>
              <a:t>select the </a:t>
            </a:r>
            <a:r>
              <a:rPr lang="en-US" dirty="0"/>
              <a:t>statement that is NOT CORRECT with regard </a:t>
            </a:r>
            <a:r>
              <a:rPr lang="en-US" dirty="0" smtClean="0"/>
              <a:t>to rhabdomyolysis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A) hyperkalemia and </a:t>
            </a:r>
            <a:r>
              <a:rPr lang="en-US" dirty="0" err="1"/>
              <a:t>hyperphosphatamia</a:t>
            </a:r>
            <a:r>
              <a:rPr lang="en-US" dirty="0"/>
              <a:t> are</a:t>
            </a:r>
          </a:p>
          <a:p>
            <a:pPr marL="0" indent="0">
              <a:buNone/>
            </a:pPr>
            <a:r>
              <a:rPr lang="en-US" dirty="0"/>
              <a:t>conditions of being predisposed to developing</a:t>
            </a:r>
          </a:p>
          <a:p>
            <a:pPr marL="0" indent="0">
              <a:buNone/>
            </a:pPr>
            <a:r>
              <a:rPr lang="en-US" dirty="0"/>
              <a:t>rhabdomyolysis</a:t>
            </a:r>
          </a:p>
          <a:p>
            <a:pPr marL="0" indent="0">
              <a:buNone/>
            </a:pPr>
            <a:r>
              <a:rPr lang="en-US" dirty="0"/>
              <a:t>B) patients with rhabdomyolysis will first exhibit</a:t>
            </a:r>
          </a:p>
          <a:p>
            <a:pPr marL="0" indent="0">
              <a:buNone/>
            </a:pPr>
            <a:r>
              <a:rPr lang="en-US" dirty="0"/>
              <a:t>a rise in serum </a:t>
            </a:r>
            <a:r>
              <a:rPr lang="en-US" dirty="0" err="1"/>
              <a:t>myoglobulin</a:t>
            </a:r>
            <a:r>
              <a:rPr lang="en-US" dirty="0"/>
              <a:t> and then an</a:t>
            </a:r>
          </a:p>
          <a:p>
            <a:pPr marL="0" indent="0">
              <a:buNone/>
            </a:pPr>
            <a:r>
              <a:rPr lang="en-US" dirty="0"/>
              <a:t>increase in </a:t>
            </a:r>
            <a:r>
              <a:rPr lang="en-US" dirty="0" err="1"/>
              <a:t>creatine</a:t>
            </a:r>
            <a:r>
              <a:rPr lang="en-US" dirty="0"/>
              <a:t> kinase</a:t>
            </a:r>
          </a:p>
          <a:p>
            <a:pPr marL="0" indent="0">
              <a:buNone/>
            </a:pPr>
            <a:r>
              <a:rPr lang="en-US" dirty="0"/>
              <a:t>C) patients with rhabdomyolysis who have</a:t>
            </a:r>
          </a:p>
          <a:p>
            <a:pPr marL="0" indent="0">
              <a:buNone/>
            </a:pPr>
            <a:r>
              <a:rPr lang="en-US" dirty="0"/>
              <a:t>myoglobin urine concentrations can have red</a:t>
            </a:r>
          </a:p>
          <a:p>
            <a:pPr marL="0" indent="0">
              <a:buNone/>
            </a:pPr>
            <a:r>
              <a:rPr lang="en-US" dirty="0"/>
              <a:t>colored urine</a:t>
            </a:r>
          </a:p>
          <a:p>
            <a:pPr marL="0" indent="0">
              <a:buNone/>
            </a:pPr>
            <a:r>
              <a:rPr lang="en-US" dirty="0"/>
              <a:t>D) patients with high levels of cocaine use may</a:t>
            </a:r>
          </a:p>
          <a:p>
            <a:pPr marL="0" indent="0">
              <a:buNone/>
            </a:pPr>
            <a:r>
              <a:rPr lang="en-US" dirty="0"/>
              <a:t>develop </a:t>
            </a:r>
            <a:r>
              <a:rPr lang="en-US" dirty="0" err="1"/>
              <a:t>rhabdomyolsis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rhabdomyolysis may result form severe carbon</a:t>
            </a:r>
          </a:p>
          <a:p>
            <a:pPr marL="0" indent="0">
              <a:buNone/>
            </a:pPr>
            <a:r>
              <a:rPr lang="en-US" dirty="0"/>
              <a:t>monoxide poisoning</a:t>
            </a:r>
          </a:p>
        </p:txBody>
      </p:sp>
    </p:spTree>
    <p:extLst>
      <p:ext uri="{BB962C8B-B14F-4D97-AF65-F5344CB8AC3E}">
        <p14:creationId xmlns:p14="http://schemas.microsoft.com/office/powerpoint/2010/main" val="1421986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36. Rhabdomyolysis can be the direct result of </a:t>
            </a:r>
            <a:r>
              <a:rPr lang="en-US" dirty="0" smtClean="0"/>
              <a:t>a toxicant </a:t>
            </a:r>
            <a:r>
              <a:rPr lang="en-US" dirty="0"/>
              <a:t>or the indirect result of a </a:t>
            </a:r>
            <a:r>
              <a:rPr lang="en-US" dirty="0" smtClean="0"/>
              <a:t>drug overdose-induced </a:t>
            </a:r>
            <a:r>
              <a:rPr lang="en-US" dirty="0"/>
              <a:t>muscular ischemia. Please </a:t>
            </a:r>
            <a:r>
              <a:rPr lang="en-US" dirty="0" smtClean="0"/>
              <a:t>select the </a:t>
            </a:r>
            <a:r>
              <a:rPr lang="en-US" dirty="0"/>
              <a:t>statement that is NOT CORRECT with regard </a:t>
            </a:r>
            <a:r>
              <a:rPr lang="en-US" dirty="0" smtClean="0"/>
              <a:t>to rhabdomyolysis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A) hyperkalemia and </a:t>
            </a:r>
            <a:r>
              <a:rPr lang="en-US" dirty="0" err="1"/>
              <a:t>hyperphosphatamia</a:t>
            </a:r>
            <a:r>
              <a:rPr lang="en-US" dirty="0"/>
              <a:t> are</a:t>
            </a:r>
          </a:p>
          <a:p>
            <a:pPr marL="0" indent="0">
              <a:buNone/>
            </a:pPr>
            <a:r>
              <a:rPr lang="en-US" dirty="0"/>
              <a:t>conditions of being predisposed to developing</a:t>
            </a:r>
          </a:p>
          <a:p>
            <a:pPr marL="0" indent="0">
              <a:buNone/>
            </a:pPr>
            <a:r>
              <a:rPr lang="en-US" dirty="0" smtClean="0"/>
              <a:t>Rhabdomyolysis </a:t>
            </a:r>
            <a:r>
              <a:rPr lang="en-US" dirty="0" smtClean="0">
                <a:solidFill>
                  <a:srgbClr val="FF0000"/>
                </a:solidFill>
              </a:rPr>
              <a:t>- true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patients with rhabdomyolysis will first exhibit</a:t>
            </a:r>
          </a:p>
          <a:p>
            <a:pPr marL="0" indent="0">
              <a:buNone/>
            </a:pPr>
            <a:r>
              <a:rPr lang="en-US" dirty="0"/>
              <a:t>a rise in serum </a:t>
            </a:r>
            <a:r>
              <a:rPr lang="en-US" dirty="0" err="1"/>
              <a:t>myoglobulin</a:t>
            </a:r>
            <a:r>
              <a:rPr lang="en-US" dirty="0"/>
              <a:t> and then an</a:t>
            </a:r>
          </a:p>
          <a:p>
            <a:pPr marL="0" indent="0">
              <a:buNone/>
            </a:pPr>
            <a:r>
              <a:rPr lang="en-US" dirty="0"/>
              <a:t>increase in </a:t>
            </a:r>
            <a:r>
              <a:rPr lang="en-US" dirty="0" err="1"/>
              <a:t>creatine</a:t>
            </a:r>
            <a:r>
              <a:rPr lang="en-US" dirty="0"/>
              <a:t> </a:t>
            </a:r>
            <a:r>
              <a:rPr lang="en-US" dirty="0" smtClean="0"/>
              <a:t>kinase - </a:t>
            </a:r>
            <a:r>
              <a:rPr lang="en-US" dirty="0" smtClean="0">
                <a:solidFill>
                  <a:srgbClr val="FF0000"/>
                </a:solidFill>
              </a:rPr>
              <a:t>true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>
                <a:solidFill>
                  <a:srgbClr val="FF0000"/>
                </a:solidFill>
              </a:rPr>
              <a:t>patients with rhabdomyolysis who have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myoglobin urine concentrations can have red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colored </a:t>
            </a:r>
            <a:r>
              <a:rPr lang="en-US" dirty="0" smtClean="0">
                <a:solidFill>
                  <a:srgbClr val="FF0000"/>
                </a:solidFill>
              </a:rPr>
              <a:t>urine – urine is dark and “tea colored due to myoglobin”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patients with high levels of cocaine use may</a:t>
            </a:r>
          </a:p>
          <a:p>
            <a:pPr marL="0" indent="0">
              <a:buNone/>
            </a:pPr>
            <a:r>
              <a:rPr lang="en-US" dirty="0"/>
              <a:t>develop </a:t>
            </a:r>
            <a:r>
              <a:rPr lang="en-US" dirty="0" err="1" smtClean="0"/>
              <a:t>rhabdomyolsis</a:t>
            </a:r>
            <a:r>
              <a:rPr lang="en-US" dirty="0" smtClean="0"/>
              <a:t> – </a:t>
            </a:r>
            <a:r>
              <a:rPr lang="en-US" dirty="0" smtClean="0">
                <a:solidFill>
                  <a:srgbClr val="FF0000"/>
                </a:solidFill>
              </a:rPr>
              <a:t>true literature search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rhabdomyolysis may result form severe carbon</a:t>
            </a:r>
          </a:p>
          <a:p>
            <a:pPr marL="0" indent="0">
              <a:buNone/>
            </a:pPr>
            <a:r>
              <a:rPr lang="en-US" dirty="0"/>
              <a:t>monoxide </a:t>
            </a:r>
            <a:r>
              <a:rPr lang="en-US" dirty="0" smtClean="0"/>
              <a:t>poisoning – </a:t>
            </a:r>
            <a:r>
              <a:rPr lang="en-US" dirty="0" smtClean="0">
                <a:solidFill>
                  <a:srgbClr val="FF0000"/>
                </a:solidFill>
              </a:rPr>
              <a:t>true if survive CO </a:t>
            </a:r>
            <a:r>
              <a:rPr lang="en-US" dirty="0" err="1" smtClean="0">
                <a:solidFill>
                  <a:srgbClr val="FF0000"/>
                </a:solidFill>
              </a:rPr>
              <a:t>posining</a:t>
            </a:r>
            <a:r>
              <a:rPr lang="en-US" dirty="0" smtClean="0">
                <a:solidFill>
                  <a:srgbClr val="FF0000"/>
                </a:solidFill>
              </a:rPr>
              <a:t> then rhabdomyolysis forms as a result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en.wikipedia.org/wiki/Rhabdomyolysis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530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37. Which of the following is a specific antidote </a:t>
            </a:r>
            <a:r>
              <a:rPr lang="en-US" dirty="0" smtClean="0"/>
              <a:t>for benzodiazepine </a:t>
            </a:r>
            <a:r>
              <a:rPr lang="en-US" dirty="0"/>
              <a:t>overdose?</a:t>
            </a:r>
          </a:p>
          <a:p>
            <a:pPr marL="0" indent="0">
              <a:buNone/>
            </a:pPr>
            <a:r>
              <a:rPr lang="en-US" dirty="0"/>
              <a:t>A) buprenorphine</a:t>
            </a:r>
          </a:p>
          <a:p>
            <a:pPr marL="0" indent="0">
              <a:buNone/>
            </a:pPr>
            <a:r>
              <a:rPr lang="en-US" dirty="0"/>
              <a:t>B) rifampin</a:t>
            </a:r>
          </a:p>
          <a:p>
            <a:pPr marL="0" indent="0">
              <a:buNone/>
            </a:pPr>
            <a:r>
              <a:rPr lang="en-US" dirty="0"/>
              <a:t>C) flumazenil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dextroamphetamine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carbamazepine</a:t>
            </a:r>
          </a:p>
        </p:txBody>
      </p:sp>
    </p:spTree>
    <p:extLst>
      <p:ext uri="{BB962C8B-B14F-4D97-AF65-F5344CB8AC3E}">
        <p14:creationId xmlns:p14="http://schemas.microsoft.com/office/powerpoint/2010/main" val="645289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37. Which of the following is a specific antidote </a:t>
            </a:r>
            <a:r>
              <a:rPr lang="en-US" dirty="0" smtClean="0"/>
              <a:t>for benzodiazepine </a:t>
            </a:r>
            <a:r>
              <a:rPr lang="en-US" dirty="0"/>
              <a:t>overdose?</a:t>
            </a:r>
          </a:p>
          <a:p>
            <a:pPr marL="0" indent="0">
              <a:buNone/>
            </a:pPr>
            <a:r>
              <a:rPr lang="en-US" dirty="0"/>
              <a:t>A) buprenorphine</a:t>
            </a:r>
          </a:p>
          <a:p>
            <a:pPr marL="0" indent="0">
              <a:buNone/>
            </a:pPr>
            <a:r>
              <a:rPr lang="en-US" dirty="0"/>
              <a:t>B) rifampin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</a:t>
            </a:r>
            <a:r>
              <a:rPr lang="en-US" dirty="0" smtClean="0">
                <a:solidFill>
                  <a:srgbClr val="FF0000"/>
                </a:solidFill>
              </a:rPr>
              <a:t>Flumazenil – competitive receptor antagonist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dextroamphetamine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smtClean="0"/>
              <a:t>Carbamazepine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information on benzodiazepine but not answer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466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1367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Ex: is valium,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enhances GABA, sedative properties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884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38. Some ethnic populations, such as Asians and</a:t>
            </a:r>
          </a:p>
          <a:p>
            <a:pPr marL="0" indent="0">
              <a:buNone/>
            </a:pPr>
            <a:r>
              <a:rPr lang="en-US" dirty="0"/>
              <a:t>Native Americans, have difficulty metabolizing</a:t>
            </a:r>
          </a:p>
          <a:p>
            <a:pPr marL="0" indent="0">
              <a:buNone/>
            </a:pPr>
            <a:r>
              <a:rPr lang="en-US" dirty="0"/>
              <a:t>alcohol. The majority of the affected </a:t>
            </a:r>
            <a:r>
              <a:rPr lang="en-US" dirty="0" err="1"/>
              <a:t>individiuals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have a defect in which liver enzyme?</a:t>
            </a:r>
          </a:p>
          <a:p>
            <a:pPr marL="0" indent="0">
              <a:buNone/>
            </a:pPr>
            <a:r>
              <a:rPr lang="en-US" dirty="0"/>
              <a:t>A) CYP1A2</a:t>
            </a:r>
          </a:p>
          <a:p>
            <a:pPr marL="0" indent="0">
              <a:buNone/>
            </a:pPr>
            <a:r>
              <a:rPr lang="en-US" dirty="0"/>
              <a:t>B) CYP2E1</a:t>
            </a:r>
          </a:p>
          <a:p>
            <a:pPr marL="0" indent="0">
              <a:buNone/>
            </a:pPr>
            <a:r>
              <a:rPr lang="en-US" dirty="0"/>
              <a:t>C) catalase</a:t>
            </a:r>
          </a:p>
          <a:p>
            <a:pPr marL="0" indent="0">
              <a:buNone/>
            </a:pPr>
            <a:r>
              <a:rPr lang="en-US" dirty="0"/>
              <a:t>D) alcohol dehydrogenase</a:t>
            </a:r>
          </a:p>
          <a:p>
            <a:pPr marL="0" indent="0">
              <a:buNone/>
            </a:pPr>
            <a:r>
              <a:rPr lang="en-US" dirty="0"/>
              <a:t>E) acetaldehyde dehydrogenase</a:t>
            </a:r>
          </a:p>
        </p:txBody>
      </p:sp>
    </p:spTree>
    <p:extLst>
      <p:ext uri="{BB962C8B-B14F-4D97-AF65-F5344CB8AC3E}">
        <p14:creationId xmlns:p14="http://schemas.microsoft.com/office/powerpoint/2010/main" val="2397671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38. Some ethnic populations, such as Asians and</a:t>
            </a:r>
          </a:p>
          <a:p>
            <a:pPr marL="0" indent="0">
              <a:buNone/>
            </a:pPr>
            <a:r>
              <a:rPr lang="en-US" dirty="0"/>
              <a:t>Native Americans, have difficulty metabolizing</a:t>
            </a:r>
          </a:p>
          <a:p>
            <a:pPr marL="0" indent="0">
              <a:buNone/>
            </a:pPr>
            <a:r>
              <a:rPr lang="en-US" dirty="0"/>
              <a:t>alcohol. The majority of the affected </a:t>
            </a:r>
            <a:r>
              <a:rPr lang="en-US" dirty="0" err="1"/>
              <a:t>individiuals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have a defect in which liver enzyme?</a:t>
            </a:r>
          </a:p>
          <a:p>
            <a:pPr marL="0" indent="0">
              <a:buNone/>
            </a:pPr>
            <a:r>
              <a:rPr lang="en-US" dirty="0"/>
              <a:t>A) CYP1A2</a:t>
            </a:r>
          </a:p>
          <a:p>
            <a:pPr marL="0" indent="0">
              <a:buNone/>
            </a:pPr>
            <a:r>
              <a:rPr lang="en-US" dirty="0"/>
              <a:t>B) CYP2E1</a:t>
            </a:r>
          </a:p>
          <a:p>
            <a:pPr marL="0" indent="0">
              <a:buNone/>
            </a:pPr>
            <a:r>
              <a:rPr lang="en-US" dirty="0"/>
              <a:t>C) catalase</a:t>
            </a:r>
          </a:p>
          <a:p>
            <a:pPr marL="0" indent="0">
              <a:buNone/>
            </a:pPr>
            <a:r>
              <a:rPr lang="en-US" dirty="0"/>
              <a:t>D) alcohol dehydrogenase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E) acetaldehyde </a:t>
            </a:r>
            <a:r>
              <a:rPr lang="en-US" dirty="0" smtClean="0">
                <a:solidFill>
                  <a:srgbClr val="FF0000"/>
                </a:solidFill>
              </a:rPr>
              <a:t>dehydrogenase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Essentials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368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1069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266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39. Which of the following is CORRECT regarding</a:t>
            </a:r>
          </a:p>
          <a:p>
            <a:pPr marL="0" indent="0">
              <a:buNone/>
            </a:pPr>
            <a:r>
              <a:rPr lang="en-US" dirty="0"/>
              <a:t>the mycotoxin food contaminant </a:t>
            </a:r>
            <a:r>
              <a:rPr lang="en-US" dirty="0" err="1"/>
              <a:t>zearalenone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it is mutagenic</a:t>
            </a:r>
          </a:p>
          <a:p>
            <a:pPr marL="0" indent="0">
              <a:buNone/>
            </a:pPr>
            <a:r>
              <a:rPr lang="en-US" dirty="0"/>
              <a:t>B) it is produced by </a:t>
            </a:r>
            <a:r>
              <a:rPr lang="en-US" i="1" dirty="0"/>
              <a:t>Aspergillus </a:t>
            </a:r>
            <a:r>
              <a:rPr lang="en-US" i="1" dirty="0" err="1"/>
              <a:t>flavus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C) it decreases the reproductive potential in </a:t>
            </a:r>
            <a:r>
              <a:rPr lang="en-US" dirty="0" smtClean="0"/>
              <a:t>farm animals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it causes </a:t>
            </a:r>
            <a:r>
              <a:rPr lang="en-US" dirty="0" err="1"/>
              <a:t>leukoencephalomalacia</a:t>
            </a:r>
            <a:r>
              <a:rPr lang="en-US" dirty="0"/>
              <a:t> in horses</a:t>
            </a:r>
          </a:p>
          <a:p>
            <a:pPr marL="0" indent="0">
              <a:buNone/>
            </a:pPr>
            <a:r>
              <a:rPr lang="en-US" dirty="0"/>
              <a:t>E) it requires metabolic activation to cause</a:t>
            </a:r>
          </a:p>
          <a:p>
            <a:pPr marL="0" indent="0">
              <a:buNone/>
            </a:pPr>
            <a:r>
              <a:rPr lang="en-US" dirty="0"/>
              <a:t>adverse effects</a:t>
            </a:r>
          </a:p>
        </p:txBody>
      </p:sp>
    </p:spTree>
    <p:extLst>
      <p:ext uri="{BB962C8B-B14F-4D97-AF65-F5344CB8AC3E}">
        <p14:creationId xmlns:p14="http://schemas.microsoft.com/office/powerpoint/2010/main" val="350011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39. Which of the following is CORRECT regarding</a:t>
            </a:r>
          </a:p>
          <a:p>
            <a:pPr marL="0" indent="0">
              <a:buNone/>
            </a:pPr>
            <a:r>
              <a:rPr lang="en-US" dirty="0"/>
              <a:t>the mycotoxin food contaminant </a:t>
            </a:r>
            <a:r>
              <a:rPr lang="en-US" dirty="0" err="1"/>
              <a:t>zearalenone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it is mutagenic</a:t>
            </a:r>
          </a:p>
          <a:p>
            <a:pPr marL="0" indent="0">
              <a:buNone/>
            </a:pPr>
            <a:r>
              <a:rPr lang="en-US" dirty="0"/>
              <a:t>B) it is produced by </a:t>
            </a:r>
            <a:r>
              <a:rPr lang="en-US" i="1" dirty="0"/>
              <a:t>Aspergillus </a:t>
            </a:r>
            <a:r>
              <a:rPr lang="en-US" i="1" dirty="0" err="1" smtClean="0"/>
              <a:t>flavus</a:t>
            </a:r>
            <a:r>
              <a:rPr lang="en-US" i="1" dirty="0" smtClean="0"/>
              <a:t> – </a:t>
            </a:r>
            <a:r>
              <a:rPr lang="en-US" i="1" dirty="0" smtClean="0">
                <a:solidFill>
                  <a:srgbClr val="FF0000"/>
                </a:solidFill>
              </a:rPr>
              <a:t>false produced by aflatoxin</a:t>
            </a:r>
            <a:endParaRPr lang="en-US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it decreases the reproductive potential in </a:t>
            </a:r>
            <a:r>
              <a:rPr lang="en-US" dirty="0" smtClean="0">
                <a:solidFill>
                  <a:srgbClr val="FF0000"/>
                </a:solidFill>
              </a:rPr>
              <a:t>farm animals - true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it causes </a:t>
            </a:r>
            <a:r>
              <a:rPr lang="en-US" dirty="0" err="1"/>
              <a:t>leukoencephalomalacia</a:t>
            </a:r>
            <a:r>
              <a:rPr lang="en-US" dirty="0"/>
              <a:t> in horses</a:t>
            </a:r>
          </a:p>
          <a:p>
            <a:pPr marL="0" indent="0">
              <a:buNone/>
            </a:pPr>
            <a:r>
              <a:rPr lang="en-US" dirty="0"/>
              <a:t>E) it requires metabolic activation to cause</a:t>
            </a:r>
          </a:p>
          <a:p>
            <a:pPr marL="0" indent="0">
              <a:buNone/>
            </a:pPr>
            <a:r>
              <a:rPr lang="en-US" dirty="0"/>
              <a:t>adverse </a:t>
            </a:r>
            <a:r>
              <a:rPr lang="en-US" dirty="0" smtClean="0"/>
              <a:t>effects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Essential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? 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17/1338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Produced by mold </a:t>
            </a:r>
            <a:r>
              <a:rPr lang="en-US" i="1" dirty="0" smtClean="0">
                <a:solidFill>
                  <a:srgbClr val="FF0000"/>
                </a:solidFill>
              </a:rPr>
              <a:t>fusarium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  <a:hlinkClick r:id="rId2"/>
              </a:rPr>
              <a:t>https://</a:t>
            </a:r>
            <a:r>
              <a:rPr lang="en-US" i="1" dirty="0" smtClean="0">
                <a:solidFill>
                  <a:srgbClr val="FF0000"/>
                </a:solidFill>
                <a:hlinkClick r:id="rId2"/>
              </a:rPr>
              <a:t>en.wikipedia.org/wiki/Zearalenone</a:t>
            </a:r>
            <a:endParaRPr lang="en-US" i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050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40. Which of the following toxicities is NOT</a:t>
            </a:r>
          </a:p>
          <a:p>
            <a:pPr marL="0" indent="0">
              <a:buNone/>
            </a:pPr>
            <a:r>
              <a:rPr lang="en-US" dirty="0"/>
              <a:t>associated with acute or chronic tetracycline</a:t>
            </a:r>
          </a:p>
          <a:p>
            <a:pPr marL="0" indent="0">
              <a:buNone/>
            </a:pPr>
            <a:r>
              <a:rPr lang="en-US" dirty="0"/>
              <a:t>antibiotics use?</a:t>
            </a:r>
          </a:p>
          <a:p>
            <a:pPr marL="0" indent="0">
              <a:buNone/>
            </a:pPr>
            <a:r>
              <a:rPr lang="en-US" dirty="0"/>
              <a:t>A) blood </a:t>
            </a:r>
            <a:r>
              <a:rPr lang="en-US" dirty="0" err="1"/>
              <a:t>dyscrasias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skin and mucosal reactions</a:t>
            </a:r>
          </a:p>
          <a:p>
            <a:pPr marL="0" indent="0">
              <a:buNone/>
            </a:pPr>
            <a:r>
              <a:rPr lang="en-US" dirty="0"/>
              <a:t>C) cardio-pulmonary effects</a:t>
            </a:r>
          </a:p>
          <a:p>
            <a:pPr marL="0" indent="0">
              <a:buNone/>
            </a:pPr>
            <a:r>
              <a:rPr lang="en-US" dirty="0"/>
              <a:t>D) liver effects</a:t>
            </a:r>
          </a:p>
          <a:p>
            <a:pPr marL="0" indent="0">
              <a:buNone/>
            </a:pPr>
            <a:r>
              <a:rPr lang="en-US" dirty="0"/>
              <a:t>E) kidney effects</a:t>
            </a:r>
          </a:p>
        </p:txBody>
      </p:sp>
    </p:spTree>
    <p:extLst>
      <p:ext uri="{BB962C8B-B14F-4D97-AF65-F5344CB8AC3E}">
        <p14:creationId xmlns:p14="http://schemas.microsoft.com/office/powerpoint/2010/main" val="1555694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40. Which of the following toxicities is NOT</a:t>
            </a:r>
          </a:p>
          <a:p>
            <a:pPr marL="0" indent="0">
              <a:buNone/>
            </a:pPr>
            <a:r>
              <a:rPr lang="en-US" dirty="0"/>
              <a:t>associated with acute or chronic tetracycline</a:t>
            </a:r>
          </a:p>
          <a:p>
            <a:pPr marL="0" indent="0">
              <a:buNone/>
            </a:pPr>
            <a:r>
              <a:rPr lang="en-US" dirty="0"/>
              <a:t>antibiotics use?</a:t>
            </a:r>
          </a:p>
          <a:p>
            <a:pPr marL="0" indent="0">
              <a:buNone/>
            </a:pPr>
            <a:r>
              <a:rPr lang="en-US" dirty="0"/>
              <a:t>A) blood </a:t>
            </a:r>
            <a:r>
              <a:rPr lang="en-US" dirty="0" err="1" smtClean="0"/>
              <a:t>dyscrasias</a:t>
            </a:r>
            <a:r>
              <a:rPr lang="en-US" dirty="0" smtClean="0"/>
              <a:t>-</a:t>
            </a:r>
            <a:r>
              <a:rPr lang="en-US" dirty="0" smtClean="0">
                <a:solidFill>
                  <a:srgbClr val="FF0000"/>
                </a:solidFill>
              </a:rPr>
              <a:t>listed as an AE in label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skin and mucosal </a:t>
            </a:r>
            <a:r>
              <a:rPr lang="en-US" dirty="0" smtClean="0"/>
              <a:t>reactions – </a:t>
            </a:r>
            <a:r>
              <a:rPr lang="en-US" dirty="0" smtClean="0">
                <a:solidFill>
                  <a:srgbClr val="FF0000"/>
                </a:solidFill>
              </a:rPr>
              <a:t>known </a:t>
            </a:r>
            <a:r>
              <a:rPr lang="en-US" dirty="0" err="1" smtClean="0">
                <a:solidFill>
                  <a:srgbClr val="FF0000"/>
                </a:solidFill>
              </a:rPr>
              <a:t>phototox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cardio-pulmonary </a:t>
            </a:r>
            <a:r>
              <a:rPr lang="en-US" dirty="0" smtClean="0"/>
              <a:t>effects – </a:t>
            </a:r>
            <a:r>
              <a:rPr lang="en-US" dirty="0" smtClean="0">
                <a:solidFill>
                  <a:srgbClr val="FF0000"/>
                </a:solidFill>
              </a:rPr>
              <a:t>C/D </a:t>
            </a:r>
            <a:r>
              <a:rPr lang="en-US" dirty="0" err="1" smtClean="0">
                <a:solidFill>
                  <a:srgbClr val="FF0000"/>
                </a:solidFill>
              </a:rPr>
              <a:t>pg</a:t>
            </a:r>
            <a:r>
              <a:rPr lang="en-US" dirty="0" smtClean="0">
                <a:solidFill>
                  <a:srgbClr val="FF0000"/>
                </a:solidFill>
              </a:rPr>
              <a:t> 821 discusses anti-neoplastic anthracyclines (main effect is </a:t>
            </a:r>
            <a:r>
              <a:rPr lang="en-US" dirty="0" err="1" smtClean="0">
                <a:solidFill>
                  <a:srgbClr val="FF0000"/>
                </a:solidFill>
              </a:rPr>
              <a:t>cardiotox</a:t>
            </a:r>
            <a:r>
              <a:rPr lang="en-US" dirty="0" smtClean="0">
                <a:solidFill>
                  <a:srgbClr val="FF0000"/>
                </a:solidFill>
              </a:rPr>
              <a:t>) but </a:t>
            </a:r>
            <a:r>
              <a:rPr lang="en-US" dirty="0" err="1" smtClean="0">
                <a:solidFill>
                  <a:srgbClr val="FF0000"/>
                </a:solidFill>
              </a:rPr>
              <a:t>tetracyclins</a:t>
            </a:r>
            <a:r>
              <a:rPr lang="en-US" smtClean="0">
                <a:solidFill>
                  <a:srgbClr val="FF0000"/>
                </a:solidFill>
              </a:rPr>
              <a:t> less so.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liver </a:t>
            </a:r>
            <a:r>
              <a:rPr lang="en-US" dirty="0" smtClean="0"/>
              <a:t>effects – </a:t>
            </a:r>
            <a:r>
              <a:rPr lang="en-US" dirty="0" smtClean="0">
                <a:solidFill>
                  <a:srgbClr val="FF0000"/>
                </a:solidFill>
              </a:rPr>
              <a:t>very rare, can cause steatosis with chronic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kidney </a:t>
            </a:r>
            <a:r>
              <a:rPr lang="en-US" dirty="0" smtClean="0"/>
              <a:t>effects – </a:t>
            </a:r>
            <a:r>
              <a:rPr lang="en-US" dirty="0" smtClean="0">
                <a:solidFill>
                  <a:srgbClr val="FF0000"/>
                </a:solidFill>
              </a:rPr>
              <a:t>Yes-monitor BUN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Not in book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en.wikipedia.org/wiki/Tetracycline_antibiotics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://www.empr.com/tetracycline/drug/3344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www.drugs.com/sfx/tetracycline-side-effects.html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307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E0CC2828-2777-4738-950A-8B9366712A7D}"/>
</file>

<file path=customXml/itemProps2.xml><?xml version="1.0" encoding="utf-8"?>
<ds:datastoreItem xmlns:ds="http://schemas.openxmlformats.org/officeDocument/2006/customXml" ds:itemID="{84D23661-0682-4AEA-AFDF-9A8F61727A8B}"/>
</file>

<file path=customXml/itemProps3.xml><?xml version="1.0" encoding="utf-8"?>
<ds:datastoreItem xmlns:ds="http://schemas.openxmlformats.org/officeDocument/2006/customXml" ds:itemID="{BF557BC2-172E-447C-9B95-5F0FE896C4E2}"/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2431</Words>
  <Application>Microsoft Office PowerPoint</Application>
  <PresentationFormat>On-screen Show (4:3)</PresentationFormat>
  <Paragraphs>308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Gilead Sciences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 Mason</dc:creator>
  <cp:lastModifiedBy>April Lake</cp:lastModifiedBy>
  <cp:revision>24</cp:revision>
  <dcterms:created xsi:type="dcterms:W3CDTF">2017-09-14T17:34:07Z</dcterms:created>
  <dcterms:modified xsi:type="dcterms:W3CDTF">2018-02-12T23:55:45Z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