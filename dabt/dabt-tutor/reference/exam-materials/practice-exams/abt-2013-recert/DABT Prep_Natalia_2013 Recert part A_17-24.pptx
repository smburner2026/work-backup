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7" r:id="rId6"/>
    <p:sldId id="259" r:id="rId7"/>
    <p:sldId id="260" r:id="rId8"/>
    <p:sldId id="268" r:id="rId9"/>
    <p:sldId id="261" r:id="rId10"/>
    <p:sldId id="266" r:id="rId11"/>
    <p:sldId id="262" r:id="rId12"/>
    <p:sldId id="269" r:id="rId13"/>
    <p:sldId id="263" r:id="rId14"/>
    <p:sldId id="270" r:id="rId15"/>
    <p:sldId id="264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84-1E90-4261-854B-7C4DDBA80023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D56EB-3B9D-46FB-B456-A5278BCDE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244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84-1E90-4261-854B-7C4DDBA80023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D56EB-3B9D-46FB-B456-A5278BCDE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629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84-1E90-4261-854B-7C4DDBA80023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D56EB-3B9D-46FB-B456-A5278BCDE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84-1E90-4261-854B-7C4DDBA80023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D56EB-3B9D-46FB-B456-A5278BCDE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24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84-1E90-4261-854B-7C4DDBA80023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D56EB-3B9D-46FB-B456-A5278BCDE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120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84-1E90-4261-854B-7C4DDBA80023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D56EB-3B9D-46FB-B456-A5278BCDE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43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84-1E90-4261-854B-7C4DDBA80023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D56EB-3B9D-46FB-B456-A5278BCDE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327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84-1E90-4261-854B-7C4DDBA80023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D56EB-3B9D-46FB-B456-A5278BCDE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90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84-1E90-4261-854B-7C4DDBA80023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D56EB-3B9D-46FB-B456-A5278BCDE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67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84-1E90-4261-854B-7C4DDBA80023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D56EB-3B9D-46FB-B456-A5278BCDE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708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84-1E90-4261-854B-7C4DDBA80023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D56EB-3B9D-46FB-B456-A5278BCDE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68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04F84-1E90-4261-854B-7C4DDBA80023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D56EB-3B9D-46FB-B456-A5278BCDE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35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" y="0"/>
            <a:ext cx="5029200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1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" y="0"/>
            <a:ext cx="5029200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09600" y="3048000"/>
            <a:ext cx="7848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When </a:t>
            </a:r>
            <a:r>
              <a:rPr lang="en-US" dirty="0" err="1" smtClean="0"/>
              <a:t>Mn</a:t>
            </a:r>
            <a:r>
              <a:rPr lang="en-US" dirty="0" smtClean="0"/>
              <a:t> is combined with bilirubin, it produces intrahepatic </a:t>
            </a:r>
            <a:r>
              <a:rPr lang="en-US" dirty="0" err="1" smtClean="0"/>
              <a:t>colestatis</a:t>
            </a:r>
            <a:r>
              <a:rPr lang="en-US" dirty="0" smtClean="0"/>
              <a:t>.  Liver cirrhosis is a major contributing factor for hepatic encephalopathy. 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Fe and </a:t>
            </a:r>
            <a:r>
              <a:rPr lang="en-US" dirty="0" err="1" smtClean="0"/>
              <a:t>Mn</a:t>
            </a:r>
            <a:r>
              <a:rPr lang="en-US" dirty="0" smtClean="0"/>
              <a:t> can compete for the same binding protein (transferrin) and transporter (DMT1)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Paper from 1969:  “Selective depletion of caudate nucleus dopamine and serotonin during chronic manganese dioxide administration to squirrel monkeys” 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 smtClean="0">
                <a:solidFill>
                  <a:srgbClr val="0000FF"/>
                </a:solidFill>
              </a:rPr>
              <a:t> NO – it is an essential metal for metabolic and cellular functions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 Men working in plants with manganese dust show an incidence of respiratory disease 30 times higher than normal.</a:t>
            </a:r>
            <a:endParaRPr lang="en-US" dirty="0"/>
          </a:p>
          <a:p>
            <a:endParaRPr lang="en-US" dirty="0" smtClean="0">
              <a:solidFill>
                <a:srgbClr val="0000FF"/>
              </a:solidFill>
            </a:endParaRPr>
          </a:p>
          <a:p>
            <a:r>
              <a:rPr lang="en-US" dirty="0" smtClean="0">
                <a:solidFill>
                  <a:srgbClr val="0000FF"/>
                </a:solidFill>
              </a:rPr>
              <a:t>Answer:  D</a:t>
            </a:r>
          </a:p>
        </p:txBody>
      </p:sp>
    </p:spTree>
    <p:extLst>
      <p:ext uri="{BB962C8B-B14F-4D97-AF65-F5344CB8AC3E}">
        <p14:creationId xmlns:p14="http://schemas.microsoft.com/office/powerpoint/2010/main" val="613069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848225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8672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848225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09600" y="3048000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>
              <a:solidFill>
                <a:srgbClr val="0000FF"/>
              </a:solidFill>
            </a:endParaRPr>
          </a:p>
          <a:p>
            <a:r>
              <a:rPr lang="en-US" dirty="0" smtClean="0">
                <a:solidFill>
                  <a:srgbClr val="0000FF"/>
                </a:solidFill>
              </a:rPr>
              <a:t>Answer:  D</a:t>
            </a:r>
          </a:p>
        </p:txBody>
      </p:sp>
    </p:spTree>
    <p:extLst>
      <p:ext uri="{BB962C8B-B14F-4D97-AF65-F5344CB8AC3E}">
        <p14:creationId xmlns:p14="http://schemas.microsoft.com/office/powerpoint/2010/main" val="3285956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665"/>
            <a:ext cx="4914900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2978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665"/>
            <a:ext cx="4914900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9600" y="3048000"/>
            <a:ext cx="7848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Organotin compounds have been used in fungicides, bactericides, </a:t>
            </a:r>
            <a:r>
              <a:rPr lang="en-US" dirty="0" err="1" smtClean="0">
                <a:solidFill>
                  <a:srgbClr val="0000FF"/>
                </a:solidFill>
              </a:rPr>
              <a:t>slimicides</a:t>
            </a:r>
            <a:r>
              <a:rPr lang="en-US" dirty="0" smtClean="0">
                <a:solidFill>
                  <a:srgbClr val="0000FF"/>
                </a:solidFill>
              </a:rPr>
              <a:t> and plastic stabilizers.</a:t>
            </a:r>
          </a:p>
          <a:p>
            <a:r>
              <a:rPr lang="en-US" dirty="0">
                <a:solidFill>
                  <a:srgbClr val="0000FF"/>
                </a:solidFill>
              </a:rPr>
              <a:t>	</a:t>
            </a:r>
            <a:r>
              <a:rPr lang="en-US" dirty="0" smtClean="0">
                <a:solidFill>
                  <a:srgbClr val="0000FF"/>
                </a:solidFill>
              </a:rPr>
              <a:t>… plasticizers, antifungal agents or pesticides</a:t>
            </a:r>
          </a:p>
          <a:p>
            <a:r>
              <a:rPr lang="en-US" dirty="0">
                <a:solidFill>
                  <a:srgbClr val="0000FF"/>
                </a:solidFill>
              </a:rPr>
              <a:t>	</a:t>
            </a:r>
            <a:r>
              <a:rPr lang="en-US" dirty="0" smtClean="0">
                <a:solidFill>
                  <a:srgbClr val="0000FF"/>
                </a:solidFill>
              </a:rPr>
              <a:t>… biocides</a:t>
            </a:r>
          </a:p>
          <a:p>
            <a:endParaRPr lang="en-US" dirty="0">
              <a:solidFill>
                <a:srgbClr val="0000FF"/>
              </a:solidFill>
            </a:endParaRPr>
          </a:p>
          <a:p>
            <a:endParaRPr lang="en-US" dirty="0" smtClean="0">
              <a:solidFill>
                <a:srgbClr val="0000FF"/>
              </a:solidFill>
            </a:endParaRPr>
          </a:p>
          <a:p>
            <a:r>
              <a:rPr lang="en-US" dirty="0" smtClean="0">
                <a:solidFill>
                  <a:srgbClr val="0000FF"/>
                </a:solidFill>
              </a:rPr>
              <a:t>Answer:  A</a:t>
            </a:r>
          </a:p>
        </p:txBody>
      </p:sp>
    </p:spTree>
    <p:extLst>
      <p:ext uri="{BB962C8B-B14F-4D97-AF65-F5344CB8AC3E}">
        <p14:creationId xmlns:p14="http://schemas.microsoft.com/office/powerpoint/2010/main" val="1549212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810125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1391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810125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9600" y="5906869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>
              <a:solidFill>
                <a:srgbClr val="0000FF"/>
              </a:solidFill>
            </a:endParaRPr>
          </a:p>
          <a:p>
            <a:r>
              <a:rPr lang="en-US" dirty="0" smtClean="0">
                <a:solidFill>
                  <a:srgbClr val="0000FF"/>
                </a:solidFill>
              </a:rPr>
              <a:t>Answer:  D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04" y="1981200"/>
            <a:ext cx="5664991" cy="873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8" y="2905125"/>
            <a:ext cx="5664992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743200"/>
            <a:ext cx="3290906" cy="401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943600" y="1905000"/>
            <a:ext cx="2971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Aging = net loss of a ligand from the phosphorus of the OP-enzyme conjugate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664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32"/>
            <a:ext cx="4667250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3402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32"/>
            <a:ext cx="4667250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9600" y="3048000"/>
            <a:ext cx="7848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Sulfur dioxide is a water soluble irritant gas, absorbed in the upper airways.</a:t>
            </a:r>
          </a:p>
          <a:p>
            <a:r>
              <a:rPr lang="en-US" dirty="0" smtClean="0"/>
              <a:t>Stimulates bronchoconstriction and mucus secretion.</a:t>
            </a:r>
          </a:p>
          <a:p>
            <a:r>
              <a:rPr lang="en-US" dirty="0" smtClean="0"/>
              <a:t>Dissolves in the surface lining fluid as sulfite or bisulfite.  Distributes throughout body and interacts with sensory receptors in the airways to initiate local and centrally mediated bronchoconstriction.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Bronchoconstriction, but due to irritant properties, not allergic reaction (</a:t>
            </a:r>
            <a:r>
              <a:rPr lang="en-US" dirty="0" err="1" smtClean="0"/>
              <a:t>IgE</a:t>
            </a:r>
            <a:r>
              <a:rPr lang="en-US" dirty="0" smtClean="0"/>
              <a:t>)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Mucus is increased, so </a:t>
            </a:r>
            <a:r>
              <a:rPr lang="en-US" dirty="0" err="1" smtClean="0"/>
              <a:t>mucociliary</a:t>
            </a:r>
            <a:r>
              <a:rPr lang="en-US" dirty="0" smtClean="0"/>
              <a:t> clearance should go up.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 smtClean="0">
                <a:solidFill>
                  <a:srgbClr val="0000FF"/>
                </a:solidFill>
              </a:rPr>
              <a:t>YES – directly from text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Converted to sulfite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Doesn’t usually reach deep lung, if it does, dissolves into sulfite</a:t>
            </a:r>
            <a:endParaRPr lang="en-US" dirty="0"/>
          </a:p>
          <a:p>
            <a:endParaRPr lang="en-US" dirty="0" smtClean="0">
              <a:solidFill>
                <a:srgbClr val="0000FF"/>
              </a:solidFill>
            </a:endParaRPr>
          </a:p>
          <a:p>
            <a:r>
              <a:rPr lang="en-US" dirty="0" smtClean="0">
                <a:solidFill>
                  <a:srgbClr val="0000FF"/>
                </a:solidFill>
              </a:rPr>
              <a:t>Answer:  C</a:t>
            </a:r>
          </a:p>
        </p:txBody>
      </p:sp>
    </p:spTree>
    <p:extLst>
      <p:ext uri="{BB962C8B-B14F-4D97-AF65-F5344CB8AC3E}">
        <p14:creationId xmlns:p14="http://schemas.microsoft.com/office/powerpoint/2010/main" val="2636326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933950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3816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933950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9600" y="3962400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>
              <a:solidFill>
                <a:srgbClr val="0000FF"/>
              </a:solidFill>
            </a:endParaRPr>
          </a:p>
          <a:p>
            <a:r>
              <a:rPr lang="en-US" dirty="0" smtClean="0">
                <a:solidFill>
                  <a:srgbClr val="0000FF"/>
                </a:solidFill>
              </a:rPr>
              <a:t>Answer:  A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2590800"/>
            <a:ext cx="74866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0750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819650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526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819650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9600" y="3048000"/>
            <a:ext cx="7848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Anion-exchange resin that increases fecal excretion of </a:t>
            </a:r>
            <a:r>
              <a:rPr lang="en-US" dirty="0" err="1" smtClean="0"/>
              <a:t>chlordecone</a:t>
            </a:r>
            <a:r>
              <a:rPr lang="en-US" dirty="0" smtClean="0"/>
              <a:t> (an </a:t>
            </a:r>
            <a:r>
              <a:rPr lang="en-US" dirty="0" err="1" smtClean="0"/>
              <a:t>organoclornie</a:t>
            </a:r>
            <a:r>
              <a:rPr lang="en-US" dirty="0" smtClean="0"/>
              <a:t> pesticide)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Increases HDL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Increases lipoprotein lipase activity to promote the conversion of VLDL to LDL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Inhibits ACAT (acyl coenzyme A-cholesterol acyltransferase – catalyze the conversion of cholesterol to cholesterol esters)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Inhibits HMG-CoA reductase to decrease cholesterol biosynthesis</a:t>
            </a:r>
            <a:endParaRPr lang="en-US" dirty="0"/>
          </a:p>
          <a:p>
            <a:endParaRPr lang="en-US" dirty="0" smtClean="0">
              <a:solidFill>
                <a:srgbClr val="0000FF"/>
              </a:solidFill>
            </a:endParaRPr>
          </a:p>
          <a:p>
            <a:r>
              <a:rPr lang="en-US" dirty="0" smtClean="0">
                <a:solidFill>
                  <a:srgbClr val="0000FF"/>
                </a:solidFill>
              </a:rPr>
              <a:t>Answer:  B  ???</a:t>
            </a:r>
          </a:p>
        </p:txBody>
      </p:sp>
    </p:spTree>
    <p:extLst>
      <p:ext uri="{BB962C8B-B14F-4D97-AF65-F5344CB8AC3E}">
        <p14:creationId xmlns:p14="http://schemas.microsoft.com/office/powerpoint/2010/main" val="1740983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38725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1321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38725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9600" y="3967877"/>
            <a:ext cx="7848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S-warfarin is 3-5 times more potent than the R-enantiomer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 smtClean="0">
                <a:solidFill>
                  <a:srgbClr val="0000FF"/>
                </a:solidFill>
              </a:rPr>
              <a:t>YES – CYP2C9 is am important source of variability in response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Measure prothrombin times in comparison to normal pooled plasma (not exactly the same as APTT)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Release of warfarin from albumin INCREASES bioavailability (and would increase tendency for bleeding)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Warfarin is associated with congenital anomalies in 25-30% of exposed infants</a:t>
            </a:r>
            <a:endParaRPr lang="en-US" dirty="0"/>
          </a:p>
          <a:p>
            <a:endParaRPr lang="en-US" dirty="0" smtClean="0">
              <a:solidFill>
                <a:srgbClr val="0000FF"/>
              </a:solidFill>
            </a:endParaRPr>
          </a:p>
          <a:p>
            <a:r>
              <a:rPr lang="en-US" dirty="0" smtClean="0">
                <a:solidFill>
                  <a:srgbClr val="0000FF"/>
                </a:solidFill>
              </a:rPr>
              <a:t>Answer:  B  </a:t>
            </a:r>
          </a:p>
        </p:txBody>
      </p:sp>
    </p:spTree>
    <p:extLst>
      <p:ext uri="{BB962C8B-B14F-4D97-AF65-F5344CB8AC3E}">
        <p14:creationId xmlns:p14="http://schemas.microsoft.com/office/powerpoint/2010/main" val="2683274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9B7F2886B3614BAD1C6143B699D609" ma:contentTypeVersion="12" ma:contentTypeDescription="Create a new document." ma:contentTypeScope="" ma:versionID="8d6f94fb22da2931efc8eabeca6510bb">
  <xsd:schema xmlns:xsd="http://www.w3.org/2001/XMLSchema" xmlns:xs="http://www.w3.org/2001/XMLSchema" xmlns:p="http://schemas.microsoft.com/office/2006/metadata/properties" xmlns:ns2="5d6ef54a-aa24-4e91-bc8b-44812b1eded1" xmlns:ns3="a7046a94-50c7-43c0-b98b-a3969f4076e7" targetNamespace="http://schemas.microsoft.com/office/2006/metadata/properties" ma:root="true" ma:fieldsID="cc0728bd40b4971c3e26cb78e9cfffca" ns2:_="" ns3:_="">
    <xsd:import namespace="5d6ef54a-aa24-4e91-bc8b-44812b1eded1"/>
    <xsd:import namespace="a7046a94-50c7-43c0-b98b-a3969f4076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6ef54a-aa24-4e91-bc8b-44812b1ede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933771c-307d-4a60-b7ad-eff2f0afcd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046a94-50c7-43c0-b98b-a3969f4076e7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e83d8983-1580-40b6-b87d-1f94fe43acac}" ma:internalName="TaxCatchAll" ma:showField="CatchAllData" ma:web="a7046a94-50c7-43c0-b98b-a3969f4076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6ef54a-aa24-4e91-bc8b-44812b1eded1">
      <Terms xmlns="http://schemas.microsoft.com/office/infopath/2007/PartnerControls"/>
    </lcf76f155ced4ddcb4097134ff3c332f>
    <TaxCatchAll xmlns="a7046a94-50c7-43c0-b98b-a3969f4076e7" xsi:nil="true"/>
  </documentManagement>
</p:properties>
</file>

<file path=customXml/itemProps1.xml><?xml version="1.0" encoding="utf-8"?>
<ds:datastoreItem xmlns:ds="http://schemas.openxmlformats.org/officeDocument/2006/customXml" ds:itemID="{90A2D5E5-E573-43CA-A8F5-2CC5B61C0CD1}"/>
</file>

<file path=customXml/itemProps2.xml><?xml version="1.0" encoding="utf-8"?>
<ds:datastoreItem xmlns:ds="http://schemas.openxmlformats.org/officeDocument/2006/customXml" ds:itemID="{3B6E729F-9858-4FE4-94BA-3AFB64EF5256}"/>
</file>

<file path=customXml/itemProps3.xml><?xml version="1.0" encoding="utf-8"?>
<ds:datastoreItem xmlns:ds="http://schemas.openxmlformats.org/officeDocument/2006/customXml" ds:itemID="{6E5D2580-42D7-4C7F-BF52-CC9FBFE3C973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</Words>
  <Application>Microsoft Office PowerPoint</Application>
  <PresentationFormat>On-screen Show (4:3)</PresentationFormat>
  <Paragraphs>44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Bayer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Natalia Ryan</dc:creator>
  <cp:lastModifiedBy>April Lake</cp:lastModifiedBy>
  <cp:revision>5</cp:revision>
  <dcterms:created xsi:type="dcterms:W3CDTF">2017-09-21T23:41:47Z</dcterms:created>
  <dcterms:modified xsi:type="dcterms:W3CDTF">2018-02-12T23:58:14Z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0x010100FC9B7F2886B3614BAD1C6143B699D609</vt:lpwstr>
  </property>
</Properties>
</file>