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-9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75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6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38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96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4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9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7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5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54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0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8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9FED0-9347-40BE-A5D2-7483C384329A}" type="datetimeFigureOut">
              <a:rPr lang="en-US" smtClean="0"/>
              <a:t>2/12/2018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F9832-9682-4B3C-9394-4754DDD23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2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acillus_thuringiensi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rs.usda.gov/data-products/adoption-of-genetically-engineered-crops-in-the-us/recent-trends-in-ge-adoption.asp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DABT Study Group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2013 </a:t>
            </a:r>
            <a:r>
              <a:rPr lang="en-US" dirty="0" err="1" smtClean="0"/>
              <a:t>Recert</a:t>
            </a:r>
            <a:r>
              <a:rPr lang="en-US" dirty="0" smtClean="0"/>
              <a:t> Exam </a:t>
            </a:r>
          </a:p>
          <a:p>
            <a:r>
              <a:rPr lang="en-US" dirty="0" smtClean="0"/>
              <a:t>Questions 9-16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51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539749"/>
            <a:ext cx="4667250" cy="563721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3" y="666750"/>
            <a:ext cx="578077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50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539749"/>
            <a:ext cx="4667250" cy="5637213"/>
          </a:xfrm>
        </p:spPr>
        <p:txBody>
          <a:bodyPr/>
          <a:lstStyle/>
          <a:p>
            <a:r>
              <a:rPr lang="en-US" dirty="0" smtClean="0"/>
              <a:t>A) False – Page 937 7</a:t>
            </a:r>
            <a:r>
              <a:rPr lang="en-US" baseline="30000" dirty="0" smtClean="0"/>
              <a:t>th</a:t>
            </a:r>
            <a:r>
              <a:rPr lang="en-US" dirty="0" smtClean="0"/>
              <a:t> Ed. </a:t>
            </a:r>
          </a:p>
          <a:p>
            <a:pPr lvl="1"/>
            <a:r>
              <a:rPr lang="en-US" dirty="0" smtClean="0"/>
              <a:t>Trivalent As (As</a:t>
            </a:r>
            <a:r>
              <a:rPr lang="en-US" baseline="30000" dirty="0" smtClean="0"/>
              <a:t>3+</a:t>
            </a:r>
            <a:r>
              <a:rPr lang="en-US" dirty="0" smtClean="0"/>
              <a:t>) is more toxic than Pentavalent (As</a:t>
            </a:r>
            <a:r>
              <a:rPr lang="en-US" baseline="30000" dirty="0" smtClean="0"/>
              <a:t>5+</a:t>
            </a:r>
            <a:r>
              <a:rPr lang="en-US" dirty="0" smtClean="0"/>
              <a:t>) form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3" y="666750"/>
            <a:ext cx="5780775" cy="346710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895350" y="1263650"/>
            <a:ext cx="431800" cy="43815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9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539749"/>
            <a:ext cx="4667250" cy="563721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539749"/>
            <a:ext cx="5505450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65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539749"/>
            <a:ext cx="4667250" cy="5637213"/>
          </a:xfrm>
        </p:spPr>
        <p:txBody>
          <a:bodyPr/>
          <a:lstStyle/>
          <a:p>
            <a:r>
              <a:rPr lang="en-US" dirty="0" smtClean="0"/>
              <a:t>A) Uterine tumors not indicated </a:t>
            </a:r>
          </a:p>
          <a:p>
            <a:r>
              <a:rPr lang="en-US" dirty="0" smtClean="0"/>
              <a:t>B) Male but not female rats</a:t>
            </a:r>
          </a:p>
          <a:p>
            <a:pPr lvl="1"/>
            <a:r>
              <a:rPr lang="en-US" dirty="0" smtClean="0"/>
              <a:t>Chapter 24</a:t>
            </a:r>
          </a:p>
          <a:p>
            <a:r>
              <a:rPr lang="en-US" dirty="0" smtClean="0"/>
              <a:t>C) TCE causes liver tumors in B6C3F1 mice but not other mouse strains or rats</a:t>
            </a:r>
          </a:p>
          <a:p>
            <a:pPr lvl="1"/>
            <a:r>
              <a:rPr lang="en-US" dirty="0" smtClean="0"/>
              <a:t>Page 1050 8</a:t>
            </a:r>
            <a:r>
              <a:rPr lang="en-US" baseline="30000" dirty="0" smtClean="0"/>
              <a:t>th</a:t>
            </a:r>
            <a:r>
              <a:rPr lang="en-US" dirty="0" smtClean="0"/>
              <a:t> Ed</a:t>
            </a:r>
          </a:p>
          <a:p>
            <a:r>
              <a:rPr lang="en-US" dirty="0" smtClean="0"/>
              <a:t>D)p. 1051 8</a:t>
            </a:r>
            <a:r>
              <a:rPr lang="en-US" baseline="30000" dirty="0" smtClean="0"/>
              <a:t>th</a:t>
            </a:r>
            <a:r>
              <a:rPr lang="en-US" dirty="0" smtClean="0"/>
              <a:t> Ed</a:t>
            </a:r>
          </a:p>
          <a:p>
            <a:r>
              <a:rPr lang="en-US" dirty="0" smtClean="0"/>
              <a:t>E) Epi evidence for liver and lung in humans is low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539749"/>
            <a:ext cx="5505450" cy="513397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0250" y="3740150"/>
            <a:ext cx="431800" cy="43815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01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539749"/>
            <a:ext cx="4667250" cy="563721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539749"/>
            <a:ext cx="4707484" cy="439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3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539749"/>
            <a:ext cx="4667250" cy="5637213"/>
          </a:xfrm>
        </p:spPr>
        <p:txBody>
          <a:bodyPr/>
          <a:lstStyle/>
          <a:p>
            <a:r>
              <a:rPr lang="en-US" dirty="0" smtClean="0"/>
              <a:t>A-D) True – See Ch. 24 C&amp;D</a:t>
            </a:r>
          </a:p>
          <a:p>
            <a:r>
              <a:rPr lang="en-US" dirty="0" smtClean="0"/>
              <a:t>E) False: lower hepatic GSH at the beginning of a rat’s activity cycle will lead to increased liver injury</a:t>
            </a:r>
          </a:p>
          <a:p>
            <a:pPr lvl="1"/>
            <a:r>
              <a:rPr lang="en-US" dirty="0" smtClean="0"/>
              <a:t>Page 996 C&amp;D 7</a:t>
            </a:r>
            <a:r>
              <a:rPr lang="en-US" baseline="30000" dirty="0" smtClean="0"/>
              <a:t>th</a:t>
            </a:r>
            <a:r>
              <a:rPr lang="en-US" dirty="0" smtClean="0"/>
              <a:t> Ed. (1061-63 8</a:t>
            </a:r>
            <a:r>
              <a:rPr lang="en-US" baseline="30000" dirty="0" smtClean="0"/>
              <a:t>th</a:t>
            </a:r>
            <a:r>
              <a:rPr lang="en-US" dirty="0" smtClean="0"/>
              <a:t> Ed)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539749"/>
            <a:ext cx="4707484" cy="439420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36600" y="3924300"/>
            <a:ext cx="431800" cy="43815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6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539749"/>
            <a:ext cx="4667250" cy="563721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928687"/>
            <a:ext cx="53816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5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539749"/>
            <a:ext cx="4667250" cy="563721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A) Only a protein derived from </a:t>
            </a:r>
            <a:r>
              <a:rPr lang="en-US" i="1" dirty="0" smtClean="0"/>
              <a:t>Bacillus thuringiensis </a:t>
            </a:r>
            <a:r>
              <a:rPr lang="en-US" dirty="0" smtClean="0"/>
              <a:t>is incorporated into the plant (</a:t>
            </a:r>
            <a:r>
              <a:rPr lang="en-US" dirty="0" err="1" smtClean="0"/>
              <a:t>Bt</a:t>
            </a:r>
            <a:r>
              <a:rPr lang="en-US" dirty="0"/>
              <a:t> </a:t>
            </a:r>
            <a:r>
              <a:rPr lang="en-US" dirty="0" smtClean="0"/>
              <a:t>protein).</a:t>
            </a:r>
          </a:p>
          <a:p>
            <a:r>
              <a:rPr lang="en-US" dirty="0" smtClean="0"/>
              <a:t>B) The protein is not sprayed on the corn</a:t>
            </a:r>
          </a:p>
          <a:p>
            <a:r>
              <a:rPr lang="en-US" dirty="0" smtClean="0"/>
              <a:t>C) True (~80% of market)</a:t>
            </a:r>
          </a:p>
          <a:p>
            <a:r>
              <a:rPr lang="en-US" dirty="0" smtClean="0"/>
              <a:t>D) It does not affect the nutritional value</a:t>
            </a:r>
          </a:p>
          <a:p>
            <a:r>
              <a:rPr lang="en-US" dirty="0" smtClean="0"/>
              <a:t>E) False – the crystal </a:t>
            </a:r>
            <a:r>
              <a:rPr lang="en-US" dirty="0" err="1" smtClean="0"/>
              <a:t>Bt</a:t>
            </a:r>
            <a:r>
              <a:rPr lang="en-US" dirty="0" smtClean="0"/>
              <a:t> proteins are solubilized in the insect gut, which is alkaline, and </a:t>
            </a:r>
            <a:r>
              <a:rPr lang="en-US" dirty="0" err="1" smtClean="0"/>
              <a:t>proteolyzed</a:t>
            </a:r>
            <a:r>
              <a:rPr lang="en-US" dirty="0" smtClean="0"/>
              <a:t> to a toxic form (</a:t>
            </a:r>
            <a:r>
              <a:rPr lang="el-GR" dirty="0" smtClean="0"/>
              <a:t>δ</a:t>
            </a:r>
            <a:r>
              <a:rPr lang="en-US" dirty="0" smtClean="0"/>
              <a:t>-endotoxin)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928687"/>
            <a:ext cx="5381625" cy="317182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42950" y="2406650"/>
            <a:ext cx="431800" cy="43815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47801" y="4883150"/>
            <a:ext cx="53615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Ch. 22, p 957-8 C&amp;D 8</a:t>
            </a:r>
            <a:r>
              <a:rPr lang="en-US" baseline="30000" dirty="0" smtClean="0"/>
              <a:t>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en.wikipedia.org/wiki/Bacillus_thuringiensis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www.ers.usda.gov/data-products/adoption-of-genetically-engineered-crops-in-the-us/recent-trends-in-ge-adoption.aspx</a:t>
            </a:r>
            <a:endParaRPr lang="en-US" dirty="0" smtClean="0"/>
          </a:p>
          <a:p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206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3041650"/>
            <a:ext cx="10636250" cy="313531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0" y="295275"/>
            <a:ext cx="529590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83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3041650"/>
            <a:ext cx="10636250" cy="3135312"/>
          </a:xfrm>
        </p:spPr>
        <p:txBody>
          <a:bodyPr/>
          <a:lstStyle/>
          <a:p>
            <a:r>
              <a:rPr lang="en-US" dirty="0" smtClean="0"/>
              <a:t>A-C) good approaches, but not the best</a:t>
            </a:r>
          </a:p>
          <a:p>
            <a:r>
              <a:rPr lang="en-US" dirty="0" smtClean="0"/>
              <a:t>D) Correct – Solvent elimination would be included in engineering controls</a:t>
            </a:r>
          </a:p>
          <a:p>
            <a:pPr lvl="1"/>
            <a:r>
              <a:rPr lang="en-US" dirty="0" smtClean="0"/>
              <a:t>page 1290 C&amp;D 7</a:t>
            </a:r>
            <a:r>
              <a:rPr lang="en-US" baseline="30000" dirty="0" smtClean="0"/>
              <a:t>th</a:t>
            </a:r>
            <a:r>
              <a:rPr lang="en-US" dirty="0" smtClean="0"/>
              <a:t> Ed./page 1408 C&amp;D 8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/>
              <a:t>Ed</a:t>
            </a:r>
            <a:r>
              <a:rPr lang="en-US" dirty="0" smtClean="0"/>
              <a:t>.</a:t>
            </a:r>
          </a:p>
          <a:p>
            <a:r>
              <a:rPr lang="en-US" dirty="0" smtClean="0"/>
              <a:t>D) not indicated – potentially related to “work practice controls”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0" y="295275"/>
            <a:ext cx="5295900" cy="219075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181350" y="1752600"/>
            <a:ext cx="431800" cy="43815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66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3409950"/>
            <a:ext cx="10636250" cy="276701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850" y="369887"/>
            <a:ext cx="552450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54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3409950"/>
            <a:ext cx="10636250" cy="2767012"/>
          </a:xfrm>
        </p:spPr>
        <p:txBody>
          <a:bodyPr/>
          <a:lstStyle/>
          <a:p>
            <a:r>
              <a:rPr lang="en-US" dirty="0" smtClean="0"/>
              <a:t>C) page 886 C&amp;D 7</a:t>
            </a:r>
            <a:r>
              <a:rPr lang="en-US" baseline="30000" dirty="0" smtClean="0"/>
              <a:t>th</a:t>
            </a:r>
            <a:r>
              <a:rPr lang="en-US" dirty="0" smtClean="0"/>
              <a:t> Ed./page </a:t>
            </a:r>
            <a:r>
              <a:rPr lang="en-US" dirty="0"/>
              <a:t>935-6 C&amp;D </a:t>
            </a:r>
            <a:r>
              <a:rPr lang="en-US" dirty="0" smtClean="0"/>
              <a:t>8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/>
              <a:t>Ed. </a:t>
            </a:r>
            <a:endParaRPr lang="en-US" dirty="0" smtClean="0"/>
          </a:p>
          <a:p>
            <a:r>
              <a:rPr lang="en-US" dirty="0" smtClean="0"/>
              <a:t>E) Pesticide use has plateaued over last 20 years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850" y="369887"/>
            <a:ext cx="5524500" cy="290512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3378200" y="1822449"/>
            <a:ext cx="431800" cy="43815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40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3409950"/>
            <a:ext cx="10636250" cy="276701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825" y="412750"/>
            <a:ext cx="504825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62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3409950"/>
            <a:ext cx="10636250" cy="276701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A) Not best answer – Facilitates </a:t>
            </a:r>
            <a:r>
              <a:rPr lang="en-US" dirty="0" err="1" smtClean="0"/>
              <a:t>dephosphorylation</a:t>
            </a:r>
            <a:r>
              <a:rPr lang="en-US" dirty="0" smtClean="0"/>
              <a:t> prior to aging. Used alone in mild cases</a:t>
            </a:r>
          </a:p>
          <a:p>
            <a:r>
              <a:rPr lang="en-US" dirty="0" smtClean="0"/>
              <a:t>B) Not best answer – used to treat anxiety and muscular effects of OP poisoning</a:t>
            </a:r>
          </a:p>
          <a:p>
            <a:r>
              <a:rPr lang="en-US" dirty="0" smtClean="0"/>
              <a:t>C) Not indicated – plays a role in flight-or-fight response, binds to adrenergic receptors</a:t>
            </a:r>
          </a:p>
          <a:p>
            <a:r>
              <a:rPr lang="en-US" dirty="0" smtClean="0"/>
              <a:t>D) Correct – The “cornerstone of treatment”</a:t>
            </a:r>
          </a:p>
          <a:p>
            <a:pPr lvl="1"/>
            <a:r>
              <a:rPr lang="en-US" dirty="0" smtClean="0"/>
              <a:t>a muscarinic receptor antagonist (p941 C&amp;D 8</a:t>
            </a:r>
            <a:r>
              <a:rPr lang="en-US" baseline="30000" dirty="0" smtClean="0"/>
              <a:t>th</a:t>
            </a:r>
            <a:r>
              <a:rPr lang="en-US" dirty="0" smtClean="0"/>
              <a:t> Ed.)</a:t>
            </a:r>
          </a:p>
          <a:p>
            <a:r>
              <a:rPr lang="en-US" dirty="0" smtClean="0"/>
              <a:t>E) Not indicated – plant extract used in poison arrows, causes paralysis which can be reversed by a cholinesterase inhibitor such as </a:t>
            </a:r>
            <a:r>
              <a:rPr lang="en-US" dirty="0" err="1" smtClean="0"/>
              <a:t>pyridostigmine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825" y="412750"/>
            <a:ext cx="5048250" cy="2209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536950" y="1854199"/>
            <a:ext cx="431800" cy="43815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4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7950" y="731837"/>
            <a:ext cx="4914900" cy="54451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25" y="731837"/>
            <a:ext cx="55435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79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7950" y="731837"/>
            <a:ext cx="4914900" cy="5445125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Glutamate + ATP + NH3 </a:t>
            </a:r>
            <a:r>
              <a:rPr lang="en-US" dirty="0" smtClean="0">
                <a:sym typeface="Wingdings" panose="05000000000000000000" pitchFamily="2" charset="2"/>
              </a:rPr>
              <a:t> Glutamine</a:t>
            </a:r>
            <a:endParaRPr lang="en-US" dirty="0"/>
          </a:p>
          <a:p>
            <a:r>
              <a:rPr lang="en-US" dirty="0" smtClean="0"/>
              <a:t>B) Mammals have other metabolizing systems to deal with inhibition of glutamine </a:t>
            </a:r>
            <a:r>
              <a:rPr lang="en-US" dirty="0" err="1" smtClean="0"/>
              <a:t>synthetase</a:t>
            </a:r>
            <a:r>
              <a:rPr lang="en-US" dirty="0" smtClean="0"/>
              <a:t> (p. 965 C&amp;D 8</a:t>
            </a:r>
            <a:r>
              <a:rPr lang="en-US" baseline="30000" dirty="0" smtClean="0"/>
              <a:t>th</a:t>
            </a:r>
            <a:r>
              <a:rPr lang="en-US" dirty="0" smtClean="0"/>
              <a:t> ed.)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25" y="731837"/>
            <a:ext cx="5543550" cy="4200525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87400" y="2451099"/>
            <a:ext cx="431800" cy="438150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61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9B7F2886B3614BAD1C6143B699D609" ma:contentTypeVersion="12" ma:contentTypeDescription="Create a new document." ma:contentTypeScope="" ma:versionID="8d6f94fb22da2931efc8eabeca6510bb">
  <xsd:schema xmlns:xsd="http://www.w3.org/2001/XMLSchema" xmlns:xs="http://www.w3.org/2001/XMLSchema" xmlns:p="http://schemas.microsoft.com/office/2006/metadata/properties" xmlns:ns2="5d6ef54a-aa24-4e91-bc8b-44812b1eded1" xmlns:ns3="a7046a94-50c7-43c0-b98b-a3969f4076e7" targetNamespace="http://schemas.microsoft.com/office/2006/metadata/properties" ma:root="true" ma:fieldsID="cc0728bd40b4971c3e26cb78e9cfffca" ns2:_="" ns3:_="">
    <xsd:import namespace="5d6ef54a-aa24-4e91-bc8b-44812b1eded1"/>
    <xsd:import namespace="a7046a94-50c7-43c0-b98b-a3969f407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ef54a-aa24-4e91-bc8b-44812b1ed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933771c-307d-4a60-b7ad-eff2f0afcd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046a94-50c7-43c0-b98b-a3969f4076e7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e83d8983-1580-40b6-b87d-1f94fe43acac}" ma:internalName="TaxCatchAll" ma:showField="CatchAllData" ma:web="a7046a94-50c7-43c0-b98b-a3969f407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ef54a-aa24-4e91-bc8b-44812b1eded1">
      <Terms xmlns="http://schemas.microsoft.com/office/infopath/2007/PartnerControls"/>
    </lcf76f155ced4ddcb4097134ff3c332f>
    <TaxCatchAll xmlns="a7046a94-50c7-43c0-b98b-a3969f4076e7" xsi:nil="true"/>
  </documentManagement>
</p:properties>
</file>

<file path=customXml/itemProps1.xml><?xml version="1.0" encoding="utf-8"?>
<ds:datastoreItem xmlns:ds="http://schemas.openxmlformats.org/officeDocument/2006/customXml" ds:itemID="{CBEAFCA0-C827-4C4D-9A2E-60753CFCABEC}"/>
</file>

<file path=customXml/itemProps2.xml><?xml version="1.0" encoding="utf-8"?>
<ds:datastoreItem xmlns:ds="http://schemas.openxmlformats.org/officeDocument/2006/customXml" ds:itemID="{9628201B-7F91-4F87-842C-41CECC77D74F}"/>
</file>

<file path=customXml/itemProps3.xml><?xml version="1.0" encoding="utf-8"?>
<ds:datastoreItem xmlns:ds="http://schemas.openxmlformats.org/officeDocument/2006/customXml" ds:itemID="{F2AD024B-61CD-4386-BC5C-49448A1B55FD}"/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407</Words>
  <Application>Microsoft Office PowerPoint</Application>
  <PresentationFormat>Custom</PresentationFormat>
  <Paragraphs>39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DABT Study 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RJRT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DABT Study Group</dc:title>
  <dc:creator>Guynn, Jenna M</dc:creator>
  <cp:lastModifiedBy>April Lake</cp:lastModifiedBy>
  <cp:revision>12</cp:revision>
  <dcterms:created xsi:type="dcterms:W3CDTF">2017-09-18T16:41:03Z</dcterms:created>
  <dcterms:modified xsi:type="dcterms:W3CDTF">2018-02-12T23:56:33Z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0x010100FC9B7F2886B3614BAD1C6143B699D609</vt:lpwstr>
  </property>
</Properties>
</file>