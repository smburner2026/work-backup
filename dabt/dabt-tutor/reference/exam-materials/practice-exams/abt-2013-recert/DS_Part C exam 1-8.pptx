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6" d="100"/>
          <a:sy n="116" d="100"/>
        </p:scale>
        <p:origin x="-14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2.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2DFDE92-8FC7-4C70-9E23-14DECBD3B3DC}" type="datetimeFigureOut">
              <a:rPr lang="en-US" smtClean="0"/>
              <a:t>2/12/2018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1380365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DFDE92-8FC7-4C70-9E23-14DECBD3B3DC}" type="datetimeFigureOut">
              <a:rPr lang="en-US" smtClean="0"/>
              <a:t>2/12/2018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1281952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2DFDE92-8FC7-4C70-9E23-14DECBD3B3DC}" type="datetimeFigureOut">
              <a:rPr lang="en-US" smtClean="0"/>
              <a:t>2/12/2018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2341454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2DFDE92-8FC7-4C70-9E23-14DECBD3B3DC}" type="datetimeFigureOut">
              <a:rPr lang="en-US" smtClean="0"/>
              <a:t>2/12/2018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1933671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2DFDE92-8FC7-4C70-9E23-14DECBD3B3DC}" type="datetimeFigureOut">
              <a:rPr lang="en-US" smtClean="0"/>
              <a:t>2/12/2018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1489665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2DFDE92-8FC7-4C70-9E23-14DECBD3B3DC}" type="datetimeFigureOut">
              <a:rPr lang="en-US" smtClean="0"/>
              <a:t>2/12/2018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3072533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DFDE92-8FC7-4C70-9E23-14DECBD3B3DC}" type="datetimeFigureOut">
              <a:rPr lang="en-US" smtClean="0"/>
              <a:t>2/12/2018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1590849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DFDE92-8FC7-4C70-9E23-14DECBD3B3DC}" type="datetimeFigureOut">
              <a:rPr lang="en-US" smtClean="0"/>
              <a:t>2/12/2018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354052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DFDE92-8FC7-4C70-9E23-14DECBD3B3DC}" type="datetimeFigureOut">
              <a:rPr lang="en-US" smtClean="0"/>
              <a:t>2/12/2018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3884272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DFDE92-8FC7-4C70-9E23-14DECBD3B3DC}" type="datetimeFigureOut">
              <a:rPr lang="en-US" smtClean="0"/>
              <a:t>2/12/2018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433266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DFDE92-8FC7-4C70-9E23-14DECBD3B3DC}" type="datetimeFigureOut">
              <a:rPr lang="en-US" smtClean="0"/>
              <a:t>2/12/2018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1863680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DFDE92-8FC7-4C70-9E23-14DECBD3B3DC}" type="datetimeFigureOut">
              <a:rPr lang="en-US" smtClean="0"/>
              <a:t>2/12/2018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AAFA3F-044B-4707-859A-D9A503A83C63}" type="slidenum">
              <a:rPr lang="en-US" smtClean="0"/>
              <a:t>‹#›</a:t>
            </a:fld>
            <a:endParaRPr lang="en-US"/>
          </a:p>
        </p:txBody>
      </p:sp>
    </p:spTree>
    <p:extLst>
      <p:ext uri="{BB962C8B-B14F-4D97-AF65-F5344CB8AC3E}">
        <p14:creationId xmlns:p14="http://schemas.microsoft.com/office/powerpoint/2010/main" val="4289567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457200"/>
            <a:ext cx="7772400" cy="1470025"/>
          </a:xfrm>
        </p:spPr>
        <p:txBody>
          <a:bodyPr>
            <a:noAutofit/>
          </a:bodyPr>
          <a:lstStyle/>
          <a:p>
            <a:pPr algn="l"/>
            <a:r>
              <a:rPr lang="en-US" sz="2000" dirty="0" smtClean="0"/>
              <a:t>1. Clinical chemistry profiles that show large increases in alanine aminotransferase (ALT), sorbitol dehydrogenase (SDH) and aspartate aminotransferase (AST) activities commonly relate to which of the following?</a:t>
            </a:r>
            <a:endParaRPr lang="en-US" sz="2000" dirty="0"/>
          </a:p>
        </p:txBody>
      </p:sp>
      <p:sp>
        <p:nvSpPr>
          <p:cNvPr id="3" name="Subtitle 2"/>
          <p:cNvSpPr>
            <a:spLocks noGrp="1"/>
          </p:cNvSpPr>
          <p:nvPr>
            <p:ph type="subTitle" idx="1"/>
          </p:nvPr>
        </p:nvSpPr>
        <p:spPr/>
        <p:txBody>
          <a:bodyPr/>
          <a:lstStyle/>
          <a:p>
            <a:endParaRPr lang="en-US" dirty="0" smtClean="0"/>
          </a:p>
          <a:p>
            <a:endParaRPr lang="en-US" dirty="0"/>
          </a:p>
        </p:txBody>
      </p:sp>
      <p:sp>
        <p:nvSpPr>
          <p:cNvPr id="4" name="TextBox 3"/>
          <p:cNvSpPr txBox="1"/>
          <p:nvPr/>
        </p:nvSpPr>
        <p:spPr>
          <a:xfrm>
            <a:off x="304800" y="1829444"/>
            <a:ext cx="8686800" cy="1938992"/>
          </a:xfrm>
          <a:prstGeom prst="rect">
            <a:avLst/>
          </a:prstGeom>
          <a:noFill/>
        </p:spPr>
        <p:txBody>
          <a:bodyPr wrap="square" rtlCol="0">
            <a:spAutoFit/>
          </a:bodyPr>
          <a:lstStyle/>
          <a:p>
            <a:pPr marL="342900" indent="-342900">
              <a:buAutoNum type="alphaUcParenR"/>
            </a:pPr>
            <a:r>
              <a:rPr lang="en-US" sz="2000" dirty="0" smtClean="0"/>
              <a:t>Are relatively non-specific indicators of toxicity </a:t>
            </a:r>
            <a:r>
              <a:rPr lang="en-US" sz="2000" dirty="0" smtClean="0">
                <a:solidFill>
                  <a:srgbClr val="FF0000"/>
                </a:solidFill>
              </a:rPr>
              <a:t>(SDH is specific to liver injury)</a:t>
            </a:r>
          </a:p>
          <a:p>
            <a:pPr marL="342900" indent="-342900">
              <a:buAutoNum type="alphaUcParenR"/>
            </a:pPr>
            <a:r>
              <a:rPr lang="en-US" sz="2000" dirty="0" smtClean="0"/>
              <a:t>Often would be accompanied by necrosis in the kidney </a:t>
            </a:r>
            <a:r>
              <a:rPr lang="en-US" sz="2000" dirty="0" smtClean="0">
                <a:solidFill>
                  <a:srgbClr val="FF0000"/>
                </a:solidFill>
              </a:rPr>
              <a:t>(ALT and AST, not SDH)</a:t>
            </a:r>
          </a:p>
          <a:p>
            <a:pPr marL="342900" indent="-342900">
              <a:buAutoNum type="alphaUcParenR"/>
            </a:pPr>
            <a:r>
              <a:rPr lang="en-US" sz="2000" dirty="0" smtClean="0"/>
              <a:t>Would not be biologically plausible </a:t>
            </a:r>
            <a:r>
              <a:rPr lang="en-US" sz="2000" dirty="0" smtClean="0">
                <a:solidFill>
                  <a:srgbClr val="FF0000"/>
                </a:solidFill>
              </a:rPr>
              <a:t>(yes, it can for liver damage, see below)</a:t>
            </a:r>
          </a:p>
          <a:p>
            <a:pPr marL="342900" indent="-342900">
              <a:buAutoNum type="alphaUcParenR"/>
            </a:pPr>
            <a:r>
              <a:rPr lang="en-US" sz="2000" dirty="0" smtClean="0"/>
              <a:t>Would be an expected response to a liver toxicant </a:t>
            </a:r>
            <a:r>
              <a:rPr lang="en-US" sz="2000" dirty="0" smtClean="0">
                <a:solidFill>
                  <a:srgbClr val="FF0000"/>
                </a:solidFill>
              </a:rPr>
              <a:t>(see below)</a:t>
            </a:r>
          </a:p>
          <a:p>
            <a:pPr marL="342900" indent="-342900">
              <a:buFontTx/>
              <a:buAutoNum type="alphaUcParenR"/>
            </a:pPr>
            <a:r>
              <a:rPr lang="en-US" sz="2000" dirty="0" smtClean="0"/>
              <a:t>Represent leakage of enzymes from damaged blood cells into the plasma </a:t>
            </a:r>
            <a:r>
              <a:rPr lang="en-US" sz="2000" dirty="0" smtClean="0">
                <a:solidFill>
                  <a:srgbClr val="FF0000"/>
                </a:solidFill>
              </a:rPr>
              <a:t>(ALT but not SDH)</a:t>
            </a:r>
          </a:p>
        </p:txBody>
      </p:sp>
      <p:sp>
        <p:nvSpPr>
          <p:cNvPr id="5" name="Oval 4"/>
          <p:cNvSpPr/>
          <p:nvPr/>
        </p:nvSpPr>
        <p:spPr>
          <a:xfrm>
            <a:off x="304800" y="2757376"/>
            <a:ext cx="381000" cy="40146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394855" y="3962400"/>
            <a:ext cx="8382000" cy="2462213"/>
          </a:xfrm>
          <a:prstGeom prst="rect">
            <a:avLst/>
          </a:prstGeom>
          <a:noFill/>
        </p:spPr>
        <p:txBody>
          <a:bodyPr wrap="square" rtlCol="0">
            <a:spAutoFit/>
          </a:bodyPr>
          <a:lstStyle/>
          <a:p>
            <a:r>
              <a:rPr lang="en-US" sz="1400" i="1" dirty="0" smtClean="0"/>
              <a:t>This is a good reminder that </a:t>
            </a:r>
            <a:r>
              <a:rPr lang="en-US" sz="1400" i="1" dirty="0" smtClean="0">
                <a:solidFill>
                  <a:srgbClr val="FF0000"/>
                </a:solidFill>
              </a:rPr>
              <a:t>AST and ALT are not good measures of liver function </a:t>
            </a:r>
            <a:r>
              <a:rPr lang="en-US" sz="1400" i="1" dirty="0" smtClean="0"/>
              <a:t>because they do not reliably reflect the synthetic ability of the liver and they may come from tissues other than liver (such as muscle). </a:t>
            </a:r>
            <a:r>
              <a:rPr lang="en-US" sz="1400" dirty="0" smtClean="0"/>
              <a:t>When </a:t>
            </a:r>
            <a:r>
              <a:rPr lang="en-US" sz="1400" dirty="0"/>
              <a:t>the AST is higher than ALT, a muscle source of these enzymes should be considered. For example, muscle inflammation due to dermatomyositis may cause AST&gt;ALT. </a:t>
            </a:r>
            <a:endParaRPr lang="en-US" sz="1400" dirty="0" smtClean="0"/>
          </a:p>
          <a:p>
            <a:endParaRPr lang="en-US" sz="1400" dirty="0"/>
          </a:p>
          <a:p>
            <a:r>
              <a:rPr lang="en-US" sz="1400" dirty="0" smtClean="0">
                <a:solidFill>
                  <a:srgbClr val="FF0000"/>
                </a:solidFill>
              </a:rPr>
              <a:t>Sorbitol </a:t>
            </a:r>
            <a:r>
              <a:rPr lang="en-US" sz="1400" dirty="0">
                <a:solidFill>
                  <a:srgbClr val="FF0000"/>
                </a:solidFill>
              </a:rPr>
              <a:t>dehydrogenase (SDH</a:t>
            </a:r>
            <a:r>
              <a:rPr lang="en-US" sz="1400" dirty="0"/>
              <a:t>) is found in the highest concentration in the liver. It is a cytoplasmic enzyme that catalyzes the conversion of fructose to sorbitol. It is a very specific indicator of liver disease in all species, although increases can occur with primary or secondary liver disease (e.g. many horses with inflammatory gastrointestinal disease will have high SDH activity). Increases in activity occur within 24 hours of liver injury. SDH is the enzyme of choice for detecting hepatocellular injury in horse and cattle (as AST and LDH are not liver-specific), particularly in fresh samples</a:t>
            </a:r>
          </a:p>
        </p:txBody>
      </p:sp>
    </p:spTree>
    <p:extLst>
      <p:ext uri="{BB962C8B-B14F-4D97-AF65-F5344CB8AC3E}">
        <p14:creationId xmlns:p14="http://schemas.microsoft.com/office/powerpoint/2010/main" val="2647189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Autofit/>
          </a:bodyPr>
          <a:lstStyle/>
          <a:p>
            <a:pPr algn="l"/>
            <a:r>
              <a:rPr lang="en-US" sz="3200" dirty="0"/>
              <a:t>2</a:t>
            </a:r>
            <a:r>
              <a:rPr lang="en-US" sz="3200" dirty="0" smtClean="0"/>
              <a:t>. The therapeutic Index (TI) of a drug is an approximation of the relative safety of a drug and is expressed as the ratio of the adverse of toxic dose (TD50) to which of the following?  </a:t>
            </a:r>
            <a:endParaRPr lang="en-US" sz="3200" dirty="0"/>
          </a:p>
        </p:txBody>
      </p:sp>
      <p:sp>
        <p:nvSpPr>
          <p:cNvPr id="3" name="Content Placeholder 2"/>
          <p:cNvSpPr>
            <a:spLocks noGrp="1"/>
          </p:cNvSpPr>
          <p:nvPr>
            <p:ph idx="1"/>
          </p:nvPr>
        </p:nvSpPr>
        <p:spPr>
          <a:xfrm>
            <a:off x="0" y="3336492"/>
            <a:ext cx="9144000" cy="2163763"/>
          </a:xfrm>
        </p:spPr>
        <p:txBody>
          <a:bodyPr>
            <a:noAutofit/>
          </a:bodyPr>
          <a:lstStyle/>
          <a:p>
            <a:r>
              <a:rPr lang="en-US" sz="2400" dirty="0" smtClean="0"/>
              <a:t>A) lethal </a:t>
            </a:r>
            <a:r>
              <a:rPr lang="en-US" sz="2400" dirty="0"/>
              <a:t>d</a:t>
            </a:r>
            <a:r>
              <a:rPr lang="en-US" sz="2400" dirty="0" smtClean="0"/>
              <a:t>ose (LD)</a:t>
            </a:r>
          </a:p>
          <a:p>
            <a:r>
              <a:rPr lang="en-US" sz="2400" dirty="0" smtClean="0"/>
              <a:t>B) no observable adverse effect level (NOAEL) </a:t>
            </a:r>
            <a:r>
              <a:rPr lang="en-US" sz="2000" dirty="0" smtClean="0">
                <a:solidFill>
                  <a:srgbClr val="FF0000"/>
                </a:solidFill>
              </a:rPr>
              <a:t>(part of MOE calculation)</a:t>
            </a:r>
          </a:p>
          <a:p>
            <a:r>
              <a:rPr lang="en-US" sz="2400" dirty="0" smtClean="0"/>
              <a:t>C) margin of safety (MOS) </a:t>
            </a:r>
            <a:r>
              <a:rPr lang="en-US" sz="2400" dirty="0" smtClean="0">
                <a:solidFill>
                  <a:srgbClr val="FF0000"/>
                </a:solidFill>
              </a:rPr>
              <a:t>(no, MOS = TD</a:t>
            </a:r>
            <a:r>
              <a:rPr lang="en-US" sz="2400" baseline="-25000" dirty="0" smtClean="0">
                <a:solidFill>
                  <a:srgbClr val="FF0000"/>
                </a:solidFill>
              </a:rPr>
              <a:t>1</a:t>
            </a:r>
            <a:r>
              <a:rPr lang="en-US" sz="2400" dirty="0" smtClean="0">
                <a:solidFill>
                  <a:srgbClr val="FF0000"/>
                </a:solidFill>
              </a:rPr>
              <a:t>/ED</a:t>
            </a:r>
            <a:r>
              <a:rPr lang="en-US" sz="2400" baseline="-25000" dirty="0" smtClean="0">
                <a:solidFill>
                  <a:srgbClr val="FF0000"/>
                </a:solidFill>
              </a:rPr>
              <a:t>99</a:t>
            </a:r>
            <a:r>
              <a:rPr lang="en-US" sz="2400" dirty="0" smtClean="0">
                <a:solidFill>
                  <a:srgbClr val="FF0000"/>
                </a:solidFill>
              </a:rPr>
              <a:t>)</a:t>
            </a:r>
          </a:p>
          <a:p>
            <a:r>
              <a:rPr lang="en-US" sz="2400" dirty="0" smtClean="0"/>
              <a:t>D) median effective dose (ED50) </a:t>
            </a:r>
            <a:r>
              <a:rPr lang="en-US" sz="2400" dirty="0" smtClean="0">
                <a:solidFill>
                  <a:srgbClr val="FF0000"/>
                </a:solidFill>
              </a:rPr>
              <a:t>p. 29 C&amp;D Chapter 2</a:t>
            </a:r>
          </a:p>
          <a:p>
            <a:r>
              <a:rPr lang="en-US" sz="2400" dirty="0" smtClean="0"/>
              <a:t>E) margin of exposure (MOE) </a:t>
            </a:r>
            <a:r>
              <a:rPr lang="en-US" sz="2400" dirty="0" smtClean="0">
                <a:solidFill>
                  <a:srgbClr val="FF0000"/>
                </a:solidFill>
              </a:rPr>
              <a:t>(no, risk assessment calculation MOE = NOAEL/estimated human exposure))</a:t>
            </a:r>
          </a:p>
        </p:txBody>
      </p:sp>
      <p:sp>
        <p:nvSpPr>
          <p:cNvPr id="4" name="Oval 3"/>
          <p:cNvSpPr/>
          <p:nvPr/>
        </p:nvSpPr>
        <p:spPr>
          <a:xfrm>
            <a:off x="304800" y="4648200"/>
            <a:ext cx="457200" cy="533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5128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3. Which of the following best describes </a:t>
            </a:r>
            <a:r>
              <a:rPr lang="en-US" dirty="0" err="1" smtClean="0"/>
              <a:t>hormesis</a:t>
            </a:r>
            <a:r>
              <a:rPr lang="en-US" dirty="0" smtClean="0"/>
              <a:t>?</a:t>
            </a:r>
            <a:endParaRPr lang="en-US" dirty="0"/>
          </a:p>
        </p:txBody>
      </p:sp>
      <p:sp>
        <p:nvSpPr>
          <p:cNvPr id="3" name="Content Placeholder 2"/>
          <p:cNvSpPr>
            <a:spLocks noGrp="1"/>
          </p:cNvSpPr>
          <p:nvPr>
            <p:ph idx="1"/>
          </p:nvPr>
        </p:nvSpPr>
        <p:spPr>
          <a:xfrm>
            <a:off x="609600" y="2819400"/>
            <a:ext cx="8229600" cy="3078163"/>
          </a:xfrm>
        </p:spPr>
        <p:txBody>
          <a:bodyPr>
            <a:normAutofit lnSpcReduction="10000"/>
          </a:bodyPr>
          <a:lstStyle/>
          <a:p>
            <a:r>
              <a:rPr lang="en-US" sz="2400" dirty="0" smtClean="0"/>
              <a:t>A) beneficial responses at low doses and adverse effects at high doses </a:t>
            </a:r>
            <a:r>
              <a:rPr lang="en-US" sz="2400" dirty="0" smtClean="0">
                <a:solidFill>
                  <a:srgbClr val="FF0000"/>
                </a:solidFill>
              </a:rPr>
              <a:t>(yes, page 25 C&amp;D), think ethanol – low dose protect against coronary disease but high dose liver cancer and cirrhosis.)</a:t>
            </a:r>
          </a:p>
          <a:p>
            <a:r>
              <a:rPr lang="en-US" sz="2400" dirty="0" smtClean="0"/>
              <a:t>B) teratogenicity due to estrogenic activity </a:t>
            </a:r>
            <a:r>
              <a:rPr lang="en-US" sz="2400" dirty="0" smtClean="0">
                <a:solidFill>
                  <a:srgbClr val="FF0000"/>
                </a:solidFill>
              </a:rPr>
              <a:t>(no)</a:t>
            </a:r>
          </a:p>
          <a:p>
            <a:r>
              <a:rPr lang="en-US" sz="2400" dirty="0" smtClean="0"/>
              <a:t>C) metabolic alteration resulting in hormone change </a:t>
            </a:r>
            <a:r>
              <a:rPr lang="en-US" sz="2400" dirty="0" smtClean="0">
                <a:solidFill>
                  <a:srgbClr val="FF0000"/>
                </a:solidFill>
              </a:rPr>
              <a:t>(no)</a:t>
            </a:r>
          </a:p>
          <a:p>
            <a:r>
              <a:rPr lang="en-US" sz="2400" dirty="0" smtClean="0"/>
              <a:t>D) increase in hormone production </a:t>
            </a:r>
            <a:r>
              <a:rPr lang="en-US" sz="2400" dirty="0" smtClean="0">
                <a:solidFill>
                  <a:srgbClr val="FF0000"/>
                </a:solidFill>
              </a:rPr>
              <a:t>(no)</a:t>
            </a:r>
          </a:p>
          <a:p>
            <a:r>
              <a:rPr lang="en-US" sz="2400" dirty="0" smtClean="0"/>
              <a:t>E) pathological change in sex organs </a:t>
            </a:r>
            <a:r>
              <a:rPr lang="en-US" sz="2400" dirty="0" smtClean="0">
                <a:solidFill>
                  <a:srgbClr val="FF0000"/>
                </a:solidFill>
              </a:rPr>
              <a:t>(no)</a:t>
            </a:r>
          </a:p>
        </p:txBody>
      </p:sp>
      <p:sp>
        <p:nvSpPr>
          <p:cNvPr id="4" name="Oval 3"/>
          <p:cNvSpPr/>
          <p:nvPr/>
        </p:nvSpPr>
        <p:spPr>
          <a:xfrm>
            <a:off x="914400" y="2819400"/>
            <a:ext cx="457200" cy="533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4935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143000"/>
          </a:xfrm>
        </p:spPr>
        <p:txBody>
          <a:bodyPr>
            <a:normAutofit fontScale="90000"/>
          </a:bodyPr>
          <a:lstStyle/>
          <a:p>
            <a:pPr algn="l"/>
            <a:r>
              <a:rPr lang="en-US" dirty="0" smtClean="0"/>
              <a:t>4. Primary sites of </a:t>
            </a:r>
            <a:r>
              <a:rPr lang="en-US" dirty="0" err="1" smtClean="0"/>
              <a:t>absoption</a:t>
            </a:r>
            <a:r>
              <a:rPr lang="en-US" dirty="0" smtClean="0"/>
              <a:t> of toxicants into the body include which of the following?</a:t>
            </a:r>
            <a:br>
              <a:rPr lang="en-US" dirty="0" smtClean="0"/>
            </a:br>
            <a:endParaRPr lang="en-US" dirty="0"/>
          </a:p>
        </p:txBody>
      </p:sp>
      <p:sp>
        <p:nvSpPr>
          <p:cNvPr id="3" name="Content Placeholder 2"/>
          <p:cNvSpPr>
            <a:spLocks noGrp="1"/>
          </p:cNvSpPr>
          <p:nvPr>
            <p:ph idx="1"/>
          </p:nvPr>
        </p:nvSpPr>
        <p:spPr>
          <a:xfrm>
            <a:off x="457200" y="2438400"/>
            <a:ext cx="8229600" cy="3687763"/>
          </a:xfrm>
        </p:spPr>
        <p:txBody>
          <a:bodyPr>
            <a:normAutofit/>
          </a:bodyPr>
          <a:lstStyle/>
          <a:p>
            <a:r>
              <a:rPr lang="en-US" dirty="0" smtClean="0"/>
              <a:t>A) skin, GI, eyes </a:t>
            </a:r>
            <a:r>
              <a:rPr lang="en-US" dirty="0" smtClean="0">
                <a:solidFill>
                  <a:srgbClr val="FF0000"/>
                </a:solidFill>
              </a:rPr>
              <a:t>(eyes not primary site)</a:t>
            </a:r>
          </a:p>
          <a:p>
            <a:r>
              <a:rPr lang="en-US" dirty="0" smtClean="0"/>
              <a:t>B) Skin, GI, hair </a:t>
            </a:r>
            <a:r>
              <a:rPr lang="en-US" dirty="0" smtClean="0">
                <a:solidFill>
                  <a:srgbClr val="FF0000"/>
                </a:solidFill>
              </a:rPr>
              <a:t>(not hair)</a:t>
            </a:r>
          </a:p>
          <a:p>
            <a:r>
              <a:rPr lang="en-US" dirty="0" smtClean="0"/>
              <a:t>C) Skin, GI, lung </a:t>
            </a:r>
            <a:r>
              <a:rPr lang="en-US" dirty="0" smtClean="0">
                <a:solidFill>
                  <a:srgbClr val="FF0000"/>
                </a:solidFill>
              </a:rPr>
              <a:t>(C&amp;D p. 159)</a:t>
            </a:r>
          </a:p>
          <a:p>
            <a:r>
              <a:rPr lang="en-US" dirty="0"/>
              <a:t>D</a:t>
            </a:r>
            <a:r>
              <a:rPr lang="en-US" dirty="0" smtClean="0"/>
              <a:t>) Lung, GI, eyes </a:t>
            </a:r>
            <a:r>
              <a:rPr lang="en-US" dirty="0" smtClean="0">
                <a:solidFill>
                  <a:srgbClr val="FF0000"/>
                </a:solidFill>
              </a:rPr>
              <a:t>(eyes not primary site)</a:t>
            </a:r>
          </a:p>
          <a:p>
            <a:r>
              <a:rPr lang="en-US" dirty="0" smtClean="0"/>
              <a:t>E) Skin, lung, eyes </a:t>
            </a:r>
            <a:r>
              <a:rPr lang="en-US" dirty="0" smtClean="0">
                <a:solidFill>
                  <a:srgbClr val="FF0000"/>
                </a:solidFill>
              </a:rPr>
              <a:t>(eyes not primary site)</a:t>
            </a:r>
          </a:p>
          <a:p>
            <a:endParaRPr lang="en-US" dirty="0"/>
          </a:p>
        </p:txBody>
      </p:sp>
      <p:sp>
        <p:nvSpPr>
          <p:cNvPr id="4" name="Oval 3"/>
          <p:cNvSpPr/>
          <p:nvPr/>
        </p:nvSpPr>
        <p:spPr>
          <a:xfrm>
            <a:off x="762000" y="3657600"/>
            <a:ext cx="457200" cy="533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9110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5691" y="533400"/>
            <a:ext cx="8229600" cy="1143000"/>
          </a:xfrm>
        </p:spPr>
        <p:txBody>
          <a:bodyPr>
            <a:normAutofit fontScale="90000"/>
          </a:bodyPr>
          <a:lstStyle/>
          <a:p>
            <a:pPr algn="l"/>
            <a:r>
              <a:rPr lang="en-US" dirty="0" smtClean="0"/>
              <a:t>5. Which reactive oxygen species (ROS is likely to be most damaging to an organisms?</a:t>
            </a:r>
            <a:endParaRPr lang="en-US" dirty="0"/>
          </a:p>
        </p:txBody>
      </p:sp>
      <p:sp>
        <p:nvSpPr>
          <p:cNvPr id="3" name="Content Placeholder 2"/>
          <p:cNvSpPr>
            <a:spLocks noGrp="1"/>
          </p:cNvSpPr>
          <p:nvPr>
            <p:ph idx="1"/>
          </p:nvPr>
        </p:nvSpPr>
        <p:spPr>
          <a:xfrm>
            <a:off x="457200" y="2362200"/>
            <a:ext cx="8229600" cy="3763963"/>
          </a:xfrm>
        </p:spPr>
        <p:txBody>
          <a:bodyPr>
            <a:normAutofit fontScale="77500" lnSpcReduction="20000"/>
          </a:bodyPr>
          <a:lstStyle/>
          <a:p>
            <a:r>
              <a:rPr lang="en-US" dirty="0" smtClean="0"/>
              <a:t>A) hydrogen peroxide </a:t>
            </a:r>
            <a:r>
              <a:rPr lang="en-US" dirty="0" smtClean="0">
                <a:solidFill>
                  <a:srgbClr val="FF0000"/>
                </a:solidFill>
              </a:rPr>
              <a:t>(no, ultimate toxicant is OH*)</a:t>
            </a:r>
          </a:p>
          <a:p>
            <a:r>
              <a:rPr lang="en-US" dirty="0" smtClean="0"/>
              <a:t>B) metal oxides </a:t>
            </a:r>
            <a:r>
              <a:rPr lang="en-US" dirty="0" smtClean="0">
                <a:solidFill>
                  <a:srgbClr val="FF0000"/>
                </a:solidFill>
              </a:rPr>
              <a:t>(no, not an ultimate toxicant, the OH formed from this is an ultimate toxicant)</a:t>
            </a:r>
          </a:p>
          <a:p>
            <a:r>
              <a:rPr lang="en-US" dirty="0" smtClean="0"/>
              <a:t>C) hydroxyl radical (OH*) </a:t>
            </a:r>
            <a:r>
              <a:rPr lang="en-US" dirty="0" smtClean="0">
                <a:solidFill>
                  <a:srgbClr val="FF0000"/>
                </a:solidFill>
              </a:rPr>
              <a:t>(Table 3-1, p50-51, OH* is the only ultimate toxicants on this list. An ultimate toxicant is the chemical species that reacts with the endogenous target molecule.) </a:t>
            </a:r>
          </a:p>
          <a:p>
            <a:r>
              <a:rPr lang="en-US" dirty="0" smtClean="0"/>
              <a:t>D) hydroxyl ion (OH-) </a:t>
            </a:r>
            <a:r>
              <a:rPr lang="en-US" dirty="0" smtClean="0">
                <a:solidFill>
                  <a:srgbClr val="FF0000"/>
                </a:solidFill>
              </a:rPr>
              <a:t>(no, ultimate toxicant are Protein carbonyls)</a:t>
            </a:r>
            <a:r>
              <a:rPr lang="en-US" dirty="0" smtClean="0"/>
              <a:t> </a:t>
            </a:r>
          </a:p>
          <a:p>
            <a:r>
              <a:rPr lang="en-US" dirty="0" smtClean="0"/>
              <a:t>E) nitic oxide (NO*) </a:t>
            </a:r>
            <a:r>
              <a:rPr lang="en-US" dirty="0" smtClean="0">
                <a:solidFill>
                  <a:srgbClr val="FF0000"/>
                </a:solidFill>
              </a:rPr>
              <a:t>(no, ultimate toxicant is </a:t>
            </a:r>
            <a:r>
              <a:rPr lang="en-US" dirty="0" err="1" smtClean="0">
                <a:solidFill>
                  <a:srgbClr val="FF0000"/>
                </a:solidFill>
              </a:rPr>
              <a:t>Peroxynitrite</a:t>
            </a:r>
            <a:r>
              <a:rPr lang="en-US" dirty="0" smtClean="0">
                <a:solidFill>
                  <a:srgbClr val="FF0000"/>
                </a:solidFill>
              </a:rPr>
              <a:t> (ONOO-) from </a:t>
            </a:r>
            <a:r>
              <a:rPr lang="en-US" dirty="0" err="1" smtClean="0">
                <a:solidFill>
                  <a:srgbClr val="FF0000"/>
                </a:solidFill>
              </a:rPr>
              <a:t>paraquat</a:t>
            </a:r>
            <a:r>
              <a:rPr lang="en-US" dirty="0" smtClean="0">
                <a:solidFill>
                  <a:srgbClr val="FF0000"/>
                </a:solidFill>
              </a:rPr>
              <a:t> to O2* + NO*)</a:t>
            </a:r>
            <a:endParaRPr lang="en-US" dirty="0">
              <a:solidFill>
                <a:srgbClr val="FF0000"/>
              </a:solidFill>
            </a:endParaRPr>
          </a:p>
        </p:txBody>
      </p:sp>
      <p:sp>
        <p:nvSpPr>
          <p:cNvPr id="4" name="Oval 3"/>
          <p:cNvSpPr/>
          <p:nvPr/>
        </p:nvSpPr>
        <p:spPr>
          <a:xfrm>
            <a:off x="762000" y="3352800"/>
            <a:ext cx="457200" cy="533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3894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1143000"/>
          </a:xfrm>
        </p:spPr>
        <p:txBody>
          <a:bodyPr>
            <a:normAutofit fontScale="90000"/>
          </a:bodyPr>
          <a:lstStyle/>
          <a:p>
            <a:pPr algn="l"/>
            <a:r>
              <a:rPr lang="en-US" sz="2200" dirty="0" smtClean="0"/>
              <a:t>6. The cytochrome P450 family of enzymes consists of about 1,000 known P450 isoforms; about 50 of these are functional in humans. What factors may play a role in the susceptibility of individuals to the metabolic activation of </a:t>
            </a:r>
            <a:r>
              <a:rPr lang="en-US" sz="2200" dirty="0" err="1" smtClean="0"/>
              <a:t>procarcinogenic</a:t>
            </a:r>
            <a:r>
              <a:rPr lang="en-US" sz="2200" dirty="0" smtClean="0"/>
              <a:t> environmental carcinogens, such as some polycyclic aromatic hydrocarbons found in tobacco smoke, to the ultimate carcinogenic form?</a:t>
            </a:r>
            <a:endParaRPr lang="en-US" sz="2200" dirty="0"/>
          </a:p>
        </p:txBody>
      </p:sp>
      <p:sp>
        <p:nvSpPr>
          <p:cNvPr id="3" name="Content Placeholder 2"/>
          <p:cNvSpPr>
            <a:spLocks noGrp="1"/>
          </p:cNvSpPr>
          <p:nvPr>
            <p:ph idx="1"/>
          </p:nvPr>
        </p:nvSpPr>
        <p:spPr>
          <a:xfrm>
            <a:off x="457200" y="3352800"/>
            <a:ext cx="8229600" cy="2773363"/>
          </a:xfrm>
        </p:spPr>
        <p:txBody>
          <a:bodyPr>
            <a:normAutofit fontScale="47500" lnSpcReduction="20000"/>
          </a:bodyPr>
          <a:lstStyle/>
          <a:p>
            <a:r>
              <a:rPr lang="en-US" dirty="0" smtClean="0"/>
              <a:t>A) the presence of CYP3A4 and CYP3A5 isoforms in the intestine and kidney </a:t>
            </a:r>
            <a:r>
              <a:rPr lang="en-US" dirty="0" smtClean="0">
                <a:solidFill>
                  <a:srgbClr val="FF0000"/>
                </a:solidFill>
              </a:rPr>
              <a:t>(these metabolize steroids, fatty acids, xenobiotics).</a:t>
            </a:r>
          </a:p>
          <a:p>
            <a:r>
              <a:rPr lang="en-US" dirty="0" smtClean="0"/>
              <a:t>B) the inhibition of CYP3A by a constituent of grapefruit juice (</a:t>
            </a:r>
            <a:r>
              <a:rPr lang="en-US" dirty="0" smtClean="0">
                <a:solidFill>
                  <a:srgbClr val="FF0000"/>
                </a:solidFill>
              </a:rPr>
              <a:t>no, increases in </a:t>
            </a:r>
            <a:r>
              <a:rPr lang="en-US" dirty="0">
                <a:solidFill>
                  <a:srgbClr val="FF0000"/>
                </a:solidFill>
              </a:rPr>
              <a:t>the bioavailability of </a:t>
            </a:r>
            <a:r>
              <a:rPr lang="en-US" dirty="0" smtClean="0">
                <a:solidFill>
                  <a:srgbClr val="FF0000"/>
                </a:solidFill>
              </a:rPr>
              <a:t>drugs are seen </a:t>
            </a:r>
            <a:r>
              <a:rPr lang="en-US" dirty="0">
                <a:solidFill>
                  <a:srgbClr val="FF0000"/>
                </a:solidFill>
              </a:rPr>
              <a:t>from an array of therapeutic classes. Examples include some calcium channel blockers, benzodiazepines, and </a:t>
            </a:r>
            <a:r>
              <a:rPr lang="en-US" dirty="0" smtClean="0">
                <a:solidFill>
                  <a:srgbClr val="FF0000"/>
                </a:solidFill>
              </a:rPr>
              <a:t>statins but not </a:t>
            </a:r>
            <a:r>
              <a:rPr lang="en-US" dirty="0" err="1" smtClean="0">
                <a:solidFill>
                  <a:srgbClr val="FF0000"/>
                </a:solidFill>
              </a:rPr>
              <a:t>BaP.</a:t>
            </a:r>
            <a:endParaRPr lang="en-US" dirty="0" smtClean="0">
              <a:solidFill>
                <a:srgbClr val="FF0000"/>
              </a:solidFill>
            </a:endParaRPr>
          </a:p>
          <a:p>
            <a:r>
              <a:rPr lang="en-US" dirty="0" smtClean="0"/>
              <a:t>C) polymorphism of the NAT2 (N-acetyltransferase) conjugating enzyme (</a:t>
            </a:r>
            <a:r>
              <a:rPr lang="en-US" dirty="0" smtClean="0">
                <a:solidFill>
                  <a:srgbClr val="FF0000"/>
                </a:solidFill>
              </a:rPr>
              <a:t>no, N-acetyltransferase is an enzyme that catalyzes the transfer of acetyl groups from acetyl-CoA to </a:t>
            </a:r>
            <a:r>
              <a:rPr lang="en-US" dirty="0" err="1" smtClean="0">
                <a:solidFill>
                  <a:srgbClr val="FF0000"/>
                </a:solidFill>
              </a:rPr>
              <a:t>arylamines.They</a:t>
            </a:r>
            <a:r>
              <a:rPr lang="en-US" dirty="0" smtClean="0">
                <a:solidFill>
                  <a:srgbClr val="FF0000"/>
                </a:solidFill>
              </a:rPr>
              <a:t> have wide specificity for aromatic amines, particularly serotonin, and can also catalyze acetyl transfer between </a:t>
            </a:r>
            <a:r>
              <a:rPr lang="en-US" dirty="0" err="1" smtClean="0">
                <a:solidFill>
                  <a:srgbClr val="FF0000"/>
                </a:solidFill>
              </a:rPr>
              <a:t>arylamines</a:t>
            </a:r>
            <a:r>
              <a:rPr lang="en-US" dirty="0" smtClean="0">
                <a:solidFill>
                  <a:srgbClr val="FF0000"/>
                </a:solidFill>
              </a:rPr>
              <a:t> without CoA)</a:t>
            </a:r>
          </a:p>
          <a:p>
            <a:r>
              <a:rPr lang="en-US" dirty="0" smtClean="0"/>
              <a:t>D) the presence of isoforms such as CYP1A1/2, CYP2A6, CYP2B1, and CYP2E1. </a:t>
            </a:r>
            <a:r>
              <a:rPr lang="en-US" dirty="0" smtClean="0">
                <a:solidFill>
                  <a:srgbClr val="FF0000"/>
                </a:solidFill>
              </a:rPr>
              <a:t>(CYP1A1/2 is involved but not the rest)</a:t>
            </a:r>
          </a:p>
          <a:p>
            <a:r>
              <a:rPr lang="en-US" dirty="0" smtClean="0"/>
              <a:t>E) The presence of conjugating enzymes such as </a:t>
            </a:r>
            <a:r>
              <a:rPr lang="en-US" dirty="0" err="1" smtClean="0"/>
              <a:t>glucoronosyltransferases</a:t>
            </a:r>
            <a:r>
              <a:rPr lang="en-US" dirty="0" smtClean="0"/>
              <a:t> </a:t>
            </a:r>
            <a:r>
              <a:rPr lang="en-US" dirty="0" smtClean="0">
                <a:solidFill>
                  <a:srgbClr val="FF0000"/>
                </a:solidFill>
              </a:rPr>
              <a:t>(This enzyme can form the ultimate carcinogen from the </a:t>
            </a:r>
            <a:r>
              <a:rPr lang="en-US" dirty="0" err="1" smtClean="0">
                <a:solidFill>
                  <a:srgbClr val="FF0000"/>
                </a:solidFill>
              </a:rPr>
              <a:t>procarcinogen</a:t>
            </a:r>
            <a:r>
              <a:rPr lang="en-US" dirty="0" smtClean="0">
                <a:solidFill>
                  <a:srgbClr val="FF0000"/>
                </a:solidFill>
              </a:rPr>
              <a:t>, BAP)</a:t>
            </a:r>
          </a:p>
        </p:txBody>
      </p:sp>
      <p:sp>
        <p:nvSpPr>
          <p:cNvPr id="4" name="Oval 3"/>
          <p:cNvSpPr/>
          <p:nvPr/>
        </p:nvSpPr>
        <p:spPr>
          <a:xfrm>
            <a:off x="630382" y="5410200"/>
            <a:ext cx="457200" cy="533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9380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85800"/>
            <a:ext cx="8229600" cy="1143000"/>
          </a:xfrm>
        </p:spPr>
        <p:txBody>
          <a:bodyPr>
            <a:normAutofit fontScale="90000"/>
          </a:bodyPr>
          <a:lstStyle/>
          <a:p>
            <a:pPr algn="l"/>
            <a:r>
              <a:rPr lang="en-US" dirty="0" smtClean="0"/>
              <a:t>7. Which of the following enzymes catalyze a phase II biotransformation of xenobiotic substances?</a:t>
            </a:r>
            <a:endParaRPr lang="en-US" dirty="0"/>
          </a:p>
        </p:txBody>
      </p:sp>
      <p:sp>
        <p:nvSpPr>
          <p:cNvPr id="3" name="Content Placeholder 2"/>
          <p:cNvSpPr>
            <a:spLocks noGrp="1"/>
          </p:cNvSpPr>
          <p:nvPr>
            <p:ph idx="1"/>
          </p:nvPr>
        </p:nvSpPr>
        <p:spPr>
          <a:xfrm>
            <a:off x="457200" y="3048000"/>
            <a:ext cx="8229600" cy="3078163"/>
          </a:xfrm>
        </p:spPr>
        <p:txBody>
          <a:bodyPr>
            <a:normAutofit fontScale="62500" lnSpcReduction="20000"/>
          </a:bodyPr>
          <a:lstStyle/>
          <a:p>
            <a:r>
              <a:rPr lang="en-US" dirty="0" smtClean="0"/>
              <a:t>A) epoxide hydrolase </a:t>
            </a:r>
            <a:r>
              <a:rPr lang="en-US" dirty="0" smtClean="0">
                <a:solidFill>
                  <a:srgbClr val="FF0000"/>
                </a:solidFill>
              </a:rPr>
              <a:t>(major </a:t>
            </a:r>
            <a:r>
              <a:rPr lang="en-US" dirty="0">
                <a:solidFill>
                  <a:srgbClr val="FF0000"/>
                </a:solidFill>
              </a:rPr>
              <a:t>xenobiotic-metabolizing phase I </a:t>
            </a:r>
            <a:r>
              <a:rPr lang="en-US" dirty="0" smtClean="0">
                <a:solidFill>
                  <a:srgbClr val="FF0000"/>
                </a:solidFill>
              </a:rPr>
              <a:t>(e.g. CYPs</a:t>
            </a:r>
            <a:r>
              <a:rPr lang="en-US" dirty="0">
                <a:solidFill>
                  <a:srgbClr val="FF0000"/>
                </a:solidFill>
              </a:rPr>
              <a:t>, epoxide hydrolases, </a:t>
            </a:r>
            <a:r>
              <a:rPr lang="en-US" dirty="0" err="1">
                <a:solidFill>
                  <a:srgbClr val="FF0000"/>
                </a:solidFill>
              </a:rPr>
              <a:t>flavin</a:t>
            </a:r>
            <a:r>
              <a:rPr lang="en-US" dirty="0">
                <a:solidFill>
                  <a:srgbClr val="FF0000"/>
                </a:solidFill>
              </a:rPr>
              <a:t> monooxygenases, etc.) </a:t>
            </a:r>
            <a:endParaRPr lang="en-US" dirty="0" smtClean="0">
              <a:solidFill>
                <a:srgbClr val="FF0000"/>
              </a:solidFill>
            </a:endParaRPr>
          </a:p>
          <a:p>
            <a:r>
              <a:rPr lang="en-US" dirty="0" smtClean="0"/>
              <a:t>B) glutathione S-transferase </a:t>
            </a:r>
            <a:r>
              <a:rPr lang="en-US" sz="2600" dirty="0" smtClean="0">
                <a:solidFill>
                  <a:srgbClr val="FF0000"/>
                </a:solidFill>
              </a:rPr>
              <a:t>(</a:t>
            </a:r>
            <a:r>
              <a:rPr lang="en-US" sz="2600" dirty="0">
                <a:solidFill>
                  <a:srgbClr val="FF0000"/>
                </a:solidFill>
              </a:rPr>
              <a:t>Glutathione S-transferases (GSTs) are a family of Phase II detoxification </a:t>
            </a:r>
            <a:r>
              <a:rPr lang="en-US" sz="2600" dirty="0" smtClean="0">
                <a:solidFill>
                  <a:srgbClr val="FF0000"/>
                </a:solidFill>
              </a:rPr>
              <a:t>enzymes that </a:t>
            </a:r>
            <a:r>
              <a:rPr lang="en-US" sz="2600" dirty="0">
                <a:solidFill>
                  <a:srgbClr val="FF0000"/>
                </a:solidFill>
              </a:rPr>
              <a:t>function to protect cellular macromolecules from attack by reactive electrophiles. Specifically, GSTs </a:t>
            </a:r>
            <a:r>
              <a:rPr lang="en-US" sz="2600" dirty="0" err="1">
                <a:solidFill>
                  <a:srgbClr val="FF0000"/>
                </a:solidFill>
              </a:rPr>
              <a:t>catalyse</a:t>
            </a:r>
            <a:r>
              <a:rPr lang="en-US" sz="2600" dirty="0">
                <a:solidFill>
                  <a:srgbClr val="FF0000"/>
                </a:solidFill>
              </a:rPr>
              <a:t> the conjugation of glutathione (GSH) to a wide variety of endogenous and exogenous electrophilic </a:t>
            </a:r>
            <a:r>
              <a:rPr lang="en-US" sz="2600" dirty="0" smtClean="0">
                <a:solidFill>
                  <a:srgbClr val="FF0000"/>
                </a:solidFill>
              </a:rPr>
              <a:t>compounds)</a:t>
            </a:r>
          </a:p>
          <a:p>
            <a:r>
              <a:rPr lang="en-US" dirty="0" smtClean="0"/>
              <a:t>C) monoamine oxidase </a:t>
            </a:r>
            <a:r>
              <a:rPr lang="en-US" dirty="0" smtClean="0">
                <a:solidFill>
                  <a:srgbClr val="FF0000"/>
                </a:solidFill>
              </a:rPr>
              <a:t>(phase I)</a:t>
            </a:r>
          </a:p>
          <a:p>
            <a:r>
              <a:rPr lang="en-US" dirty="0" smtClean="0"/>
              <a:t>D) UDP-glucose </a:t>
            </a:r>
            <a:r>
              <a:rPr lang="en-US" dirty="0" err="1" smtClean="0"/>
              <a:t>pyrohosphorylase</a:t>
            </a:r>
            <a:r>
              <a:rPr lang="en-US" dirty="0" smtClean="0"/>
              <a:t> </a:t>
            </a:r>
            <a:r>
              <a:rPr lang="en-US" dirty="0" smtClean="0">
                <a:solidFill>
                  <a:srgbClr val="FF0000"/>
                </a:solidFill>
              </a:rPr>
              <a:t>(involved in endogenous carbohydrate metabolism -  not a phase II </a:t>
            </a:r>
            <a:r>
              <a:rPr lang="en-US" dirty="0" err="1" smtClean="0">
                <a:solidFill>
                  <a:srgbClr val="FF0000"/>
                </a:solidFill>
              </a:rPr>
              <a:t>biotranformation</a:t>
            </a:r>
            <a:r>
              <a:rPr lang="en-US" dirty="0" smtClean="0">
                <a:solidFill>
                  <a:srgbClr val="FF0000"/>
                </a:solidFill>
              </a:rPr>
              <a:t> xenobiotic enzyme)</a:t>
            </a:r>
          </a:p>
          <a:p>
            <a:r>
              <a:rPr lang="en-US" dirty="0" smtClean="0"/>
              <a:t>E) Xanthine oxidase </a:t>
            </a:r>
            <a:r>
              <a:rPr lang="en-US" dirty="0" smtClean="0">
                <a:solidFill>
                  <a:srgbClr val="FF0000"/>
                </a:solidFill>
              </a:rPr>
              <a:t>(does not appear to be a phase II enzyme as it does not conjugate).</a:t>
            </a:r>
            <a:endParaRPr lang="en-US" dirty="0">
              <a:solidFill>
                <a:srgbClr val="FF0000"/>
              </a:solidFill>
            </a:endParaRPr>
          </a:p>
        </p:txBody>
      </p:sp>
      <p:sp>
        <p:nvSpPr>
          <p:cNvPr id="4" name="Oval 3"/>
          <p:cNvSpPr/>
          <p:nvPr/>
        </p:nvSpPr>
        <p:spPr>
          <a:xfrm>
            <a:off x="762000" y="2895600"/>
            <a:ext cx="457200" cy="533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0538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1143000"/>
          </a:xfrm>
        </p:spPr>
        <p:txBody>
          <a:bodyPr>
            <a:noAutofit/>
          </a:bodyPr>
          <a:lstStyle/>
          <a:p>
            <a:pPr algn="l"/>
            <a:r>
              <a:rPr lang="en-US" sz="2000" dirty="0" smtClean="0"/>
              <a:t>8. Peanut allergy is relatively common and can be quite severe in some individuals. Although food allergies that develop in childhood may be outgrown, peanut allergy is often lifelong. The primary mechanism of hypersensitivity to peanuts is which of the following?</a:t>
            </a:r>
            <a:endParaRPr lang="en-US" sz="2000" dirty="0"/>
          </a:p>
        </p:txBody>
      </p:sp>
      <p:sp>
        <p:nvSpPr>
          <p:cNvPr id="3" name="Content Placeholder 2"/>
          <p:cNvSpPr>
            <a:spLocks noGrp="1"/>
          </p:cNvSpPr>
          <p:nvPr>
            <p:ph idx="1"/>
          </p:nvPr>
        </p:nvSpPr>
        <p:spPr>
          <a:xfrm>
            <a:off x="-6927" y="1600200"/>
            <a:ext cx="8991600" cy="3962400"/>
          </a:xfrm>
        </p:spPr>
        <p:txBody>
          <a:bodyPr>
            <a:noAutofit/>
          </a:bodyPr>
          <a:lstStyle/>
          <a:p>
            <a:r>
              <a:rPr lang="en-US" sz="1400" dirty="0" smtClean="0"/>
              <a:t>A) Type 1 hypersensitivity </a:t>
            </a:r>
            <a:r>
              <a:rPr lang="en-US" sz="1400" dirty="0" smtClean="0">
                <a:solidFill>
                  <a:srgbClr val="FF0000"/>
                </a:solidFill>
              </a:rPr>
              <a:t>(immediate-</a:t>
            </a:r>
            <a:r>
              <a:rPr lang="en-US" sz="1400" dirty="0" err="1" smtClean="0">
                <a:solidFill>
                  <a:srgbClr val="FF0000"/>
                </a:solidFill>
              </a:rPr>
              <a:t>IgE</a:t>
            </a:r>
            <a:r>
              <a:rPr lang="en-US" sz="1400" dirty="0" smtClean="0">
                <a:solidFill>
                  <a:srgbClr val="FF0000"/>
                </a:solidFill>
              </a:rPr>
              <a:t>…this is seen with many food type allergic reactions. P. 572)</a:t>
            </a:r>
          </a:p>
          <a:p>
            <a:r>
              <a:rPr lang="en-US" sz="1400" dirty="0" smtClean="0"/>
              <a:t>B) Type 2 hypersensitivity </a:t>
            </a:r>
            <a:r>
              <a:rPr lang="en-US" sz="1400" dirty="0" smtClean="0">
                <a:solidFill>
                  <a:srgbClr val="FF0000"/>
                </a:solidFill>
              </a:rPr>
              <a:t>(antibody-dependent cytotoxic…IgG or IgM…e.g. Myasthenia </a:t>
            </a:r>
            <a:r>
              <a:rPr lang="en-US" sz="1400" dirty="0">
                <a:solidFill>
                  <a:srgbClr val="FF0000"/>
                </a:solidFill>
              </a:rPr>
              <a:t>gravis: the patient makes antibodies that bind to the acetylcholine receptor (on the muscle end plate), preventing acetylcholine from binding and doing its job; the end result is muscle weakness.</a:t>
            </a:r>
            <a:r>
              <a:rPr lang="en-US" sz="1400" dirty="0" smtClean="0">
                <a:solidFill>
                  <a:srgbClr val="FF0000"/>
                </a:solidFill>
              </a:rPr>
              <a:t>)</a:t>
            </a:r>
          </a:p>
          <a:p>
            <a:r>
              <a:rPr lang="en-US" sz="1400" dirty="0" smtClean="0"/>
              <a:t>C) Type 3 hypersensitivity </a:t>
            </a:r>
            <a:r>
              <a:rPr lang="en-US" sz="1400" dirty="0" smtClean="0">
                <a:solidFill>
                  <a:srgbClr val="FF0000"/>
                </a:solidFill>
              </a:rPr>
              <a:t>(immune complex-mediated….e.g. Lupus</a:t>
            </a:r>
            <a:r>
              <a:rPr lang="en-US" sz="1400" dirty="0">
                <a:solidFill>
                  <a:srgbClr val="FF0000"/>
                </a:solidFill>
              </a:rPr>
              <a:t>: the patient makes antibodies that bind to certain nuclear antigens; complexes lodge anywhere they please but especially in the kidneys, skin, and joints.</a:t>
            </a:r>
            <a:endParaRPr lang="en-US" sz="1400" dirty="0" smtClean="0">
              <a:solidFill>
                <a:srgbClr val="FF0000"/>
              </a:solidFill>
            </a:endParaRPr>
          </a:p>
          <a:p>
            <a:pPr fontAlgn="base"/>
            <a:r>
              <a:rPr lang="en-US" sz="1400" dirty="0" smtClean="0"/>
              <a:t>D) Type 4 hypersensitivity </a:t>
            </a:r>
            <a:r>
              <a:rPr lang="en-US" sz="1400" dirty="0" smtClean="0">
                <a:solidFill>
                  <a:srgbClr val="FF0000"/>
                </a:solidFill>
              </a:rPr>
              <a:t>(cell mediated) 1) Delayed-type hypersensitivity…..A </a:t>
            </a:r>
            <a:r>
              <a:rPr lang="en-US" sz="1400" dirty="0">
                <a:solidFill>
                  <a:srgbClr val="FF0000"/>
                </a:solidFill>
              </a:rPr>
              <a:t>good example of this is poison ivy exposure (patient gets exposed to poison ivy, helper T cells respond and some become memory cells; upon repeat exposure the memory T cells rush to the site, activating macrophages and causing inflammation). Another example is the </a:t>
            </a:r>
            <a:r>
              <a:rPr lang="en-US" sz="1400" dirty="0" err="1">
                <a:solidFill>
                  <a:srgbClr val="FF0000"/>
                </a:solidFill>
              </a:rPr>
              <a:t>Mantoux</a:t>
            </a:r>
            <a:r>
              <a:rPr lang="en-US" sz="1400" dirty="0">
                <a:solidFill>
                  <a:srgbClr val="FF0000"/>
                </a:solidFill>
              </a:rPr>
              <a:t> test; same </a:t>
            </a:r>
            <a:r>
              <a:rPr lang="en-US" sz="1400" dirty="0" smtClean="0">
                <a:solidFill>
                  <a:srgbClr val="FF0000"/>
                </a:solidFill>
              </a:rPr>
              <a:t>principle. 2) T-cell-mediated </a:t>
            </a:r>
            <a:r>
              <a:rPr lang="en-US" sz="1400" dirty="0">
                <a:solidFill>
                  <a:srgbClr val="FF0000"/>
                </a:solidFill>
              </a:rPr>
              <a:t>cytotoxicity</a:t>
            </a:r>
            <a:br>
              <a:rPr lang="en-US" sz="1400" dirty="0">
                <a:solidFill>
                  <a:srgbClr val="FF0000"/>
                </a:solidFill>
              </a:rPr>
            </a:br>
            <a:r>
              <a:rPr lang="en-US" sz="1400" dirty="0">
                <a:solidFill>
                  <a:srgbClr val="FF0000"/>
                </a:solidFill>
              </a:rPr>
              <a:t>Type I diabetes is a good example of this one. In this disease, cytotoxic T cells kill pancreatic islet cells. That’s not very nice. They are supposed to be killing infected cells, or tumor cells – not the patient’s own normal cells.</a:t>
            </a:r>
          </a:p>
          <a:p>
            <a:r>
              <a:rPr lang="en-US" sz="1400" dirty="0" smtClean="0"/>
              <a:t>E) Type 5 hypersensitivity </a:t>
            </a:r>
            <a:r>
              <a:rPr lang="en-US" sz="1400" dirty="0" smtClean="0">
                <a:solidFill>
                  <a:srgbClr val="FF0000"/>
                </a:solidFill>
              </a:rPr>
              <a:t>(does not exist)</a:t>
            </a:r>
          </a:p>
          <a:p>
            <a:endParaRPr lang="en-US" sz="1400" dirty="0" smtClean="0">
              <a:solidFill>
                <a:srgbClr val="FF0000"/>
              </a:solidFill>
            </a:endParaRPr>
          </a:p>
          <a:p>
            <a:endParaRPr lang="en-US" sz="1400" dirty="0">
              <a:solidFill>
                <a:srgbClr val="FF0000"/>
              </a:solidFill>
            </a:endParaRPr>
          </a:p>
          <a:p>
            <a:r>
              <a:rPr lang="en-US" sz="1400" dirty="0"/>
              <a:t>Although many foods can cause clinical syndromes in susceptible individuals, the allergic reaction provoked by peanuts is strictly an </a:t>
            </a:r>
            <a:r>
              <a:rPr lang="en-US" sz="1400" dirty="0" err="1"/>
              <a:t>IgE</a:t>
            </a:r>
            <a:r>
              <a:rPr lang="en-US" sz="1400" dirty="0"/>
              <a:t>-mediated type I hypersensitivity reaction. In such reactions, peanut-specific </a:t>
            </a:r>
            <a:r>
              <a:rPr lang="en-US" sz="1400" dirty="0" err="1"/>
              <a:t>IgE</a:t>
            </a:r>
            <a:r>
              <a:rPr lang="en-US" sz="1400" dirty="0"/>
              <a:t> antibodies bind to high-affinity receptors on mast cells and basophils. At least 7 peanut proteins have been identified that confer allergy. When peanut allergens penetrate mucosal barriers, cell-bound </a:t>
            </a:r>
            <a:r>
              <a:rPr lang="en-US" sz="1400" dirty="0" err="1"/>
              <a:t>IgE</a:t>
            </a:r>
            <a:r>
              <a:rPr lang="en-US" sz="1400" dirty="0"/>
              <a:t> and peanut allergens crosslink, which results in degranulation of preformed allergic mediators and subsequent cell activation. These cells may then produce a variety of cytokines and chemokines, which recruit other inflammatory cells and contribute to the </a:t>
            </a:r>
            <a:r>
              <a:rPr lang="en-US" sz="1400" dirty="0" err="1"/>
              <a:t>IgE</a:t>
            </a:r>
            <a:r>
              <a:rPr lang="en-US" sz="1400" dirty="0"/>
              <a:t>-mediated late-phase allergic </a:t>
            </a:r>
            <a:r>
              <a:rPr lang="en-US" sz="1400" dirty="0" smtClean="0"/>
              <a:t>response.</a:t>
            </a:r>
            <a:endParaRPr lang="en-US" sz="1400" dirty="0">
              <a:solidFill>
                <a:srgbClr val="FF0000"/>
              </a:solidFill>
            </a:endParaRPr>
          </a:p>
        </p:txBody>
      </p:sp>
      <p:sp>
        <p:nvSpPr>
          <p:cNvPr id="4" name="Oval 3"/>
          <p:cNvSpPr/>
          <p:nvPr/>
        </p:nvSpPr>
        <p:spPr>
          <a:xfrm>
            <a:off x="304800" y="1600200"/>
            <a:ext cx="304800" cy="381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68793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C9B7F2886B3614BAD1C6143B699D609" ma:contentTypeVersion="12" ma:contentTypeDescription="Create a new document." ma:contentTypeScope="" ma:versionID="8d6f94fb22da2931efc8eabeca6510bb">
  <xsd:schema xmlns:xsd="http://www.w3.org/2001/XMLSchema" xmlns:xs="http://www.w3.org/2001/XMLSchema" xmlns:p="http://schemas.microsoft.com/office/2006/metadata/properties" xmlns:ns2="5d6ef54a-aa24-4e91-bc8b-44812b1eded1" xmlns:ns3="a7046a94-50c7-43c0-b98b-a3969f4076e7" targetNamespace="http://schemas.microsoft.com/office/2006/metadata/properties" ma:root="true" ma:fieldsID="cc0728bd40b4971c3e26cb78e9cfffca" ns2:_="" ns3:_="">
    <xsd:import namespace="5d6ef54a-aa24-4e91-bc8b-44812b1eded1"/>
    <xsd:import namespace="a7046a94-50c7-43c0-b98b-a3969f4076e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6ef54a-aa24-4e91-bc8b-44812b1ede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933771c-307d-4a60-b7ad-eff2f0afcd32"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7046a94-50c7-43c0-b98b-a3969f4076e7"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e83d8983-1580-40b6-b87d-1f94fe43acac}" ma:internalName="TaxCatchAll" ma:showField="CatchAllData" ma:web="a7046a94-50c7-43c0-b98b-a3969f4076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d6ef54a-aa24-4e91-bc8b-44812b1eded1">
      <Terms xmlns="http://schemas.microsoft.com/office/infopath/2007/PartnerControls"/>
    </lcf76f155ced4ddcb4097134ff3c332f>
    <TaxCatchAll xmlns="a7046a94-50c7-43c0-b98b-a3969f4076e7" xsi:nil="true"/>
  </documentManagement>
</p:properties>
</file>

<file path=customXml/itemProps1.xml><?xml version="1.0" encoding="utf-8"?>
<ds:datastoreItem xmlns:ds="http://schemas.openxmlformats.org/officeDocument/2006/customXml" ds:itemID="{EFB622B4-D8FB-4FEB-82F3-25D160D71A17}"/>
</file>

<file path=customXml/itemProps2.xml><?xml version="1.0" encoding="utf-8"?>
<ds:datastoreItem xmlns:ds="http://schemas.openxmlformats.org/officeDocument/2006/customXml" ds:itemID="{CFE91393-3C18-4F56-9258-3145D618DCA6}"/>
</file>

<file path=customXml/itemProps3.xml><?xml version="1.0" encoding="utf-8"?>
<ds:datastoreItem xmlns:ds="http://schemas.openxmlformats.org/officeDocument/2006/customXml" ds:itemID="{D2D64DA2-162D-43B8-BD50-A402BE62C9C7}"/>
</file>

<file path=docProps/app.xml><?xml version="1.0" encoding="utf-8"?>
<Properties xmlns="http://schemas.openxmlformats.org/officeDocument/2006/extended-properties" xmlns:vt="http://schemas.openxmlformats.org/officeDocument/2006/docPropsVTypes">
  <TotalTime>193</TotalTime>
  <Words>1183</Words>
  <Application>Microsoft Office PowerPoint</Application>
  <PresentationFormat>On-screen Show (4:3)</PresentationFormat>
  <Paragraphs>54</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1. Clinical chemistry profiles that show large increases in alanine aminotransferase (ALT), sorbitol dehydrogenase (SDH) and aspartate aminotransferase (AST) activities commonly relate to which of the following?</vt:lpstr>
      <vt:lpstr>2. The therapeutic Index (TI) of a drug is an approximation of the relative safety of a drug and is expressed as the ratio of the adverse of toxic dose (TD50) to which of the following?  </vt:lpstr>
      <vt:lpstr>3. Which of the following best describes hormesis?</vt:lpstr>
      <vt:lpstr>4. Primary sites of absoption of toxicants into the body include which of the following? </vt:lpstr>
      <vt:lpstr>5. Which reactive oxygen species (ROS is likely to be most damaging to an organisms?</vt:lpstr>
      <vt:lpstr>6. The cytochrome P450 family of enzymes consists of about 1,000 known P450 isoforms; about 50 of these are functional in humans. What factors may play a role in the susceptibility of individuals to the metabolic activation of procarcinogenic environmental carcinogens, such as some polycyclic aromatic hydrocarbons found in tobacco smoke, to the ultimate carcinogenic form?</vt:lpstr>
      <vt:lpstr>7. Which of the following enzymes catalyze a phase II biotransformation of xenobiotic substances?</vt:lpstr>
      <vt:lpstr>8. Peanut allergy is relatively common and can be quite severe in some individuals. Although food allergies that develop in childhood may be outgrown, peanut allergy is often lifelong. The primary mechanism of hypersensitivity to peanuts is which of the following?</vt:lpstr>
    </vt:vector>
  </TitlesOfParts>
  <Company>Toshiba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creator>Owner</dc:creator>
  <cp:lastModifiedBy>April Lake</cp:lastModifiedBy>
  <cp:revision>14</cp:revision>
  <dcterms:created xsi:type="dcterms:W3CDTF">2017-09-08T01:28:19Z</dcterms:created>
  <dcterms:modified xsi:type="dcterms:W3CDTF">2018-02-13T00:03:12Z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0x010100FC9B7F2886B3614BAD1C6143B699D609</vt:lpwstr>
  </property>
</Properties>
</file>